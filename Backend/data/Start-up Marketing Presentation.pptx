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8" r:id="rId1"/>
  </p:sldMasterIdLst>
  <p:sldIdLst>
    <p:sldId id="256" r:id="rId2"/>
    <p:sldId id="307" r:id="rId3"/>
    <p:sldId id="257" r:id="rId4"/>
    <p:sldId id="263" r:id="rId5"/>
    <p:sldId id="270" r:id="rId6"/>
    <p:sldId id="269" r:id="rId7"/>
    <p:sldId id="271" r:id="rId8"/>
    <p:sldId id="272" r:id="rId9"/>
    <p:sldId id="273" r:id="rId10"/>
    <p:sldId id="275" r:id="rId11"/>
    <p:sldId id="276" r:id="rId12"/>
    <p:sldId id="274" r:id="rId13"/>
    <p:sldId id="277" r:id="rId14"/>
    <p:sldId id="278" r:id="rId15"/>
    <p:sldId id="279" r:id="rId16"/>
    <p:sldId id="280" r:id="rId17"/>
    <p:sldId id="281" r:id="rId18"/>
    <p:sldId id="282" r:id="rId19"/>
    <p:sldId id="284" r:id="rId20"/>
    <p:sldId id="308" r:id="rId21"/>
    <p:sldId id="264" r:id="rId22"/>
    <p:sldId id="286" r:id="rId23"/>
    <p:sldId id="289" r:id="rId24"/>
    <p:sldId id="290" r:id="rId25"/>
    <p:sldId id="291" r:id="rId26"/>
    <p:sldId id="292" r:id="rId27"/>
    <p:sldId id="293" r:id="rId28"/>
    <p:sldId id="294" r:id="rId29"/>
    <p:sldId id="295" r:id="rId30"/>
    <p:sldId id="309" r:id="rId31"/>
    <p:sldId id="297" r:id="rId32"/>
    <p:sldId id="298" r:id="rId33"/>
    <p:sldId id="299" r:id="rId34"/>
    <p:sldId id="287" r:id="rId35"/>
    <p:sldId id="288" r:id="rId36"/>
    <p:sldId id="300" r:id="rId37"/>
    <p:sldId id="301" r:id="rId38"/>
    <p:sldId id="302" r:id="rId39"/>
    <p:sldId id="303" r:id="rId40"/>
    <p:sldId id="304" r:id="rId41"/>
    <p:sldId id="305" r:id="rId42"/>
    <p:sldId id="306" r:id="rId43"/>
    <p:sldId id="266" r:id="rId44"/>
    <p:sldId id="310" r:id="rId45"/>
    <p:sldId id="311" r:id="rId46"/>
    <p:sldId id="312" r:id="rId47"/>
    <p:sldId id="258" r:id="rId48"/>
    <p:sldId id="259" r:id="rId49"/>
    <p:sldId id="260" r:id="rId50"/>
    <p:sldId id="261" r:id="rId51"/>
    <p:sldId id="313" r:id="rId52"/>
    <p:sldId id="314" r:id="rId53"/>
    <p:sldId id="267" r:id="rId54"/>
    <p:sldId id="268" r:id="rId55"/>
    <p:sldId id="315" r:id="rId56"/>
    <p:sldId id="316" r:id="rId5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P PAVILION" initials="HP" lastIdx="1" clrIdx="0">
    <p:extLst>
      <p:ext uri="{19B8F6BF-5375-455C-9EA6-DF929625EA0E}">
        <p15:presenceInfo xmlns:p15="http://schemas.microsoft.com/office/powerpoint/2012/main" userId="HP PAVILI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485"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AAF9CC2-0480-4F88-BC31-A2EECB671652}" type="doc">
      <dgm:prSet loTypeId="urn:microsoft.com/office/officeart/2005/8/layout/vList3" loCatId="list" qsTypeId="urn:microsoft.com/office/officeart/2005/8/quickstyle/simple1" qsCatId="simple" csTypeId="urn:microsoft.com/office/officeart/2005/8/colors/accent1_2" csCatId="accent1" phldr="1"/>
      <dgm:spPr/>
    </dgm:pt>
    <dgm:pt modelId="{CB68778D-9D25-4B17-8348-C119EAFF7980}">
      <dgm:prSet phldrT="[Text]"/>
      <dgm:spPr/>
      <dgm:t>
        <a:bodyPr/>
        <a:lstStyle/>
        <a:p>
          <a:r>
            <a:rPr lang="en-US" dirty="0"/>
            <a:t>Businesses to Businesses (B2B)</a:t>
          </a:r>
        </a:p>
      </dgm:t>
    </dgm:pt>
    <dgm:pt modelId="{CDC8DAB0-A189-4834-9314-A88D400F08C5}" type="parTrans" cxnId="{975FA2E2-25CA-400D-94FA-2B14B0102115}">
      <dgm:prSet/>
      <dgm:spPr/>
      <dgm:t>
        <a:bodyPr/>
        <a:lstStyle/>
        <a:p>
          <a:endParaRPr lang="en-US"/>
        </a:p>
      </dgm:t>
    </dgm:pt>
    <dgm:pt modelId="{E4715C77-5F08-4158-BA7C-7BD6AF6FAE4C}" type="sibTrans" cxnId="{975FA2E2-25CA-400D-94FA-2B14B0102115}">
      <dgm:prSet/>
      <dgm:spPr/>
      <dgm:t>
        <a:bodyPr/>
        <a:lstStyle/>
        <a:p>
          <a:endParaRPr lang="en-US"/>
        </a:p>
      </dgm:t>
    </dgm:pt>
    <dgm:pt modelId="{A309AE14-69DD-4D5B-A2B2-C9A60C9477CD}">
      <dgm:prSet phldrT="[Text]"/>
      <dgm:spPr/>
      <dgm:t>
        <a:bodyPr/>
        <a:lstStyle/>
        <a:p>
          <a:r>
            <a:rPr lang="en-US" dirty="0"/>
            <a:t>Businesses to Consumers (B2C)</a:t>
          </a:r>
        </a:p>
      </dgm:t>
    </dgm:pt>
    <dgm:pt modelId="{27055465-2A1A-45DD-A956-458CA29E0D7D}" type="parTrans" cxnId="{DEB7F446-7C22-4999-8C52-087D220E309C}">
      <dgm:prSet/>
      <dgm:spPr/>
      <dgm:t>
        <a:bodyPr/>
        <a:lstStyle/>
        <a:p>
          <a:endParaRPr lang="en-US"/>
        </a:p>
      </dgm:t>
    </dgm:pt>
    <dgm:pt modelId="{7332252E-396D-4327-ADB7-51E5108F5C64}" type="sibTrans" cxnId="{DEB7F446-7C22-4999-8C52-087D220E309C}">
      <dgm:prSet/>
      <dgm:spPr/>
      <dgm:t>
        <a:bodyPr/>
        <a:lstStyle/>
        <a:p>
          <a:endParaRPr lang="en-US"/>
        </a:p>
      </dgm:t>
    </dgm:pt>
    <dgm:pt modelId="{DFAFB264-1FF2-4073-A066-69FB1411B80D}" type="pres">
      <dgm:prSet presAssocID="{5AAF9CC2-0480-4F88-BC31-A2EECB671652}" presName="linearFlow" presStyleCnt="0">
        <dgm:presLayoutVars>
          <dgm:dir/>
          <dgm:resizeHandles val="exact"/>
        </dgm:presLayoutVars>
      </dgm:prSet>
      <dgm:spPr/>
    </dgm:pt>
    <dgm:pt modelId="{69811EF1-2E26-455E-92B5-618C5926822F}" type="pres">
      <dgm:prSet presAssocID="{CB68778D-9D25-4B17-8348-C119EAFF7980}" presName="composite" presStyleCnt="0"/>
      <dgm:spPr/>
    </dgm:pt>
    <dgm:pt modelId="{584DEA8B-FD30-40A1-839D-877CE4ACCA02}" type="pres">
      <dgm:prSet presAssocID="{CB68778D-9D25-4B17-8348-C119EAFF7980}" presName="imgShp" presStyleLbl="fgImgPlace1" presStyleIdx="0" presStyleCnt="2"/>
      <dgm:spPr/>
    </dgm:pt>
    <dgm:pt modelId="{CEA04422-EC3A-4F9C-88B8-DDD9C572C4B4}" type="pres">
      <dgm:prSet presAssocID="{CB68778D-9D25-4B17-8348-C119EAFF7980}" presName="txShp" presStyleLbl="node1" presStyleIdx="0" presStyleCnt="2" custLinFactNeighborY="-22">
        <dgm:presLayoutVars>
          <dgm:bulletEnabled val="1"/>
        </dgm:presLayoutVars>
      </dgm:prSet>
      <dgm:spPr/>
    </dgm:pt>
    <dgm:pt modelId="{5730AE78-3E07-4ABE-8A3F-7678CD1FC325}" type="pres">
      <dgm:prSet presAssocID="{E4715C77-5F08-4158-BA7C-7BD6AF6FAE4C}" presName="spacing" presStyleCnt="0"/>
      <dgm:spPr/>
    </dgm:pt>
    <dgm:pt modelId="{D969B29E-8140-46DC-895F-3FAEBC469317}" type="pres">
      <dgm:prSet presAssocID="{A309AE14-69DD-4D5B-A2B2-C9A60C9477CD}" presName="composite" presStyleCnt="0"/>
      <dgm:spPr/>
    </dgm:pt>
    <dgm:pt modelId="{53016390-EAAC-42F9-9BC0-0A22031A7B68}" type="pres">
      <dgm:prSet presAssocID="{A309AE14-69DD-4D5B-A2B2-C9A60C9477CD}" presName="imgShp" presStyleLbl="fgImgPlace1" presStyleIdx="1" presStyleCnt="2"/>
      <dgm:spPr/>
    </dgm:pt>
    <dgm:pt modelId="{6C0642DF-55AD-4370-BD95-5DB57EA5C7B9}" type="pres">
      <dgm:prSet presAssocID="{A309AE14-69DD-4D5B-A2B2-C9A60C9477CD}" presName="txShp" presStyleLbl="node1" presStyleIdx="1" presStyleCnt="2">
        <dgm:presLayoutVars>
          <dgm:bulletEnabled val="1"/>
        </dgm:presLayoutVars>
      </dgm:prSet>
      <dgm:spPr/>
    </dgm:pt>
  </dgm:ptLst>
  <dgm:cxnLst>
    <dgm:cxn modelId="{CA12AC20-0570-422E-B1BC-D33DB21BDC43}" type="presOf" srcId="{CB68778D-9D25-4B17-8348-C119EAFF7980}" destId="{CEA04422-EC3A-4F9C-88B8-DDD9C572C4B4}" srcOrd="0" destOrd="0" presId="urn:microsoft.com/office/officeart/2005/8/layout/vList3"/>
    <dgm:cxn modelId="{FA74472C-A764-4E88-A4ED-2AE64586009A}" type="presOf" srcId="{5AAF9CC2-0480-4F88-BC31-A2EECB671652}" destId="{DFAFB264-1FF2-4073-A066-69FB1411B80D}" srcOrd="0" destOrd="0" presId="urn:microsoft.com/office/officeart/2005/8/layout/vList3"/>
    <dgm:cxn modelId="{E164C02E-9095-4504-A33E-90128D2842AC}" type="presOf" srcId="{A309AE14-69DD-4D5B-A2B2-C9A60C9477CD}" destId="{6C0642DF-55AD-4370-BD95-5DB57EA5C7B9}" srcOrd="0" destOrd="0" presId="urn:microsoft.com/office/officeart/2005/8/layout/vList3"/>
    <dgm:cxn modelId="{DEB7F446-7C22-4999-8C52-087D220E309C}" srcId="{5AAF9CC2-0480-4F88-BC31-A2EECB671652}" destId="{A309AE14-69DD-4D5B-A2B2-C9A60C9477CD}" srcOrd="1" destOrd="0" parTransId="{27055465-2A1A-45DD-A956-458CA29E0D7D}" sibTransId="{7332252E-396D-4327-ADB7-51E5108F5C64}"/>
    <dgm:cxn modelId="{975FA2E2-25CA-400D-94FA-2B14B0102115}" srcId="{5AAF9CC2-0480-4F88-BC31-A2EECB671652}" destId="{CB68778D-9D25-4B17-8348-C119EAFF7980}" srcOrd="0" destOrd="0" parTransId="{CDC8DAB0-A189-4834-9314-A88D400F08C5}" sibTransId="{E4715C77-5F08-4158-BA7C-7BD6AF6FAE4C}"/>
    <dgm:cxn modelId="{D2523131-41C3-48D0-964A-248E6D2A5B95}" type="presParOf" srcId="{DFAFB264-1FF2-4073-A066-69FB1411B80D}" destId="{69811EF1-2E26-455E-92B5-618C5926822F}" srcOrd="0" destOrd="0" presId="urn:microsoft.com/office/officeart/2005/8/layout/vList3"/>
    <dgm:cxn modelId="{B436C0A0-BF0F-4AD3-B5D0-F8AD62BCBD98}" type="presParOf" srcId="{69811EF1-2E26-455E-92B5-618C5926822F}" destId="{584DEA8B-FD30-40A1-839D-877CE4ACCA02}" srcOrd="0" destOrd="0" presId="urn:microsoft.com/office/officeart/2005/8/layout/vList3"/>
    <dgm:cxn modelId="{2A1A3EBF-8315-4DCB-997C-2A4FF748492C}" type="presParOf" srcId="{69811EF1-2E26-455E-92B5-618C5926822F}" destId="{CEA04422-EC3A-4F9C-88B8-DDD9C572C4B4}" srcOrd="1" destOrd="0" presId="urn:microsoft.com/office/officeart/2005/8/layout/vList3"/>
    <dgm:cxn modelId="{4DD96EB4-1C09-48EC-BA9B-FACFAB0ED5A5}" type="presParOf" srcId="{DFAFB264-1FF2-4073-A066-69FB1411B80D}" destId="{5730AE78-3E07-4ABE-8A3F-7678CD1FC325}" srcOrd="1" destOrd="0" presId="urn:microsoft.com/office/officeart/2005/8/layout/vList3"/>
    <dgm:cxn modelId="{80396AAA-1981-44D1-B827-12D493193DE3}" type="presParOf" srcId="{DFAFB264-1FF2-4073-A066-69FB1411B80D}" destId="{D969B29E-8140-46DC-895F-3FAEBC469317}" srcOrd="2" destOrd="0" presId="urn:microsoft.com/office/officeart/2005/8/layout/vList3"/>
    <dgm:cxn modelId="{122EDAF2-0DB8-41BE-B81E-02D2D3206ECA}" type="presParOf" srcId="{D969B29E-8140-46DC-895F-3FAEBC469317}" destId="{53016390-EAAC-42F9-9BC0-0A22031A7B68}" srcOrd="0" destOrd="0" presId="urn:microsoft.com/office/officeart/2005/8/layout/vList3"/>
    <dgm:cxn modelId="{5B5242F8-F35F-42FB-9662-7069AFBC4D60}" type="presParOf" srcId="{D969B29E-8140-46DC-895F-3FAEBC469317}" destId="{6C0642DF-55AD-4370-BD95-5DB57EA5C7B9}"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A05CAB2-175C-445A-8539-DCD5A9C00AD8}" type="doc">
      <dgm:prSet loTypeId="urn:microsoft.com/office/officeart/2005/8/layout/radial6" loCatId="cycle" qsTypeId="urn:microsoft.com/office/officeart/2005/8/quickstyle/simple1" qsCatId="simple" csTypeId="urn:microsoft.com/office/officeart/2005/8/colors/accent1_2" csCatId="accent1" phldr="1"/>
      <dgm:spPr/>
      <dgm:t>
        <a:bodyPr/>
        <a:lstStyle/>
        <a:p>
          <a:endParaRPr lang="en-US"/>
        </a:p>
      </dgm:t>
    </dgm:pt>
    <dgm:pt modelId="{5708C723-B6AB-4875-BC87-5DBC496BB573}">
      <dgm:prSet phldrT="[Text]"/>
      <dgm:spPr/>
      <dgm:t>
        <a:bodyPr/>
        <a:lstStyle/>
        <a:p>
          <a:r>
            <a:rPr lang="en-US" dirty="0"/>
            <a:t>Market</a:t>
          </a:r>
        </a:p>
        <a:p>
          <a:r>
            <a:rPr lang="en-US" dirty="0"/>
            <a:t>Segmentation</a:t>
          </a:r>
        </a:p>
      </dgm:t>
    </dgm:pt>
    <dgm:pt modelId="{99826EA8-221F-4DED-B6A0-F4D9D5285207}" type="parTrans" cxnId="{DE5B9566-D73B-46CC-8DD2-24F53C640A93}">
      <dgm:prSet/>
      <dgm:spPr/>
      <dgm:t>
        <a:bodyPr/>
        <a:lstStyle/>
        <a:p>
          <a:endParaRPr lang="en-US"/>
        </a:p>
      </dgm:t>
    </dgm:pt>
    <dgm:pt modelId="{AA71B2F6-5B42-42C6-9DA4-11C9ABB22205}" type="sibTrans" cxnId="{DE5B9566-D73B-46CC-8DD2-24F53C640A93}">
      <dgm:prSet/>
      <dgm:spPr/>
      <dgm:t>
        <a:bodyPr/>
        <a:lstStyle/>
        <a:p>
          <a:endParaRPr lang="en-US"/>
        </a:p>
      </dgm:t>
    </dgm:pt>
    <dgm:pt modelId="{7AA92142-37D3-4771-87B8-E552A24B607A}">
      <dgm:prSet phldrT="[Text]"/>
      <dgm:spPr/>
      <dgm:t>
        <a:bodyPr/>
        <a:lstStyle/>
        <a:p>
          <a:r>
            <a:rPr lang="en-US" dirty="0"/>
            <a:t>Demographic</a:t>
          </a:r>
        </a:p>
      </dgm:t>
    </dgm:pt>
    <dgm:pt modelId="{62EB06FA-1194-4917-808E-0E91D71FDEF7}" type="parTrans" cxnId="{D1B8B2F6-5D14-43CB-9F9F-C8B7F76D1625}">
      <dgm:prSet/>
      <dgm:spPr/>
      <dgm:t>
        <a:bodyPr/>
        <a:lstStyle/>
        <a:p>
          <a:endParaRPr lang="en-US"/>
        </a:p>
      </dgm:t>
    </dgm:pt>
    <dgm:pt modelId="{F4DBBDEF-8097-4679-A173-DC47C4C8EC9B}" type="sibTrans" cxnId="{D1B8B2F6-5D14-43CB-9F9F-C8B7F76D1625}">
      <dgm:prSet/>
      <dgm:spPr/>
      <dgm:t>
        <a:bodyPr/>
        <a:lstStyle/>
        <a:p>
          <a:endParaRPr lang="en-US"/>
        </a:p>
      </dgm:t>
    </dgm:pt>
    <dgm:pt modelId="{06BF3FF4-C056-4846-AFF8-4C5346C704FB}">
      <dgm:prSet phldrT="[Text]"/>
      <dgm:spPr/>
      <dgm:t>
        <a:bodyPr/>
        <a:lstStyle/>
        <a:p>
          <a:r>
            <a:rPr lang="en-US" dirty="0"/>
            <a:t>Geographic</a:t>
          </a:r>
        </a:p>
      </dgm:t>
    </dgm:pt>
    <dgm:pt modelId="{66DD6683-BAF2-4820-870B-F0A3D0605B6A}" type="parTrans" cxnId="{BE8B4379-E000-4880-AD8A-137327ED673E}">
      <dgm:prSet/>
      <dgm:spPr/>
      <dgm:t>
        <a:bodyPr/>
        <a:lstStyle/>
        <a:p>
          <a:endParaRPr lang="en-US"/>
        </a:p>
      </dgm:t>
    </dgm:pt>
    <dgm:pt modelId="{61753D51-7E83-4CAB-9A30-C9F74743C02D}" type="sibTrans" cxnId="{BE8B4379-E000-4880-AD8A-137327ED673E}">
      <dgm:prSet/>
      <dgm:spPr/>
      <dgm:t>
        <a:bodyPr/>
        <a:lstStyle/>
        <a:p>
          <a:endParaRPr lang="en-US"/>
        </a:p>
      </dgm:t>
    </dgm:pt>
    <dgm:pt modelId="{75D6D3B3-607F-4887-B5DF-A130F89D5B01}">
      <dgm:prSet phldrT="[Text]"/>
      <dgm:spPr/>
      <dgm:t>
        <a:bodyPr/>
        <a:lstStyle/>
        <a:p>
          <a:r>
            <a:rPr lang="en-US" dirty="0"/>
            <a:t>Psychographic </a:t>
          </a:r>
        </a:p>
      </dgm:t>
    </dgm:pt>
    <dgm:pt modelId="{E4ABDBFF-A15E-40ED-A573-67D7C0E8131B}" type="parTrans" cxnId="{98ED527B-E46B-4A48-8785-E31714C4CFD6}">
      <dgm:prSet/>
      <dgm:spPr/>
      <dgm:t>
        <a:bodyPr/>
        <a:lstStyle/>
        <a:p>
          <a:endParaRPr lang="en-US"/>
        </a:p>
      </dgm:t>
    </dgm:pt>
    <dgm:pt modelId="{BDE608B3-3C32-41F1-8A4D-7AE2641151A2}" type="sibTrans" cxnId="{98ED527B-E46B-4A48-8785-E31714C4CFD6}">
      <dgm:prSet/>
      <dgm:spPr/>
      <dgm:t>
        <a:bodyPr/>
        <a:lstStyle/>
        <a:p>
          <a:endParaRPr lang="en-US"/>
        </a:p>
      </dgm:t>
    </dgm:pt>
    <dgm:pt modelId="{D7F9D605-2B8A-495D-BCD7-8DF5C4E79666}">
      <dgm:prSet phldrT="[Text]"/>
      <dgm:spPr/>
      <dgm:t>
        <a:bodyPr/>
        <a:lstStyle/>
        <a:p>
          <a:r>
            <a:rPr lang="en-US" dirty="0" err="1"/>
            <a:t>Behavioural</a:t>
          </a:r>
          <a:r>
            <a:rPr lang="en-US" dirty="0"/>
            <a:t> </a:t>
          </a:r>
        </a:p>
      </dgm:t>
    </dgm:pt>
    <dgm:pt modelId="{6EEF1394-D422-447D-B265-EA462BE26DBC}" type="parTrans" cxnId="{087691FD-02AF-4008-813E-FA17B07E7F58}">
      <dgm:prSet/>
      <dgm:spPr/>
      <dgm:t>
        <a:bodyPr/>
        <a:lstStyle/>
        <a:p>
          <a:endParaRPr lang="en-US"/>
        </a:p>
      </dgm:t>
    </dgm:pt>
    <dgm:pt modelId="{46CFB20C-27D1-4775-AB22-6296876BC3CD}" type="sibTrans" cxnId="{087691FD-02AF-4008-813E-FA17B07E7F58}">
      <dgm:prSet/>
      <dgm:spPr/>
      <dgm:t>
        <a:bodyPr/>
        <a:lstStyle/>
        <a:p>
          <a:endParaRPr lang="en-US"/>
        </a:p>
      </dgm:t>
    </dgm:pt>
    <dgm:pt modelId="{584A5087-4FBB-4F28-977A-D49C3DE625C0}" type="pres">
      <dgm:prSet presAssocID="{5A05CAB2-175C-445A-8539-DCD5A9C00AD8}" presName="Name0" presStyleCnt="0">
        <dgm:presLayoutVars>
          <dgm:chMax val="1"/>
          <dgm:dir/>
          <dgm:animLvl val="ctr"/>
          <dgm:resizeHandles val="exact"/>
        </dgm:presLayoutVars>
      </dgm:prSet>
      <dgm:spPr/>
    </dgm:pt>
    <dgm:pt modelId="{C3C500AC-0917-46F2-BC88-0F3147370C95}" type="pres">
      <dgm:prSet presAssocID="{5708C723-B6AB-4875-BC87-5DBC496BB573}" presName="centerShape" presStyleLbl="node0" presStyleIdx="0" presStyleCnt="1" custLinFactNeighborX="-31441" custLinFactNeighborY="-262"/>
      <dgm:spPr/>
    </dgm:pt>
    <dgm:pt modelId="{6F429A49-152B-49CC-8973-0D3E14D52017}" type="pres">
      <dgm:prSet presAssocID="{7AA92142-37D3-4771-87B8-E552A24B607A}" presName="node" presStyleLbl="node1" presStyleIdx="0" presStyleCnt="4" custScaleY="138240" custRadScaleRad="104392" custRadScaleInc="-115354">
        <dgm:presLayoutVars>
          <dgm:bulletEnabled val="1"/>
        </dgm:presLayoutVars>
      </dgm:prSet>
      <dgm:spPr/>
    </dgm:pt>
    <dgm:pt modelId="{B2408211-D4B3-48CB-9456-A2B85AC1424E}" type="pres">
      <dgm:prSet presAssocID="{7AA92142-37D3-4771-87B8-E552A24B607A}" presName="dummy" presStyleCnt="0"/>
      <dgm:spPr/>
    </dgm:pt>
    <dgm:pt modelId="{95EFF41C-3D33-4DF2-90E9-E7AD91F6DE74}" type="pres">
      <dgm:prSet presAssocID="{F4DBBDEF-8097-4679-A173-DC47C4C8EC9B}" presName="sibTrans" presStyleLbl="sibTrans2D1" presStyleIdx="0" presStyleCnt="4" custLinFactNeighborX="-3740" custLinFactNeighborY="-2303"/>
      <dgm:spPr/>
    </dgm:pt>
    <dgm:pt modelId="{68058E5E-203C-4FD7-AAB2-F89F6182D3BB}" type="pres">
      <dgm:prSet presAssocID="{06BF3FF4-C056-4846-AFF8-4C5346C704FB}" presName="node" presStyleLbl="node1" presStyleIdx="1" presStyleCnt="4" custScaleX="157163" custRadScaleRad="25226" custRadScaleInc="58353">
        <dgm:presLayoutVars>
          <dgm:bulletEnabled val="1"/>
        </dgm:presLayoutVars>
      </dgm:prSet>
      <dgm:spPr/>
    </dgm:pt>
    <dgm:pt modelId="{BBC604BA-7BF1-4C04-97C7-F8746F09503A}" type="pres">
      <dgm:prSet presAssocID="{06BF3FF4-C056-4846-AFF8-4C5346C704FB}" presName="dummy" presStyleCnt="0"/>
      <dgm:spPr/>
    </dgm:pt>
    <dgm:pt modelId="{03BC52F6-D425-460E-9BA7-DD801ED655E1}" type="pres">
      <dgm:prSet presAssocID="{61753D51-7E83-4CAB-9A30-C9F74743C02D}" presName="sibTrans" presStyleLbl="sibTrans2D1" presStyleIdx="1" presStyleCnt="4" custLinFactNeighborX="-5543" custLinFactNeighborY="10418"/>
      <dgm:spPr/>
    </dgm:pt>
    <dgm:pt modelId="{47F81063-06E6-42B2-858E-C8E3AC2BA5D9}" type="pres">
      <dgm:prSet presAssocID="{75D6D3B3-607F-4887-B5DF-A130F89D5B01}" presName="node" presStyleLbl="node1" presStyleIdx="2" presStyleCnt="4" custScaleY="148512" custRadScaleRad="104818" custRadScaleInc="120499">
        <dgm:presLayoutVars>
          <dgm:bulletEnabled val="1"/>
        </dgm:presLayoutVars>
      </dgm:prSet>
      <dgm:spPr/>
    </dgm:pt>
    <dgm:pt modelId="{B6A2799C-EF4B-458C-A1E1-15A697FCF202}" type="pres">
      <dgm:prSet presAssocID="{75D6D3B3-607F-4887-B5DF-A130F89D5B01}" presName="dummy" presStyleCnt="0"/>
      <dgm:spPr/>
    </dgm:pt>
    <dgm:pt modelId="{2150FC6C-D5C1-4210-A2E6-548D990AB7E6}" type="pres">
      <dgm:prSet presAssocID="{BDE608B3-3C32-41F1-8A4D-7AE2641151A2}" presName="sibTrans" presStyleLbl="sibTrans2D1" presStyleIdx="2" presStyleCnt="4" custLinFactNeighborX="-8445" custLinFactNeighborY="9884"/>
      <dgm:spPr/>
    </dgm:pt>
    <dgm:pt modelId="{16FE6E05-1E7B-4EAB-92BC-986093E5592F}" type="pres">
      <dgm:prSet presAssocID="{D7F9D605-2B8A-495D-BCD7-8DF5C4E79666}" presName="node" presStyleLbl="node1" presStyleIdx="3" presStyleCnt="4" custScaleX="135316" custRadScaleRad="145603" custRadScaleInc="-2749">
        <dgm:presLayoutVars>
          <dgm:bulletEnabled val="1"/>
        </dgm:presLayoutVars>
      </dgm:prSet>
      <dgm:spPr/>
    </dgm:pt>
    <dgm:pt modelId="{3BF87551-0ADB-4BC3-947A-3B9A429CFD19}" type="pres">
      <dgm:prSet presAssocID="{D7F9D605-2B8A-495D-BCD7-8DF5C4E79666}" presName="dummy" presStyleCnt="0"/>
      <dgm:spPr/>
    </dgm:pt>
    <dgm:pt modelId="{E9490109-92AE-4DBA-9B24-D3E292E4790C}" type="pres">
      <dgm:prSet presAssocID="{46CFB20C-27D1-4775-AB22-6296876BC3CD}" presName="sibTrans" presStyleLbl="sibTrans2D1" presStyleIdx="3" presStyleCnt="4" custScaleX="153721" custLinFactNeighborX="13563" custLinFactNeighborY="0"/>
      <dgm:spPr/>
    </dgm:pt>
  </dgm:ptLst>
  <dgm:cxnLst>
    <dgm:cxn modelId="{9939221D-1E60-4EA5-9ED6-300CCD539146}" type="presOf" srcId="{46CFB20C-27D1-4775-AB22-6296876BC3CD}" destId="{E9490109-92AE-4DBA-9B24-D3E292E4790C}" srcOrd="0" destOrd="0" presId="urn:microsoft.com/office/officeart/2005/8/layout/radial6"/>
    <dgm:cxn modelId="{A87E9727-66BC-4F1E-9593-9D0D54B9B8F1}" type="presOf" srcId="{5708C723-B6AB-4875-BC87-5DBC496BB573}" destId="{C3C500AC-0917-46F2-BC88-0F3147370C95}" srcOrd="0" destOrd="0" presId="urn:microsoft.com/office/officeart/2005/8/layout/radial6"/>
    <dgm:cxn modelId="{282AB35B-B8D3-43D0-8F47-812C7F2DB3B4}" type="presOf" srcId="{D7F9D605-2B8A-495D-BCD7-8DF5C4E79666}" destId="{16FE6E05-1E7B-4EAB-92BC-986093E5592F}" srcOrd="0" destOrd="0" presId="urn:microsoft.com/office/officeart/2005/8/layout/radial6"/>
    <dgm:cxn modelId="{A55F4562-304B-4E1C-8C92-8094E6A35F77}" type="presOf" srcId="{BDE608B3-3C32-41F1-8A4D-7AE2641151A2}" destId="{2150FC6C-D5C1-4210-A2E6-548D990AB7E6}" srcOrd="0" destOrd="0" presId="urn:microsoft.com/office/officeart/2005/8/layout/radial6"/>
    <dgm:cxn modelId="{DE5B9566-D73B-46CC-8DD2-24F53C640A93}" srcId="{5A05CAB2-175C-445A-8539-DCD5A9C00AD8}" destId="{5708C723-B6AB-4875-BC87-5DBC496BB573}" srcOrd="0" destOrd="0" parTransId="{99826EA8-221F-4DED-B6A0-F4D9D5285207}" sibTransId="{AA71B2F6-5B42-42C6-9DA4-11C9ABB22205}"/>
    <dgm:cxn modelId="{F97D9170-B9CF-4BFD-86AA-AF5D3AD939E6}" type="presOf" srcId="{61753D51-7E83-4CAB-9A30-C9F74743C02D}" destId="{03BC52F6-D425-460E-9BA7-DD801ED655E1}" srcOrd="0" destOrd="0" presId="urn:microsoft.com/office/officeart/2005/8/layout/radial6"/>
    <dgm:cxn modelId="{664C8474-49B4-4911-949D-060587449DFB}" type="presOf" srcId="{5A05CAB2-175C-445A-8539-DCD5A9C00AD8}" destId="{584A5087-4FBB-4F28-977A-D49C3DE625C0}" srcOrd="0" destOrd="0" presId="urn:microsoft.com/office/officeart/2005/8/layout/radial6"/>
    <dgm:cxn modelId="{BE8B4379-E000-4880-AD8A-137327ED673E}" srcId="{5708C723-B6AB-4875-BC87-5DBC496BB573}" destId="{06BF3FF4-C056-4846-AFF8-4C5346C704FB}" srcOrd="1" destOrd="0" parTransId="{66DD6683-BAF2-4820-870B-F0A3D0605B6A}" sibTransId="{61753D51-7E83-4CAB-9A30-C9F74743C02D}"/>
    <dgm:cxn modelId="{BD4BC77A-95FA-465E-9650-E3AE37082D60}" type="presOf" srcId="{06BF3FF4-C056-4846-AFF8-4C5346C704FB}" destId="{68058E5E-203C-4FD7-AAB2-F89F6182D3BB}" srcOrd="0" destOrd="0" presId="urn:microsoft.com/office/officeart/2005/8/layout/radial6"/>
    <dgm:cxn modelId="{98ED527B-E46B-4A48-8785-E31714C4CFD6}" srcId="{5708C723-B6AB-4875-BC87-5DBC496BB573}" destId="{75D6D3B3-607F-4887-B5DF-A130F89D5B01}" srcOrd="2" destOrd="0" parTransId="{E4ABDBFF-A15E-40ED-A573-67D7C0E8131B}" sibTransId="{BDE608B3-3C32-41F1-8A4D-7AE2641151A2}"/>
    <dgm:cxn modelId="{87C1757B-83DA-42EF-9B36-5A4835050EC7}" type="presOf" srcId="{F4DBBDEF-8097-4679-A173-DC47C4C8EC9B}" destId="{95EFF41C-3D33-4DF2-90E9-E7AD91F6DE74}" srcOrd="0" destOrd="0" presId="urn:microsoft.com/office/officeart/2005/8/layout/radial6"/>
    <dgm:cxn modelId="{5D51E6D8-6EC6-4DB4-9E81-57E08381432B}" type="presOf" srcId="{7AA92142-37D3-4771-87B8-E552A24B607A}" destId="{6F429A49-152B-49CC-8973-0D3E14D52017}" srcOrd="0" destOrd="0" presId="urn:microsoft.com/office/officeart/2005/8/layout/radial6"/>
    <dgm:cxn modelId="{D1B8B2F6-5D14-43CB-9F9F-C8B7F76D1625}" srcId="{5708C723-B6AB-4875-BC87-5DBC496BB573}" destId="{7AA92142-37D3-4771-87B8-E552A24B607A}" srcOrd="0" destOrd="0" parTransId="{62EB06FA-1194-4917-808E-0E91D71FDEF7}" sibTransId="{F4DBBDEF-8097-4679-A173-DC47C4C8EC9B}"/>
    <dgm:cxn modelId="{1718C4FA-D548-487E-98DE-F70E095FCCE6}" type="presOf" srcId="{75D6D3B3-607F-4887-B5DF-A130F89D5B01}" destId="{47F81063-06E6-42B2-858E-C8E3AC2BA5D9}" srcOrd="0" destOrd="0" presId="urn:microsoft.com/office/officeart/2005/8/layout/radial6"/>
    <dgm:cxn modelId="{087691FD-02AF-4008-813E-FA17B07E7F58}" srcId="{5708C723-B6AB-4875-BC87-5DBC496BB573}" destId="{D7F9D605-2B8A-495D-BCD7-8DF5C4E79666}" srcOrd="3" destOrd="0" parTransId="{6EEF1394-D422-447D-B265-EA462BE26DBC}" sibTransId="{46CFB20C-27D1-4775-AB22-6296876BC3CD}"/>
    <dgm:cxn modelId="{EDA950DA-FF1F-4DD9-9448-3B144089B65B}" type="presParOf" srcId="{584A5087-4FBB-4F28-977A-D49C3DE625C0}" destId="{C3C500AC-0917-46F2-BC88-0F3147370C95}" srcOrd="0" destOrd="0" presId="urn:microsoft.com/office/officeart/2005/8/layout/radial6"/>
    <dgm:cxn modelId="{50BEF526-1F7B-4E42-B13A-9632D7117EA6}" type="presParOf" srcId="{584A5087-4FBB-4F28-977A-D49C3DE625C0}" destId="{6F429A49-152B-49CC-8973-0D3E14D52017}" srcOrd="1" destOrd="0" presId="urn:microsoft.com/office/officeart/2005/8/layout/radial6"/>
    <dgm:cxn modelId="{37D3C053-C5C2-4C84-A49B-BA9422311F4F}" type="presParOf" srcId="{584A5087-4FBB-4F28-977A-D49C3DE625C0}" destId="{B2408211-D4B3-48CB-9456-A2B85AC1424E}" srcOrd="2" destOrd="0" presId="urn:microsoft.com/office/officeart/2005/8/layout/radial6"/>
    <dgm:cxn modelId="{871D7A95-B8AB-49C6-A6C0-4784F8139A7A}" type="presParOf" srcId="{584A5087-4FBB-4F28-977A-D49C3DE625C0}" destId="{95EFF41C-3D33-4DF2-90E9-E7AD91F6DE74}" srcOrd="3" destOrd="0" presId="urn:microsoft.com/office/officeart/2005/8/layout/radial6"/>
    <dgm:cxn modelId="{1F3248DA-6102-4396-A388-D798489927A3}" type="presParOf" srcId="{584A5087-4FBB-4F28-977A-D49C3DE625C0}" destId="{68058E5E-203C-4FD7-AAB2-F89F6182D3BB}" srcOrd="4" destOrd="0" presId="urn:microsoft.com/office/officeart/2005/8/layout/radial6"/>
    <dgm:cxn modelId="{7B807B31-D174-427B-B155-6AC2C69C2EE4}" type="presParOf" srcId="{584A5087-4FBB-4F28-977A-D49C3DE625C0}" destId="{BBC604BA-7BF1-4C04-97C7-F8746F09503A}" srcOrd="5" destOrd="0" presId="urn:microsoft.com/office/officeart/2005/8/layout/radial6"/>
    <dgm:cxn modelId="{4A2A8133-5DCD-437C-AF62-F786F42F87FA}" type="presParOf" srcId="{584A5087-4FBB-4F28-977A-D49C3DE625C0}" destId="{03BC52F6-D425-460E-9BA7-DD801ED655E1}" srcOrd="6" destOrd="0" presId="urn:microsoft.com/office/officeart/2005/8/layout/radial6"/>
    <dgm:cxn modelId="{672D1C66-C056-4607-AC89-E9E92B841D41}" type="presParOf" srcId="{584A5087-4FBB-4F28-977A-D49C3DE625C0}" destId="{47F81063-06E6-42B2-858E-C8E3AC2BA5D9}" srcOrd="7" destOrd="0" presId="urn:microsoft.com/office/officeart/2005/8/layout/radial6"/>
    <dgm:cxn modelId="{B6D57734-8E91-46A7-8A84-8B3ABF0D3B89}" type="presParOf" srcId="{584A5087-4FBB-4F28-977A-D49C3DE625C0}" destId="{B6A2799C-EF4B-458C-A1E1-15A697FCF202}" srcOrd="8" destOrd="0" presId="urn:microsoft.com/office/officeart/2005/8/layout/radial6"/>
    <dgm:cxn modelId="{9ED8EDF7-9739-4510-95A7-FB7F33FC5E74}" type="presParOf" srcId="{584A5087-4FBB-4F28-977A-D49C3DE625C0}" destId="{2150FC6C-D5C1-4210-A2E6-548D990AB7E6}" srcOrd="9" destOrd="0" presId="urn:microsoft.com/office/officeart/2005/8/layout/radial6"/>
    <dgm:cxn modelId="{12E9CED8-DB71-437F-BCC5-ECF1ACCDDE09}" type="presParOf" srcId="{584A5087-4FBB-4F28-977A-D49C3DE625C0}" destId="{16FE6E05-1E7B-4EAB-92BC-986093E5592F}" srcOrd="10" destOrd="0" presId="urn:microsoft.com/office/officeart/2005/8/layout/radial6"/>
    <dgm:cxn modelId="{37EF3D0C-6472-4083-B30C-2AB85BE51942}" type="presParOf" srcId="{584A5087-4FBB-4F28-977A-D49C3DE625C0}" destId="{3BF87551-0ADB-4BC3-947A-3B9A429CFD19}" srcOrd="11" destOrd="0" presId="urn:microsoft.com/office/officeart/2005/8/layout/radial6"/>
    <dgm:cxn modelId="{28CB5411-898A-4637-8843-FE5FD4CAD81A}" type="presParOf" srcId="{584A5087-4FBB-4F28-977A-D49C3DE625C0}" destId="{E9490109-92AE-4DBA-9B24-D3E292E4790C}" srcOrd="12" destOrd="0" presId="urn:microsoft.com/office/officeart/2005/8/layout/radial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180A2DC-8361-406B-A0F1-255CC5B59FCF}" type="doc">
      <dgm:prSet loTypeId="urn:microsoft.com/office/officeart/2005/8/layout/radial5" loCatId="cycle" qsTypeId="urn:microsoft.com/office/officeart/2005/8/quickstyle/simple1" qsCatId="simple" csTypeId="urn:microsoft.com/office/officeart/2005/8/colors/accent1_2" csCatId="accent1" phldr="1"/>
      <dgm:spPr/>
      <dgm:t>
        <a:bodyPr/>
        <a:lstStyle/>
        <a:p>
          <a:endParaRPr lang="en-US"/>
        </a:p>
      </dgm:t>
    </dgm:pt>
    <dgm:pt modelId="{EBDD8B5C-F0ED-4CDB-A88B-DF814C992ECB}">
      <dgm:prSet phldrT="[Text]"/>
      <dgm:spPr/>
      <dgm:t>
        <a:bodyPr/>
        <a:lstStyle/>
        <a:p>
          <a:r>
            <a:rPr lang="en-US" dirty="0"/>
            <a:t>Breakfast Cereal Market Segment</a:t>
          </a:r>
        </a:p>
      </dgm:t>
    </dgm:pt>
    <dgm:pt modelId="{F23CB3B1-67E9-4C09-BCC5-E453F9014623}" type="parTrans" cxnId="{969EE2BB-B86B-4792-B09F-163F417FE628}">
      <dgm:prSet/>
      <dgm:spPr/>
      <dgm:t>
        <a:bodyPr/>
        <a:lstStyle/>
        <a:p>
          <a:endParaRPr lang="en-US"/>
        </a:p>
      </dgm:t>
    </dgm:pt>
    <dgm:pt modelId="{BC7C56BC-E7C1-41DF-B4B7-94729BC7D1DD}" type="sibTrans" cxnId="{969EE2BB-B86B-4792-B09F-163F417FE628}">
      <dgm:prSet/>
      <dgm:spPr/>
      <dgm:t>
        <a:bodyPr/>
        <a:lstStyle/>
        <a:p>
          <a:endParaRPr lang="en-US"/>
        </a:p>
      </dgm:t>
    </dgm:pt>
    <dgm:pt modelId="{2BCE2850-3C62-4B94-9BD6-36ACFC4D01BE}">
      <dgm:prSet phldrT="[Text]"/>
      <dgm:spPr/>
      <dgm:t>
        <a:bodyPr/>
        <a:lstStyle/>
        <a:p>
          <a:r>
            <a:rPr lang="en-US" dirty="0"/>
            <a:t>Easy Start</a:t>
          </a:r>
        </a:p>
      </dgm:t>
    </dgm:pt>
    <dgm:pt modelId="{F84002FD-4A9E-40E9-AC51-C3E9097D7436}" type="parTrans" cxnId="{B24FC590-EABA-47E8-A65D-8EA4AFF0CD71}">
      <dgm:prSet/>
      <dgm:spPr/>
      <dgm:t>
        <a:bodyPr/>
        <a:lstStyle/>
        <a:p>
          <a:endParaRPr lang="en-US"/>
        </a:p>
      </dgm:t>
    </dgm:pt>
    <dgm:pt modelId="{702523DB-0B5F-4D96-9315-7142BA8620B6}" type="sibTrans" cxnId="{B24FC590-EABA-47E8-A65D-8EA4AFF0CD71}">
      <dgm:prSet/>
      <dgm:spPr/>
      <dgm:t>
        <a:bodyPr/>
        <a:lstStyle/>
        <a:p>
          <a:endParaRPr lang="en-US"/>
        </a:p>
      </dgm:t>
    </dgm:pt>
    <dgm:pt modelId="{DA878FD1-C7C5-4D35-A9AC-EC946BEBCD40}">
      <dgm:prSet phldrT="[Text]"/>
      <dgm:spPr/>
      <dgm:t>
        <a:bodyPr/>
        <a:lstStyle/>
        <a:p>
          <a:r>
            <a:rPr lang="en-US" dirty="0"/>
            <a:t>Family Feeders</a:t>
          </a:r>
        </a:p>
      </dgm:t>
    </dgm:pt>
    <dgm:pt modelId="{A22E21EE-E502-4BB5-9F86-95FE3D2FCD54}" type="parTrans" cxnId="{9C4116B3-03A8-4EE8-B28B-9E92A727E851}">
      <dgm:prSet/>
      <dgm:spPr/>
      <dgm:t>
        <a:bodyPr/>
        <a:lstStyle/>
        <a:p>
          <a:endParaRPr lang="en-US"/>
        </a:p>
      </dgm:t>
    </dgm:pt>
    <dgm:pt modelId="{548EDC30-567C-49F5-9DA2-0CDC532ABBA6}" type="sibTrans" cxnId="{9C4116B3-03A8-4EE8-B28B-9E92A727E851}">
      <dgm:prSet/>
      <dgm:spPr/>
      <dgm:t>
        <a:bodyPr/>
        <a:lstStyle/>
        <a:p>
          <a:endParaRPr lang="en-US"/>
        </a:p>
      </dgm:t>
    </dgm:pt>
    <dgm:pt modelId="{D5D0913F-60C1-40A7-90CF-1A9B415B4DF7}">
      <dgm:prSet phldrT="[Text]"/>
      <dgm:spPr/>
      <dgm:t>
        <a:bodyPr/>
        <a:lstStyle/>
        <a:p>
          <a:r>
            <a:rPr lang="en-US" dirty="0"/>
            <a:t>Mobile</a:t>
          </a:r>
        </a:p>
        <a:p>
          <a:r>
            <a:rPr lang="en-US" dirty="0"/>
            <a:t>Snackers</a:t>
          </a:r>
        </a:p>
      </dgm:t>
    </dgm:pt>
    <dgm:pt modelId="{44B6C47C-2815-4025-AB8C-385FEC61AF43}" type="parTrans" cxnId="{D8EC68B4-A329-4353-93D9-86EAE03324BF}">
      <dgm:prSet/>
      <dgm:spPr/>
      <dgm:t>
        <a:bodyPr/>
        <a:lstStyle/>
        <a:p>
          <a:endParaRPr lang="en-US"/>
        </a:p>
      </dgm:t>
    </dgm:pt>
    <dgm:pt modelId="{2D6FB47B-22C5-459A-9588-CC7DB4FD3358}" type="sibTrans" cxnId="{D8EC68B4-A329-4353-93D9-86EAE03324BF}">
      <dgm:prSet/>
      <dgm:spPr/>
      <dgm:t>
        <a:bodyPr/>
        <a:lstStyle/>
        <a:p>
          <a:endParaRPr lang="en-US"/>
        </a:p>
      </dgm:t>
    </dgm:pt>
    <dgm:pt modelId="{540DA503-3896-48A5-BEA1-5BE91CD38A72}">
      <dgm:prSet phldrT="[Text]"/>
      <dgm:spPr/>
      <dgm:t>
        <a:bodyPr/>
        <a:lstStyle/>
        <a:p>
          <a:r>
            <a:rPr lang="en-US" dirty="0"/>
            <a:t>Family</a:t>
          </a:r>
        </a:p>
        <a:p>
          <a:r>
            <a:rPr lang="en-US" dirty="0"/>
            <a:t>Friendly</a:t>
          </a:r>
        </a:p>
      </dgm:t>
    </dgm:pt>
    <dgm:pt modelId="{D1B1F230-7170-4C48-928A-0FC7AEBF15D9}" type="parTrans" cxnId="{856B4926-FA44-4A11-AD06-1C0B52E593C8}">
      <dgm:prSet/>
      <dgm:spPr/>
      <dgm:t>
        <a:bodyPr/>
        <a:lstStyle/>
        <a:p>
          <a:endParaRPr lang="en-US"/>
        </a:p>
      </dgm:t>
    </dgm:pt>
    <dgm:pt modelId="{9962F610-7368-434C-AB12-C75589BB3C6A}" type="sibTrans" cxnId="{856B4926-FA44-4A11-AD06-1C0B52E593C8}">
      <dgm:prSet/>
      <dgm:spPr/>
      <dgm:t>
        <a:bodyPr/>
        <a:lstStyle/>
        <a:p>
          <a:endParaRPr lang="en-US"/>
        </a:p>
      </dgm:t>
    </dgm:pt>
    <dgm:pt modelId="{689BB797-FC0F-4F43-A1D4-72139CF016BF}">
      <dgm:prSet/>
      <dgm:spPr/>
      <dgm:t>
        <a:bodyPr/>
        <a:lstStyle/>
        <a:p>
          <a:r>
            <a:rPr lang="en-US" dirty="0"/>
            <a:t>Good Start</a:t>
          </a:r>
        </a:p>
      </dgm:t>
    </dgm:pt>
    <dgm:pt modelId="{EDB000F4-C2F5-486F-B4A4-67477910371D}" type="parTrans" cxnId="{6CA4B0D3-8226-4549-97B2-CE8B21C1CC4B}">
      <dgm:prSet/>
      <dgm:spPr/>
      <dgm:t>
        <a:bodyPr/>
        <a:lstStyle/>
        <a:p>
          <a:endParaRPr lang="en-US"/>
        </a:p>
      </dgm:t>
    </dgm:pt>
    <dgm:pt modelId="{06F08F2C-2DB6-4C00-AE69-3C2E535AE25E}" type="sibTrans" cxnId="{6CA4B0D3-8226-4549-97B2-CE8B21C1CC4B}">
      <dgm:prSet/>
      <dgm:spPr/>
      <dgm:t>
        <a:bodyPr/>
        <a:lstStyle/>
        <a:p>
          <a:endParaRPr lang="en-US"/>
        </a:p>
      </dgm:t>
    </dgm:pt>
    <dgm:pt modelId="{070F2BCD-E9EC-4194-8DFA-B984A7623066}">
      <dgm:prSet/>
      <dgm:spPr/>
      <dgm:t>
        <a:bodyPr/>
        <a:lstStyle/>
        <a:p>
          <a:r>
            <a:rPr lang="en-US" dirty="0"/>
            <a:t>Dietary Needs </a:t>
          </a:r>
        </a:p>
      </dgm:t>
    </dgm:pt>
    <dgm:pt modelId="{A56F0D46-37D1-41E5-A6FC-7642AEDF8922}" type="parTrans" cxnId="{A10FD159-E973-4E99-9EED-B72CE4C147C4}">
      <dgm:prSet/>
      <dgm:spPr/>
      <dgm:t>
        <a:bodyPr/>
        <a:lstStyle/>
        <a:p>
          <a:endParaRPr lang="en-US"/>
        </a:p>
      </dgm:t>
    </dgm:pt>
    <dgm:pt modelId="{0667F140-A329-455C-8BE0-5E4DE3042B42}" type="sibTrans" cxnId="{A10FD159-E973-4E99-9EED-B72CE4C147C4}">
      <dgm:prSet/>
      <dgm:spPr/>
      <dgm:t>
        <a:bodyPr/>
        <a:lstStyle/>
        <a:p>
          <a:endParaRPr lang="en-US"/>
        </a:p>
      </dgm:t>
    </dgm:pt>
    <dgm:pt modelId="{EFFC11B0-99B5-4300-9F15-F05E124FD3B6}">
      <dgm:prSet/>
      <dgm:spPr/>
      <dgm:t>
        <a:bodyPr/>
        <a:lstStyle/>
        <a:p>
          <a:r>
            <a:rPr lang="en-US" dirty="0"/>
            <a:t>Just for Kids</a:t>
          </a:r>
        </a:p>
      </dgm:t>
    </dgm:pt>
    <dgm:pt modelId="{788545B5-A24E-483C-9FC7-3CD6161DBE28}" type="parTrans" cxnId="{F785608F-2F07-4ADE-A93C-4860BFAC96A8}">
      <dgm:prSet/>
      <dgm:spPr/>
      <dgm:t>
        <a:bodyPr/>
        <a:lstStyle/>
        <a:p>
          <a:endParaRPr lang="en-US"/>
        </a:p>
      </dgm:t>
    </dgm:pt>
    <dgm:pt modelId="{5F2C3CE7-1542-44AE-8B03-17A53C636241}" type="sibTrans" cxnId="{F785608F-2F07-4ADE-A93C-4860BFAC96A8}">
      <dgm:prSet/>
      <dgm:spPr/>
      <dgm:t>
        <a:bodyPr/>
        <a:lstStyle/>
        <a:p>
          <a:endParaRPr lang="en-US"/>
        </a:p>
      </dgm:t>
    </dgm:pt>
    <dgm:pt modelId="{4948BE56-4787-4129-8F1C-1525095BFE09}" type="pres">
      <dgm:prSet presAssocID="{9180A2DC-8361-406B-A0F1-255CC5B59FCF}" presName="Name0" presStyleCnt="0">
        <dgm:presLayoutVars>
          <dgm:chMax val="1"/>
          <dgm:dir/>
          <dgm:animLvl val="ctr"/>
          <dgm:resizeHandles val="exact"/>
        </dgm:presLayoutVars>
      </dgm:prSet>
      <dgm:spPr/>
    </dgm:pt>
    <dgm:pt modelId="{E7978B7F-471A-4B4D-BFB8-6065C616EE10}" type="pres">
      <dgm:prSet presAssocID="{EBDD8B5C-F0ED-4CDB-A88B-DF814C992ECB}" presName="centerShape" presStyleLbl="node0" presStyleIdx="0" presStyleCnt="1"/>
      <dgm:spPr/>
    </dgm:pt>
    <dgm:pt modelId="{0BB3B87D-D419-4327-9C4F-E2172B27BB11}" type="pres">
      <dgm:prSet presAssocID="{F84002FD-4A9E-40E9-AC51-C3E9097D7436}" presName="parTrans" presStyleLbl="sibTrans2D1" presStyleIdx="0" presStyleCnt="7"/>
      <dgm:spPr/>
    </dgm:pt>
    <dgm:pt modelId="{A3AA8F15-CF69-4CF1-8339-080977C12C03}" type="pres">
      <dgm:prSet presAssocID="{F84002FD-4A9E-40E9-AC51-C3E9097D7436}" presName="connectorText" presStyleLbl="sibTrans2D1" presStyleIdx="0" presStyleCnt="7"/>
      <dgm:spPr/>
    </dgm:pt>
    <dgm:pt modelId="{D07F433D-7487-47AE-A5C1-5932FE132967}" type="pres">
      <dgm:prSet presAssocID="{2BCE2850-3C62-4B94-9BD6-36ACFC4D01BE}" presName="node" presStyleLbl="node1" presStyleIdx="0" presStyleCnt="7" custRadScaleRad="98170">
        <dgm:presLayoutVars>
          <dgm:bulletEnabled val="1"/>
        </dgm:presLayoutVars>
      </dgm:prSet>
      <dgm:spPr/>
    </dgm:pt>
    <dgm:pt modelId="{A9C42D45-49A8-404F-924C-0881A0FFF25F}" type="pres">
      <dgm:prSet presAssocID="{A22E21EE-E502-4BB5-9F86-95FE3D2FCD54}" presName="parTrans" presStyleLbl="sibTrans2D1" presStyleIdx="1" presStyleCnt="7"/>
      <dgm:spPr/>
    </dgm:pt>
    <dgm:pt modelId="{39DE1ED8-8645-48B6-99FB-395BC3E2B1C3}" type="pres">
      <dgm:prSet presAssocID="{A22E21EE-E502-4BB5-9F86-95FE3D2FCD54}" presName="connectorText" presStyleLbl="sibTrans2D1" presStyleIdx="1" presStyleCnt="7"/>
      <dgm:spPr/>
    </dgm:pt>
    <dgm:pt modelId="{692A341B-A643-4F9D-A11A-3A78B111C04D}" type="pres">
      <dgm:prSet presAssocID="{DA878FD1-C7C5-4D35-A9AC-EC946BEBCD40}" presName="node" presStyleLbl="node1" presStyleIdx="1" presStyleCnt="7">
        <dgm:presLayoutVars>
          <dgm:bulletEnabled val="1"/>
        </dgm:presLayoutVars>
      </dgm:prSet>
      <dgm:spPr/>
    </dgm:pt>
    <dgm:pt modelId="{4311CFA8-63F7-4AC5-80C2-EDBCA489F360}" type="pres">
      <dgm:prSet presAssocID="{44B6C47C-2815-4025-AB8C-385FEC61AF43}" presName="parTrans" presStyleLbl="sibTrans2D1" presStyleIdx="2" presStyleCnt="7"/>
      <dgm:spPr/>
    </dgm:pt>
    <dgm:pt modelId="{6BA96FBC-9F76-4EB5-9C34-81338600D652}" type="pres">
      <dgm:prSet presAssocID="{44B6C47C-2815-4025-AB8C-385FEC61AF43}" presName="connectorText" presStyleLbl="sibTrans2D1" presStyleIdx="2" presStyleCnt="7"/>
      <dgm:spPr/>
    </dgm:pt>
    <dgm:pt modelId="{B365EC0E-78C8-4C6F-9E96-F44BE7430467}" type="pres">
      <dgm:prSet presAssocID="{D5D0913F-60C1-40A7-90CF-1A9B415B4DF7}" presName="node" presStyleLbl="node1" presStyleIdx="2" presStyleCnt="7">
        <dgm:presLayoutVars>
          <dgm:bulletEnabled val="1"/>
        </dgm:presLayoutVars>
      </dgm:prSet>
      <dgm:spPr/>
    </dgm:pt>
    <dgm:pt modelId="{233FD953-15D1-4852-BD73-341CAF968EA6}" type="pres">
      <dgm:prSet presAssocID="{D1B1F230-7170-4C48-928A-0FC7AEBF15D9}" presName="parTrans" presStyleLbl="sibTrans2D1" presStyleIdx="3" presStyleCnt="7"/>
      <dgm:spPr/>
    </dgm:pt>
    <dgm:pt modelId="{FF12524A-7A12-4922-BDE0-68A920DEBE53}" type="pres">
      <dgm:prSet presAssocID="{D1B1F230-7170-4C48-928A-0FC7AEBF15D9}" presName="connectorText" presStyleLbl="sibTrans2D1" presStyleIdx="3" presStyleCnt="7"/>
      <dgm:spPr/>
    </dgm:pt>
    <dgm:pt modelId="{1B045986-0683-4A5F-B575-6A8CD8CABD7D}" type="pres">
      <dgm:prSet presAssocID="{540DA503-3896-48A5-BEA1-5BE91CD38A72}" presName="node" presStyleLbl="node1" presStyleIdx="3" presStyleCnt="7">
        <dgm:presLayoutVars>
          <dgm:bulletEnabled val="1"/>
        </dgm:presLayoutVars>
      </dgm:prSet>
      <dgm:spPr/>
    </dgm:pt>
    <dgm:pt modelId="{1BA36508-24A2-4534-96E6-1FDAB589CB08}" type="pres">
      <dgm:prSet presAssocID="{EDB000F4-C2F5-486F-B4A4-67477910371D}" presName="parTrans" presStyleLbl="sibTrans2D1" presStyleIdx="4" presStyleCnt="7"/>
      <dgm:spPr/>
    </dgm:pt>
    <dgm:pt modelId="{79B11B2C-E092-41F8-BAFD-BF9137EEBE41}" type="pres">
      <dgm:prSet presAssocID="{EDB000F4-C2F5-486F-B4A4-67477910371D}" presName="connectorText" presStyleLbl="sibTrans2D1" presStyleIdx="4" presStyleCnt="7"/>
      <dgm:spPr/>
    </dgm:pt>
    <dgm:pt modelId="{554EFDAC-A2D3-48A5-A6A2-9FEFC3BA4FEB}" type="pres">
      <dgm:prSet presAssocID="{689BB797-FC0F-4F43-A1D4-72139CF016BF}" presName="node" presStyleLbl="node1" presStyleIdx="4" presStyleCnt="7" custRadScaleRad="100150" custRadScaleInc="-161">
        <dgm:presLayoutVars>
          <dgm:bulletEnabled val="1"/>
        </dgm:presLayoutVars>
      </dgm:prSet>
      <dgm:spPr/>
    </dgm:pt>
    <dgm:pt modelId="{600DF9A2-574C-4027-9ED0-AD6E6793F8CE}" type="pres">
      <dgm:prSet presAssocID="{A56F0D46-37D1-41E5-A6FC-7642AEDF8922}" presName="parTrans" presStyleLbl="sibTrans2D1" presStyleIdx="5" presStyleCnt="7"/>
      <dgm:spPr/>
    </dgm:pt>
    <dgm:pt modelId="{51784E2A-D328-4B0E-8FA7-B85D0F35698B}" type="pres">
      <dgm:prSet presAssocID="{A56F0D46-37D1-41E5-A6FC-7642AEDF8922}" presName="connectorText" presStyleLbl="sibTrans2D1" presStyleIdx="5" presStyleCnt="7"/>
      <dgm:spPr/>
    </dgm:pt>
    <dgm:pt modelId="{0CA6FF4A-4778-4683-869A-BC1CCD01E68A}" type="pres">
      <dgm:prSet presAssocID="{070F2BCD-E9EC-4194-8DFA-B984A7623066}" presName="node" presStyleLbl="node1" presStyleIdx="5" presStyleCnt="7">
        <dgm:presLayoutVars>
          <dgm:bulletEnabled val="1"/>
        </dgm:presLayoutVars>
      </dgm:prSet>
      <dgm:spPr/>
    </dgm:pt>
    <dgm:pt modelId="{7EA51755-919B-4BDE-85B2-839E78DF10F6}" type="pres">
      <dgm:prSet presAssocID="{788545B5-A24E-483C-9FC7-3CD6161DBE28}" presName="parTrans" presStyleLbl="sibTrans2D1" presStyleIdx="6" presStyleCnt="7"/>
      <dgm:spPr/>
    </dgm:pt>
    <dgm:pt modelId="{E25C0C63-E131-4008-A694-A1FBC8611E5F}" type="pres">
      <dgm:prSet presAssocID="{788545B5-A24E-483C-9FC7-3CD6161DBE28}" presName="connectorText" presStyleLbl="sibTrans2D1" presStyleIdx="6" presStyleCnt="7"/>
      <dgm:spPr/>
    </dgm:pt>
    <dgm:pt modelId="{954EEB6A-810F-4BC7-9E9F-9CB608EF05DB}" type="pres">
      <dgm:prSet presAssocID="{EFFC11B0-99B5-4300-9F15-F05E124FD3B6}" presName="node" presStyleLbl="node1" presStyleIdx="6" presStyleCnt="7">
        <dgm:presLayoutVars>
          <dgm:bulletEnabled val="1"/>
        </dgm:presLayoutVars>
      </dgm:prSet>
      <dgm:spPr/>
    </dgm:pt>
  </dgm:ptLst>
  <dgm:cxnLst>
    <dgm:cxn modelId="{A955480B-1C72-4037-A276-F0DFCAE0711F}" type="presOf" srcId="{EFFC11B0-99B5-4300-9F15-F05E124FD3B6}" destId="{954EEB6A-810F-4BC7-9E9F-9CB608EF05DB}" srcOrd="0" destOrd="0" presId="urn:microsoft.com/office/officeart/2005/8/layout/radial5"/>
    <dgm:cxn modelId="{56AB8E10-DC26-4E39-9384-0B5EBF2AB05C}" type="presOf" srcId="{A56F0D46-37D1-41E5-A6FC-7642AEDF8922}" destId="{51784E2A-D328-4B0E-8FA7-B85D0F35698B}" srcOrd="1" destOrd="0" presId="urn:microsoft.com/office/officeart/2005/8/layout/radial5"/>
    <dgm:cxn modelId="{856B4926-FA44-4A11-AD06-1C0B52E593C8}" srcId="{EBDD8B5C-F0ED-4CDB-A88B-DF814C992ECB}" destId="{540DA503-3896-48A5-BEA1-5BE91CD38A72}" srcOrd="3" destOrd="0" parTransId="{D1B1F230-7170-4C48-928A-0FC7AEBF15D9}" sibTransId="{9962F610-7368-434C-AB12-C75589BB3C6A}"/>
    <dgm:cxn modelId="{B2A77B2F-B1A0-47CE-8A5C-94A191367E04}" type="presOf" srcId="{F84002FD-4A9E-40E9-AC51-C3E9097D7436}" destId="{A3AA8F15-CF69-4CF1-8339-080977C12C03}" srcOrd="1" destOrd="0" presId="urn:microsoft.com/office/officeart/2005/8/layout/radial5"/>
    <dgm:cxn modelId="{C16E9031-CC1D-4C8C-ACCB-CE95985F458C}" type="presOf" srcId="{2BCE2850-3C62-4B94-9BD6-36ACFC4D01BE}" destId="{D07F433D-7487-47AE-A5C1-5932FE132967}" srcOrd="0" destOrd="0" presId="urn:microsoft.com/office/officeart/2005/8/layout/radial5"/>
    <dgm:cxn modelId="{681CDA4B-4F4C-4A55-8CED-7AFEDE848D10}" type="presOf" srcId="{9180A2DC-8361-406B-A0F1-255CC5B59FCF}" destId="{4948BE56-4787-4129-8F1C-1525095BFE09}" srcOrd="0" destOrd="0" presId="urn:microsoft.com/office/officeart/2005/8/layout/radial5"/>
    <dgm:cxn modelId="{A10FD159-E973-4E99-9EED-B72CE4C147C4}" srcId="{EBDD8B5C-F0ED-4CDB-A88B-DF814C992ECB}" destId="{070F2BCD-E9EC-4194-8DFA-B984A7623066}" srcOrd="5" destOrd="0" parTransId="{A56F0D46-37D1-41E5-A6FC-7642AEDF8922}" sibTransId="{0667F140-A329-455C-8BE0-5E4DE3042B42}"/>
    <dgm:cxn modelId="{EFC1727B-AD4A-4628-889F-714FD0C8A0D1}" type="presOf" srcId="{44B6C47C-2815-4025-AB8C-385FEC61AF43}" destId="{6BA96FBC-9F76-4EB5-9C34-81338600D652}" srcOrd="1" destOrd="0" presId="urn:microsoft.com/office/officeart/2005/8/layout/radial5"/>
    <dgm:cxn modelId="{CF24F081-C648-4AF5-A16D-09F306E20AAE}" type="presOf" srcId="{EDB000F4-C2F5-486F-B4A4-67477910371D}" destId="{1BA36508-24A2-4534-96E6-1FDAB589CB08}" srcOrd="0" destOrd="0" presId="urn:microsoft.com/office/officeart/2005/8/layout/radial5"/>
    <dgm:cxn modelId="{7BD1E18E-9C65-4A4E-AF4A-1D0B00CD64EC}" type="presOf" srcId="{788545B5-A24E-483C-9FC7-3CD6161DBE28}" destId="{7EA51755-919B-4BDE-85B2-839E78DF10F6}" srcOrd="0" destOrd="0" presId="urn:microsoft.com/office/officeart/2005/8/layout/radial5"/>
    <dgm:cxn modelId="{F785608F-2F07-4ADE-A93C-4860BFAC96A8}" srcId="{EBDD8B5C-F0ED-4CDB-A88B-DF814C992ECB}" destId="{EFFC11B0-99B5-4300-9F15-F05E124FD3B6}" srcOrd="6" destOrd="0" parTransId="{788545B5-A24E-483C-9FC7-3CD6161DBE28}" sibTransId="{5F2C3CE7-1542-44AE-8B03-17A53C636241}"/>
    <dgm:cxn modelId="{B24FC590-EABA-47E8-A65D-8EA4AFF0CD71}" srcId="{EBDD8B5C-F0ED-4CDB-A88B-DF814C992ECB}" destId="{2BCE2850-3C62-4B94-9BD6-36ACFC4D01BE}" srcOrd="0" destOrd="0" parTransId="{F84002FD-4A9E-40E9-AC51-C3E9097D7436}" sibTransId="{702523DB-0B5F-4D96-9315-7142BA8620B6}"/>
    <dgm:cxn modelId="{DDB51F91-DBD2-47BE-A5E6-4FD48B77BF06}" type="presOf" srcId="{A56F0D46-37D1-41E5-A6FC-7642AEDF8922}" destId="{600DF9A2-574C-4027-9ED0-AD6E6793F8CE}" srcOrd="0" destOrd="0" presId="urn:microsoft.com/office/officeart/2005/8/layout/radial5"/>
    <dgm:cxn modelId="{6F693A98-C0E4-4AEC-82C5-72598C626913}" type="presOf" srcId="{44B6C47C-2815-4025-AB8C-385FEC61AF43}" destId="{4311CFA8-63F7-4AC5-80C2-EDBCA489F360}" srcOrd="0" destOrd="0" presId="urn:microsoft.com/office/officeart/2005/8/layout/radial5"/>
    <dgm:cxn modelId="{67858398-36E1-4787-8A4A-DD1CFE069BBB}" type="presOf" srcId="{070F2BCD-E9EC-4194-8DFA-B984A7623066}" destId="{0CA6FF4A-4778-4683-869A-BC1CCD01E68A}" srcOrd="0" destOrd="0" presId="urn:microsoft.com/office/officeart/2005/8/layout/radial5"/>
    <dgm:cxn modelId="{06E7CFA5-AD32-463A-94BA-6BE76DED847F}" type="presOf" srcId="{A22E21EE-E502-4BB5-9F86-95FE3D2FCD54}" destId="{A9C42D45-49A8-404F-924C-0881A0FFF25F}" srcOrd="0" destOrd="0" presId="urn:microsoft.com/office/officeart/2005/8/layout/radial5"/>
    <dgm:cxn modelId="{6FE6F9A6-AA8A-4E0C-BD00-1123B6D9D376}" type="presOf" srcId="{EBDD8B5C-F0ED-4CDB-A88B-DF814C992ECB}" destId="{E7978B7F-471A-4B4D-BFB8-6065C616EE10}" srcOrd="0" destOrd="0" presId="urn:microsoft.com/office/officeart/2005/8/layout/radial5"/>
    <dgm:cxn modelId="{033A7BA9-DC3F-4B52-A6F6-C74D762EACD5}" type="presOf" srcId="{D1B1F230-7170-4C48-928A-0FC7AEBF15D9}" destId="{233FD953-15D1-4852-BD73-341CAF968EA6}" srcOrd="0" destOrd="0" presId="urn:microsoft.com/office/officeart/2005/8/layout/radial5"/>
    <dgm:cxn modelId="{9C4116B3-03A8-4EE8-B28B-9E92A727E851}" srcId="{EBDD8B5C-F0ED-4CDB-A88B-DF814C992ECB}" destId="{DA878FD1-C7C5-4D35-A9AC-EC946BEBCD40}" srcOrd="1" destOrd="0" parTransId="{A22E21EE-E502-4BB5-9F86-95FE3D2FCD54}" sibTransId="{548EDC30-567C-49F5-9DA2-0CDC532ABBA6}"/>
    <dgm:cxn modelId="{D8EC68B4-A329-4353-93D9-86EAE03324BF}" srcId="{EBDD8B5C-F0ED-4CDB-A88B-DF814C992ECB}" destId="{D5D0913F-60C1-40A7-90CF-1A9B415B4DF7}" srcOrd="2" destOrd="0" parTransId="{44B6C47C-2815-4025-AB8C-385FEC61AF43}" sibTransId="{2D6FB47B-22C5-459A-9588-CC7DB4FD3358}"/>
    <dgm:cxn modelId="{969EE2BB-B86B-4792-B09F-163F417FE628}" srcId="{9180A2DC-8361-406B-A0F1-255CC5B59FCF}" destId="{EBDD8B5C-F0ED-4CDB-A88B-DF814C992ECB}" srcOrd="0" destOrd="0" parTransId="{F23CB3B1-67E9-4C09-BCC5-E453F9014623}" sibTransId="{BC7C56BC-E7C1-41DF-B4B7-94729BC7D1DD}"/>
    <dgm:cxn modelId="{714D99CC-54BC-436F-ACB2-1C19F79065D3}" type="presOf" srcId="{F84002FD-4A9E-40E9-AC51-C3E9097D7436}" destId="{0BB3B87D-D419-4327-9C4F-E2172B27BB11}" srcOrd="0" destOrd="0" presId="urn:microsoft.com/office/officeart/2005/8/layout/radial5"/>
    <dgm:cxn modelId="{6CA4B0D3-8226-4549-97B2-CE8B21C1CC4B}" srcId="{EBDD8B5C-F0ED-4CDB-A88B-DF814C992ECB}" destId="{689BB797-FC0F-4F43-A1D4-72139CF016BF}" srcOrd="4" destOrd="0" parTransId="{EDB000F4-C2F5-486F-B4A4-67477910371D}" sibTransId="{06F08F2C-2DB6-4C00-AE69-3C2E535AE25E}"/>
    <dgm:cxn modelId="{81593DD4-7F19-4219-AADE-5DE563742582}" type="presOf" srcId="{EDB000F4-C2F5-486F-B4A4-67477910371D}" destId="{79B11B2C-E092-41F8-BAFD-BF9137EEBE41}" srcOrd="1" destOrd="0" presId="urn:microsoft.com/office/officeart/2005/8/layout/radial5"/>
    <dgm:cxn modelId="{7D369DD5-17F6-4CC9-9314-93A585AE331C}" type="presOf" srcId="{540DA503-3896-48A5-BEA1-5BE91CD38A72}" destId="{1B045986-0683-4A5F-B575-6A8CD8CABD7D}" srcOrd="0" destOrd="0" presId="urn:microsoft.com/office/officeart/2005/8/layout/radial5"/>
    <dgm:cxn modelId="{647F3DE4-D38D-4940-AA8E-A508F197BC16}" type="presOf" srcId="{DA878FD1-C7C5-4D35-A9AC-EC946BEBCD40}" destId="{692A341B-A643-4F9D-A11A-3A78B111C04D}" srcOrd="0" destOrd="0" presId="urn:microsoft.com/office/officeart/2005/8/layout/radial5"/>
    <dgm:cxn modelId="{494357E9-E993-4E7A-8520-E35A42BF59AF}" type="presOf" srcId="{689BB797-FC0F-4F43-A1D4-72139CF016BF}" destId="{554EFDAC-A2D3-48A5-A6A2-9FEFC3BA4FEB}" srcOrd="0" destOrd="0" presId="urn:microsoft.com/office/officeart/2005/8/layout/radial5"/>
    <dgm:cxn modelId="{702F29EA-E773-41FF-95F7-46FD8448A24C}" type="presOf" srcId="{788545B5-A24E-483C-9FC7-3CD6161DBE28}" destId="{E25C0C63-E131-4008-A694-A1FBC8611E5F}" srcOrd="1" destOrd="0" presId="urn:microsoft.com/office/officeart/2005/8/layout/radial5"/>
    <dgm:cxn modelId="{EBA275F0-65E6-4242-A7D0-00C94A28FA5F}" type="presOf" srcId="{D5D0913F-60C1-40A7-90CF-1A9B415B4DF7}" destId="{B365EC0E-78C8-4C6F-9E96-F44BE7430467}" srcOrd="0" destOrd="0" presId="urn:microsoft.com/office/officeart/2005/8/layout/radial5"/>
    <dgm:cxn modelId="{0F4309FF-40E2-488B-9135-66DD25FAB465}" type="presOf" srcId="{A22E21EE-E502-4BB5-9F86-95FE3D2FCD54}" destId="{39DE1ED8-8645-48B6-99FB-395BC3E2B1C3}" srcOrd="1" destOrd="0" presId="urn:microsoft.com/office/officeart/2005/8/layout/radial5"/>
    <dgm:cxn modelId="{34BF52FF-9FB6-4A32-9D77-493957A19900}" type="presOf" srcId="{D1B1F230-7170-4C48-928A-0FC7AEBF15D9}" destId="{FF12524A-7A12-4922-BDE0-68A920DEBE53}" srcOrd="1" destOrd="0" presId="urn:microsoft.com/office/officeart/2005/8/layout/radial5"/>
    <dgm:cxn modelId="{93F39FE2-2C94-49E8-9E0E-34C82832D34E}" type="presParOf" srcId="{4948BE56-4787-4129-8F1C-1525095BFE09}" destId="{E7978B7F-471A-4B4D-BFB8-6065C616EE10}" srcOrd="0" destOrd="0" presId="urn:microsoft.com/office/officeart/2005/8/layout/radial5"/>
    <dgm:cxn modelId="{8E585B88-9CAA-4679-BCC6-5AEC0A945319}" type="presParOf" srcId="{4948BE56-4787-4129-8F1C-1525095BFE09}" destId="{0BB3B87D-D419-4327-9C4F-E2172B27BB11}" srcOrd="1" destOrd="0" presId="urn:microsoft.com/office/officeart/2005/8/layout/radial5"/>
    <dgm:cxn modelId="{039139E0-C338-4B0A-8DD1-D7C4B8E63176}" type="presParOf" srcId="{0BB3B87D-D419-4327-9C4F-E2172B27BB11}" destId="{A3AA8F15-CF69-4CF1-8339-080977C12C03}" srcOrd="0" destOrd="0" presId="urn:microsoft.com/office/officeart/2005/8/layout/radial5"/>
    <dgm:cxn modelId="{50A0242D-64D2-40EE-99EF-545DB88B7F7C}" type="presParOf" srcId="{4948BE56-4787-4129-8F1C-1525095BFE09}" destId="{D07F433D-7487-47AE-A5C1-5932FE132967}" srcOrd="2" destOrd="0" presId="urn:microsoft.com/office/officeart/2005/8/layout/radial5"/>
    <dgm:cxn modelId="{048CE349-207E-4ADB-B45C-F780243F961A}" type="presParOf" srcId="{4948BE56-4787-4129-8F1C-1525095BFE09}" destId="{A9C42D45-49A8-404F-924C-0881A0FFF25F}" srcOrd="3" destOrd="0" presId="urn:microsoft.com/office/officeart/2005/8/layout/radial5"/>
    <dgm:cxn modelId="{C4B1F6DD-00AF-4B53-9668-EB08D409BFDD}" type="presParOf" srcId="{A9C42D45-49A8-404F-924C-0881A0FFF25F}" destId="{39DE1ED8-8645-48B6-99FB-395BC3E2B1C3}" srcOrd="0" destOrd="0" presId="urn:microsoft.com/office/officeart/2005/8/layout/radial5"/>
    <dgm:cxn modelId="{E2648D58-C24D-4DF0-A049-827B03665A66}" type="presParOf" srcId="{4948BE56-4787-4129-8F1C-1525095BFE09}" destId="{692A341B-A643-4F9D-A11A-3A78B111C04D}" srcOrd="4" destOrd="0" presId="urn:microsoft.com/office/officeart/2005/8/layout/radial5"/>
    <dgm:cxn modelId="{5254DB80-943E-434E-A63F-ED1119A55613}" type="presParOf" srcId="{4948BE56-4787-4129-8F1C-1525095BFE09}" destId="{4311CFA8-63F7-4AC5-80C2-EDBCA489F360}" srcOrd="5" destOrd="0" presId="urn:microsoft.com/office/officeart/2005/8/layout/radial5"/>
    <dgm:cxn modelId="{5168C1E7-D5E5-402E-AB18-1A6E8B5EB0EF}" type="presParOf" srcId="{4311CFA8-63F7-4AC5-80C2-EDBCA489F360}" destId="{6BA96FBC-9F76-4EB5-9C34-81338600D652}" srcOrd="0" destOrd="0" presId="urn:microsoft.com/office/officeart/2005/8/layout/radial5"/>
    <dgm:cxn modelId="{06FE7895-20F7-4A25-ACC2-DABE45FD4667}" type="presParOf" srcId="{4948BE56-4787-4129-8F1C-1525095BFE09}" destId="{B365EC0E-78C8-4C6F-9E96-F44BE7430467}" srcOrd="6" destOrd="0" presId="urn:microsoft.com/office/officeart/2005/8/layout/radial5"/>
    <dgm:cxn modelId="{795E86A4-C811-426B-B900-A95F4D4FEC26}" type="presParOf" srcId="{4948BE56-4787-4129-8F1C-1525095BFE09}" destId="{233FD953-15D1-4852-BD73-341CAF968EA6}" srcOrd="7" destOrd="0" presId="urn:microsoft.com/office/officeart/2005/8/layout/radial5"/>
    <dgm:cxn modelId="{1589ECB4-2C77-44B1-9908-7C77FBFE44AE}" type="presParOf" srcId="{233FD953-15D1-4852-BD73-341CAF968EA6}" destId="{FF12524A-7A12-4922-BDE0-68A920DEBE53}" srcOrd="0" destOrd="0" presId="urn:microsoft.com/office/officeart/2005/8/layout/radial5"/>
    <dgm:cxn modelId="{AF5EF49C-22E4-4A8F-AAE2-6672A625061F}" type="presParOf" srcId="{4948BE56-4787-4129-8F1C-1525095BFE09}" destId="{1B045986-0683-4A5F-B575-6A8CD8CABD7D}" srcOrd="8" destOrd="0" presId="urn:microsoft.com/office/officeart/2005/8/layout/radial5"/>
    <dgm:cxn modelId="{4371147A-BE3E-409A-95B3-988A21D93879}" type="presParOf" srcId="{4948BE56-4787-4129-8F1C-1525095BFE09}" destId="{1BA36508-24A2-4534-96E6-1FDAB589CB08}" srcOrd="9" destOrd="0" presId="urn:microsoft.com/office/officeart/2005/8/layout/radial5"/>
    <dgm:cxn modelId="{86601EA2-9489-4384-919E-CA070772E0E8}" type="presParOf" srcId="{1BA36508-24A2-4534-96E6-1FDAB589CB08}" destId="{79B11B2C-E092-41F8-BAFD-BF9137EEBE41}" srcOrd="0" destOrd="0" presId="urn:microsoft.com/office/officeart/2005/8/layout/radial5"/>
    <dgm:cxn modelId="{F0EDBBF5-3572-4F32-A4CA-0F08C42799AC}" type="presParOf" srcId="{4948BE56-4787-4129-8F1C-1525095BFE09}" destId="{554EFDAC-A2D3-48A5-A6A2-9FEFC3BA4FEB}" srcOrd="10" destOrd="0" presId="urn:microsoft.com/office/officeart/2005/8/layout/radial5"/>
    <dgm:cxn modelId="{5F9C66BD-5453-428B-9A0F-4E49729BCFAE}" type="presParOf" srcId="{4948BE56-4787-4129-8F1C-1525095BFE09}" destId="{600DF9A2-574C-4027-9ED0-AD6E6793F8CE}" srcOrd="11" destOrd="0" presId="urn:microsoft.com/office/officeart/2005/8/layout/radial5"/>
    <dgm:cxn modelId="{78456CC1-D551-48A1-A057-C489AA1C9E49}" type="presParOf" srcId="{600DF9A2-574C-4027-9ED0-AD6E6793F8CE}" destId="{51784E2A-D328-4B0E-8FA7-B85D0F35698B}" srcOrd="0" destOrd="0" presId="urn:microsoft.com/office/officeart/2005/8/layout/radial5"/>
    <dgm:cxn modelId="{E4A26ECD-E024-4282-8560-D6BCEBE92F77}" type="presParOf" srcId="{4948BE56-4787-4129-8F1C-1525095BFE09}" destId="{0CA6FF4A-4778-4683-869A-BC1CCD01E68A}" srcOrd="12" destOrd="0" presId="urn:microsoft.com/office/officeart/2005/8/layout/radial5"/>
    <dgm:cxn modelId="{6D93B960-6155-4D48-AA92-A8C01729FDC4}" type="presParOf" srcId="{4948BE56-4787-4129-8F1C-1525095BFE09}" destId="{7EA51755-919B-4BDE-85B2-839E78DF10F6}" srcOrd="13" destOrd="0" presId="urn:microsoft.com/office/officeart/2005/8/layout/radial5"/>
    <dgm:cxn modelId="{9A056359-1382-46EE-A7DA-13E05D1FD7F9}" type="presParOf" srcId="{7EA51755-919B-4BDE-85B2-839E78DF10F6}" destId="{E25C0C63-E131-4008-A694-A1FBC8611E5F}" srcOrd="0" destOrd="0" presId="urn:microsoft.com/office/officeart/2005/8/layout/radial5"/>
    <dgm:cxn modelId="{BC7D17AF-3F96-4AB5-B3FB-9E1A89E1621F}" type="presParOf" srcId="{4948BE56-4787-4129-8F1C-1525095BFE09}" destId="{954EEB6A-810F-4BC7-9E9F-9CB608EF05DB}" srcOrd="14" destOrd="0" presId="urn:microsoft.com/office/officeart/2005/8/layout/radial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0F810BC-3D97-4F93-8FD5-EA657CAEA84D}" type="doc">
      <dgm:prSet loTypeId="urn:microsoft.com/office/officeart/2005/8/layout/radial5" loCatId="relationship" qsTypeId="urn:microsoft.com/office/officeart/2005/8/quickstyle/simple1" qsCatId="simple" csTypeId="urn:microsoft.com/office/officeart/2005/8/colors/accent1_2" csCatId="accent1" phldr="1"/>
      <dgm:spPr/>
      <dgm:t>
        <a:bodyPr/>
        <a:lstStyle/>
        <a:p>
          <a:endParaRPr lang="en-US"/>
        </a:p>
      </dgm:t>
    </dgm:pt>
    <dgm:pt modelId="{D77EE603-AD76-4524-AEE2-10D6BFD8D42A}">
      <dgm:prSet phldrT="[Text]" custT="1"/>
      <dgm:spPr/>
      <dgm:t>
        <a:bodyPr/>
        <a:lstStyle/>
        <a:p>
          <a:r>
            <a:rPr lang="en-US" sz="2000" dirty="0"/>
            <a:t>Car Market Segment</a:t>
          </a:r>
        </a:p>
      </dgm:t>
    </dgm:pt>
    <dgm:pt modelId="{49631088-14E0-4507-B628-3C70B502CE6D}" type="parTrans" cxnId="{E02EFA8B-300E-4B46-BF15-B3067B59A715}">
      <dgm:prSet/>
      <dgm:spPr/>
      <dgm:t>
        <a:bodyPr/>
        <a:lstStyle/>
        <a:p>
          <a:endParaRPr lang="en-US"/>
        </a:p>
      </dgm:t>
    </dgm:pt>
    <dgm:pt modelId="{2FF01186-344C-4650-9697-BFB107F72AD9}" type="sibTrans" cxnId="{E02EFA8B-300E-4B46-BF15-B3067B59A715}">
      <dgm:prSet/>
      <dgm:spPr/>
      <dgm:t>
        <a:bodyPr/>
        <a:lstStyle/>
        <a:p>
          <a:endParaRPr lang="en-US"/>
        </a:p>
      </dgm:t>
    </dgm:pt>
    <dgm:pt modelId="{C47C993B-04F3-4964-912A-F36ED9D44CD6}">
      <dgm:prSet phldrT="[Text]" custT="1"/>
      <dgm:spPr/>
      <dgm:t>
        <a:bodyPr/>
        <a:lstStyle/>
        <a:p>
          <a:r>
            <a:rPr lang="en-US" sz="2400" dirty="0"/>
            <a:t>Just getting around</a:t>
          </a:r>
        </a:p>
      </dgm:t>
    </dgm:pt>
    <dgm:pt modelId="{7D44D289-7A6F-41CB-95F5-C9BF3E4808A5}" type="parTrans" cxnId="{E947D51D-EF0A-46A4-9241-9E4E964A697D}">
      <dgm:prSet/>
      <dgm:spPr/>
      <dgm:t>
        <a:bodyPr/>
        <a:lstStyle/>
        <a:p>
          <a:endParaRPr lang="en-US"/>
        </a:p>
      </dgm:t>
    </dgm:pt>
    <dgm:pt modelId="{E8D7C1A7-6BB2-47AB-AC33-82688CE62D95}" type="sibTrans" cxnId="{E947D51D-EF0A-46A4-9241-9E4E964A697D}">
      <dgm:prSet/>
      <dgm:spPr/>
      <dgm:t>
        <a:bodyPr/>
        <a:lstStyle/>
        <a:p>
          <a:endParaRPr lang="en-US"/>
        </a:p>
      </dgm:t>
    </dgm:pt>
    <dgm:pt modelId="{9F718755-8084-4C3A-A9D0-D586A6F5CD1B}">
      <dgm:prSet phldrT="[Text]" custT="1"/>
      <dgm:spPr/>
      <dgm:t>
        <a:bodyPr/>
        <a:lstStyle/>
        <a:p>
          <a:r>
            <a:rPr lang="en-US" sz="2800" dirty="0"/>
            <a:t>Family needs</a:t>
          </a:r>
        </a:p>
      </dgm:t>
    </dgm:pt>
    <dgm:pt modelId="{105EF866-DE11-406A-9B7D-EAB8B8D3C3F4}" type="parTrans" cxnId="{774E5CBA-061F-4690-8663-5A4C517D7053}">
      <dgm:prSet/>
      <dgm:spPr/>
      <dgm:t>
        <a:bodyPr/>
        <a:lstStyle/>
        <a:p>
          <a:endParaRPr lang="en-US"/>
        </a:p>
      </dgm:t>
    </dgm:pt>
    <dgm:pt modelId="{1DBB1C91-F6C5-4C46-A7F6-18B4162D38BD}" type="sibTrans" cxnId="{774E5CBA-061F-4690-8663-5A4C517D7053}">
      <dgm:prSet/>
      <dgm:spPr/>
      <dgm:t>
        <a:bodyPr/>
        <a:lstStyle/>
        <a:p>
          <a:endParaRPr lang="en-US"/>
        </a:p>
      </dgm:t>
    </dgm:pt>
    <dgm:pt modelId="{286DCD72-25F7-4CA4-BCF3-FC6E75558A45}">
      <dgm:prSet phldrT="[Text]" custT="1"/>
      <dgm:spPr/>
      <dgm:t>
        <a:bodyPr/>
        <a:lstStyle/>
        <a:p>
          <a:r>
            <a:rPr lang="en-US" sz="2400" dirty="0"/>
            <a:t>I’ve made it</a:t>
          </a:r>
        </a:p>
      </dgm:t>
    </dgm:pt>
    <dgm:pt modelId="{9C14BBC5-0D58-4EAE-BDC8-DCF76D9418B4}" type="parTrans" cxnId="{8A3CD164-BA6C-4DD6-BBDE-856050810E5D}">
      <dgm:prSet/>
      <dgm:spPr/>
      <dgm:t>
        <a:bodyPr/>
        <a:lstStyle/>
        <a:p>
          <a:endParaRPr lang="en-US"/>
        </a:p>
      </dgm:t>
    </dgm:pt>
    <dgm:pt modelId="{37CB9F4E-5459-4B9E-9657-1A47852E6ADD}" type="sibTrans" cxnId="{8A3CD164-BA6C-4DD6-BBDE-856050810E5D}">
      <dgm:prSet/>
      <dgm:spPr/>
      <dgm:t>
        <a:bodyPr/>
        <a:lstStyle/>
        <a:p>
          <a:endParaRPr lang="en-US"/>
        </a:p>
      </dgm:t>
    </dgm:pt>
    <dgm:pt modelId="{A5411690-1A11-45C5-9018-5DB374224D40}">
      <dgm:prSet phldrT="[Text]" custT="1"/>
      <dgm:spPr/>
      <dgm:t>
        <a:bodyPr/>
        <a:lstStyle/>
        <a:p>
          <a:r>
            <a:rPr lang="en-US" sz="2400" dirty="0"/>
            <a:t>Quality matters</a:t>
          </a:r>
        </a:p>
      </dgm:t>
    </dgm:pt>
    <dgm:pt modelId="{D21E92CD-31DB-4CEB-9E97-7C0EEEE8615D}" type="parTrans" cxnId="{4695B126-3EBF-41DE-BE30-32D24017E160}">
      <dgm:prSet/>
      <dgm:spPr/>
      <dgm:t>
        <a:bodyPr/>
        <a:lstStyle/>
        <a:p>
          <a:endParaRPr lang="en-US"/>
        </a:p>
      </dgm:t>
    </dgm:pt>
    <dgm:pt modelId="{58781C35-5969-4C2F-B68E-6FBC26198F10}" type="sibTrans" cxnId="{4695B126-3EBF-41DE-BE30-32D24017E160}">
      <dgm:prSet/>
      <dgm:spPr/>
      <dgm:t>
        <a:bodyPr/>
        <a:lstStyle/>
        <a:p>
          <a:endParaRPr lang="en-US"/>
        </a:p>
      </dgm:t>
    </dgm:pt>
    <dgm:pt modelId="{239B2E85-AB2D-4077-8C0F-4384C8E4D025}">
      <dgm:prSet custT="1"/>
      <dgm:spPr/>
      <dgm:t>
        <a:bodyPr/>
        <a:lstStyle/>
        <a:p>
          <a:r>
            <a:rPr lang="en-US" sz="2400" dirty="0" err="1"/>
            <a:t>Luxery</a:t>
          </a:r>
          <a:r>
            <a:rPr lang="en-US" sz="2400" dirty="0"/>
            <a:t> matters</a:t>
          </a:r>
        </a:p>
      </dgm:t>
    </dgm:pt>
    <dgm:pt modelId="{26BDFD80-09D5-4EAB-9FC6-8E4C95F872B3}" type="parTrans" cxnId="{655ACBB2-AF35-4F6D-96FC-73ECD3316E54}">
      <dgm:prSet/>
      <dgm:spPr/>
      <dgm:t>
        <a:bodyPr/>
        <a:lstStyle/>
        <a:p>
          <a:endParaRPr lang="en-US"/>
        </a:p>
      </dgm:t>
    </dgm:pt>
    <dgm:pt modelId="{D559557F-16F5-4B63-9F09-4C02B1761650}" type="sibTrans" cxnId="{655ACBB2-AF35-4F6D-96FC-73ECD3316E54}">
      <dgm:prSet/>
      <dgm:spPr/>
      <dgm:t>
        <a:bodyPr/>
        <a:lstStyle/>
        <a:p>
          <a:endParaRPr lang="en-US"/>
        </a:p>
      </dgm:t>
    </dgm:pt>
    <dgm:pt modelId="{CEDC1F4D-C3D2-4098-B977-8B3C422CF70D}">
      <dgm:prSet custT="1"/>
      <dgm:spPr/>
      <dgm:t>
        <a:bodyPr/>
        <a:lstStyle/>
        <a:p>
          <a:r>
            <a:rPr lang="en-US" sz="2000" dirty="0"/>
            <a:t>Environmentally aware</a:t>
          </a:r>
        </a:p>
      </dgm:t>
    </dgm:pt>
    <dgm:pt modelId="{AD6EA82F-D053-4235-86D7-63EBBD4890A2}" type="parTrans" cxnId="{F28AE9BB-16A2-42EE-B1F5-B9A08492A2BD}">
      <dgm:prSet/>
      <dgm:spPr/>
      <dgm:t>
        <a:bodyPr/>
        <a:lstStyle/>
        <a:p>
          <a:endParaRPr lang="en-US"/>
        </a:p>
      </dgm:t>
    </dgm:pt>
    <dgm:pt modelId="{8AB43AB5-CB75-4C1F-AD4E-CAFE86D95C4E}" type="sibTrans" cxnId="{F28AE9BB-16A2-42EE-B1F5-B9A08492A2BD}">
      <dgm:prSet/>
      <dgm:spPr/>
      <dgm:t>
        <a:bodyPr/>
        <a:lstStyle/>
        <a:p>
          <a:endParaRPr lang="en-US"/>
        </a:p>
      </dgm:t>
    </dgm:pt>
    <dgm:pt modelId="{5B820F72-3029-4377-818A-C383A2451C4D}">
      <dgm:prSet/>
      <dgm:spPr/>
      <dgm:t>
        <a:bodyPr/>
        <a:lstStyle/>
        <a:p>
          <a:r>
            <a:rPr lang="en-US" dirty="0"/>
            <a:t>Off-roaders </a:t>
          </a:r>
        </a:p>
      </dgm:t>
    </dgm:pt>
    <dgm:pt modelId="{DF461CE7-8A24-4EDD-8FFC-36806C6F8294}" type="parTrans" cxnId="{8FD35BB4-F933-4838-9738-525E7BE85566}">
      <dgm:prSet/>
      <dgm:spPr/>
      <dgm:t>
        <a:bodyPr/>
        <a:lstStyle/>
        <a:p>
          <a:endParaRPr lang="en-US"/>
        </a:p>
      </dgm:t>
    </dgm:pt>
    <dgm:pt modelId="{C3C698E9-D6AD-4968-BDA9-A13D9C908F78}" type="sibTrans" cxnId="{8FD35BB4-F933-4838-9738-525E7BE85566}">
      <dgm:prSet/>
      <dgm:spPr/>
      <dgm:t>
        <a:bodyPr/>
        <a:lstStyle/>
        <a:p>
          <a:endParaRPr lang="en-US"/>
        </a:p>
      </dgm:t>
    </dgm:pt>
    <dgm:pt modelId="{1650A6E6-5322-458F-B1A0-89376DFFC68A}" type="pres">
      <dgm:prSet presAssocID="{C0F810BC-3D97-4F93-8FD5-EA657CAEA84D}" presName="Name0" presStyleCnt="0">
        <dgm:presLayoutVars>
          <dgm:chMax val="1"/>
          <dgm:dir/>
          <dgm:animLvl val="ctr"/>
          <dgm:resizeHandles val="exact"/>
        </dgm:presLayoutVars>
      </dgm:prSet>
      <dgm:spPr/>
    </dgm:pt>
    <dgm:pt modelId="{DD77D4C4-FBDF-4466-9A38-BA50EEC9DBDF}" type="pres">
      <dgm:prSet presAssocID="{D77EE603-AD76-4524-AEE2-10D6BFD8D42A}" presName="centerShape" presStyleLbl="node0" presStyleIdx="0" presStyleCnt="1" custScaleX="118577"/>
      <dgm:spPr/>
    </dgm:pt>
    <dgm:pt modelId="{3DC9137D-2237-49D1-AC19-CB3970AB7BB4}" type="pres">
      <dgm:prSet presAssocID="{7D44D289-7A6F-41CB-95F5-C9BF3E4808A5}" presName="parTrans" presStyleLbl="sibTrans2D1" presStyleIdx="0" presStyleCnt="7"/>
      <dgm:spPr/>
    </dgm:pt>
    <dgm:pt modelId="{B8DB8878-1F7B-4985-BDAF-56DB2DDE44AB}" type="pres">
      <dgm:prSet presAssocID="{7D44D289-7A6F-41CB-95F5-C9BF3E4808A5}" presName="connectorText" presStyleLbl="sibTrans2D1" presStyleIdx="0" presStyleCnt="7"/>
      <dgm:spPr/>
    </dgm:pt>
    <dgm:pt modelId="{501920AB-1CAC-4435-85E0-CF0C2DF89E11}" type="pres">
      <dgm:prSet presAssocID="{C47C993B-04F3-4964-912A-F36ED9D44CD6}" presName="node" presStyleLbl="node1" presStyleIdx="0" presStyleCnt="7" custRadScaleRad="100166" custRadScaleInc="0">
        <dgm:presLayoutVars>
          <dgm:bulletEnabled val="1"/>
        </dgm:presLayoutVars>
      </dgm:prSet>
      <dgm:spPr/>
    </dgm:pt>
    <dgm:pt modelId="{9A13A2BE-0699-44E4-9082-90DEA8B01CC0}" type="pres">
      <dgm:prSet presAssocID="{105EF866-DE11-406A-9B7D-EAB8B8D3C3F4}" presName="parTrans" presStyleLbl="sibTrans2D1" presStyleIdx="1" presStyleCnt="7"/>
      <dgm:spPr/>
    </dgm:pt>
    <dgm:pt modelId="{054F3A71-8A98-4BDB-A6A1-E4E7A482E19F}" type="pres">
      <dgm:prSet presAssocID="{105EF866-DE11-406A-9B7D-EAB8B8D3C3F4}" presName="connectorText" presStyleLbl="sibTrans2D1" presStyleIdx="1" presStyleCnt="7"/>
      <dgm:spPr/>
    </dgm:pt>
    <dgm:pt modelId="{956AABA1-F3A7-4455-BE31-014BF52CF0C0}" type="pres">
      <dgm:prSet presAssocID="{9F718755-8084-4C3A-A9D0-D586A6F5CD1B}" presName="node" presStyleLbl="node1" presStyleIdx="1" presStyleCnt="7" custRadScaleRad="98298" custRadScaleInc="4907">
        <dgm:presLayoutVars>
          <dgm:bulletEnabled val="1"/>
        </dgm:presLayoutVars>
      </dgm:prSet>
      <dgm:spPr/>
    </dgm:pt>
    <dgm:pt modelId="{C370E7B4-3A61-4F10-8EF2-BBF93E104AC1}" type="pres">
      <dgm:prSet presAssocID="{9C14BBC5-0D58-4EAE-BDC8-DCF76D9418B4}" presName="parTrans" presStyleLbl="sibTrans2D1" presStyleIdx="2" presStyleCnt="7"/>
      <dgm:spPr/>
    </dgm:pt>
    <dgm:pt modelId="{C0A0E477-9796-4EED-98D2-541C3DC0FF0C}" type="pres">
      <dgm:prSet presAssocID="{9C14BBC5-0D58-4EAE-BDC8-DCF76D9418B4}" presName="connectorText" presStyleLbl="sibTrans2D1" presStyleIdx="2" presStyleCnt="7"/>
      <dgm:spPr/>
    </dgm:pt>
    <dgm:pt modelId="{43D34178-F677-49F5-9245-10FCA7B43479}" type="pres">
      <dgm:prSet presAssocID="{286DCD72-25F7-4CA4-BCF3-FC6E75558A45}" presName="node" presStyleLbl="node1" presStyleIdx="2" presStyleCnt="7">
        <dgm:presLayoutVars>
          <dgm:bulletEnabled val="1"/>
        </dgm:presLayoutVars>
      </dgm:prSet>
      <dgm:spPr/>
    </dgm:pt>
    <dgm:pt modelId="{EA205975-FF2D-4E38-93B4-B3A3D027F686}" type="pres">
      <dgm:prSet presAssocID="{D21E92CD-31DB-4CEB-9E97-7C0EEEE8615D}" presName="parTrans" presStyleLbl="sibTrans2D1" presStyleIdx="3" presStyleCnt="7"/>
      <dgm:spPr/>
    </dgm:pt>
    <dgm:pt modelId="{8CDD9AF0-A2FD-4EF7-8DB9-3F9E9276E98D}" type="pres">
      <dgm:prSet presAssocID="{D21E92CD-31DB-4CEB-9E97-7C0EEEE8615D}" presName="connectorText" presStyleLbl="sibTrans2D1" presStyleIdx="3" presStyleCnt="7"/>
      <dgm:spPr/>
    </dgm:pt>
    <dgm:pt modelId="{5113F547-7B28-46DC-B726-E109338C98EA}" type="pres">
      <dgm:prSet presAssocID="{A5411690-1A11-45C5-9018-5DB374224D40}" presName="node" presStyleLbl="node1" presStyleIdx="3" presStyleCnt="7" custScaleX="116299">
        <dgm:presLayoutVars>
          <dgm:bulletEnabled val="1"/>
        </dgm:presLayoutVars>
      </dgm:prSet>
      <dgm:spPr/>
    </dgm:pt>
    <dgm:pt modelId="{B086A5B3-CC99-43EE-85BD-D5B0AA7AC518}" type="pres">
      <dgm:prSet presAssocID="{26BDFD80-09D5-4EAB-9FC6-8E4C95F872B3}" presName="parTrans" presStyleLbl="sibTrans2D1" presStyleIdx="4" presStyleCnt="7"/>
      <dgm:spPr/>
    </dgm:pt>
    <dgm:pt modelId="{BE808E7B-B16B-4758-9A57-546ECB1AD8C5}" type="pres">
      <dgm:prSet presAssocID="{26BDFD80-09D5-4EAB-9FC6-8E4C95F872B3}" presName="connectorText" presStyleLbl="sibTrans2D1" presStyleIdx="4" presStyleCnt="7"/>
      <dgm:spPr/>
    </dgm:pt>
    <dgm:pt modelId="{8B4CF656-D66D-4BF7-A7EF-58B4E1846F8B}" type="pres">
      <dgm:prSet presAssocID="{239B2E85-AB2D-4077-8C0F-4384C8E4D025}" presName="node" presStyleLbl="node1" presStyleIdx="4" presStyleCnt="7" custScaleX="122961">
        <dgm:presLayoutVars>
          <dgm:bulletEnabled val="1"/>
        </dgm:presLayoutVars>
      </dgm:prSet>
      <dgm:spPr/>
    </dgm:pt>
    <dgm:pt modelId="{748E4BF6-5A58-4670-903B-DC2742805911}" type="pres">
      <dgm:prSet presAssocID="{AD6EA82F-D053-4235-86D7-63EBBD4890A2}" presName="parTrans" presStyleLbl="sibTrans2D1" presStyleIdx="5" presStyleCnt="7"/>
      <dgm:spPr/>
    </dgm:pt>
    <dgm:pt modelId="{DE5286F1-FE9C-4BA5-A7F1-4656F88D3205}" type="pres">
      <dgm:prSet presAssocID="{AD6EA82F-D053-4235-86D7-63EBBD4890A2}" presName="connectorText" presStyleLbl="sibTrans2D1" presStyleIdx="5" presStyleCnt="7"/>
      <dgm:spPr/>
    </dgm:pt>
    <dgm:pt modelId="{4BD3D332-29B3-4654-A407-32724D1C25AE}" type="pres">
      <dgm:prSet presAssocID="{CEDC1F4D-C3D2-4098-B977-8B3C422CF70D}" presName="node" presStyleLbl="node1" presStyleIdx="5" presStyleCnt="7" custScaleX="115150">
        <dgm:presLayoutVars>
          <dgm:bulletEnabled val="1"/>
        </dgm:presLayoutVars>
      </dgm:prSet>
      <dgm:spPr/>
    </dgm:pt>
    <dgm:pt modelId="{61ADD3A3-B8A3-471A-9713-3864C8DC73F8}" type="pres">
      <dgm:prSet presAssocID="{DF461CE7-8A24-4EDD-8FFC-36806C6F8294}" presName="parTrans" presStyleLbl="sibTrans2D1" presStyleIdx="6" presStyleCnt="7"/>
      <dgm:spPr/>
    </dgm:pt>
    <dgm:pt modelId="{0DEAF3D9-1682-46AD-BE40-951B286FF565}" type="pres">
      <dgm:prSet presAssocID="{DF461CE7-8A24-4EDD-8FFC-36806C6F8294}" presName="connectorText" presStyleLbl="sibTrans2D1" presStyleIdx="6" presStyleCnt="7"/>
      <dgm:spPr/>
    </dgm:pt>
    <dgm:pt modelId="{910DCB4A-06E9-45F5-802D-5E057BA78845}" type="pres">
      <dgm:prSet presAssocID="{5B820F72-3029-4377-818A-C383A2451C4D}" presName="node" presStyleLbl="node1" presStyleIdx="6" presStyleCnt="7">
        <dgm:presLayoutVars>
          <dgm:bulletEnabled val="1"/>
        </dgm:presLayoutVars>
      </dgm:prSet>
      <dgm:spPr/>
    </dgm:pt>
  </dgm:ptLst>
  <dgm:cxnLst>
    <dgm:cxn modelId="{B732D711-338A-4FE0-B8D8-C21AB9136C47}" type="presOf" srcId="{7D44D289-7A6F-41CB-95F5-C9BF3E4808A5}" destId="{3DC9137D-2237-49D1-AC19-CB3970AB7BB4}" srcOrd="0" destOrd="0" presId="urn:microsoft.com/office/officeart/2005/8/layout/radial5"/>
    <dgm:cxn modelId="{B1D66214-8D84-41AA-A2CE-BC8705748ADE}" type="presOf" srcId="{26BDFD80-09D5-4EAB-9FC6-8E4C95F872B3}" destId="{B086A5B3-CC99-43EE-85BD-D5B0AA7AC518}" srcOrd="0" destOrd="0" presId="urn:microsoft.com/office/officeart/2005/8/layout/radial5"/>
    <dgm:cxn modelId="{65F89719-BB36-4481-9A22-A15BDA3D516A}" type="presOf" srcId="{5B820F72-3029-4377-818A-C383A2451C4D}" destId="{910DCB4A-06E9-45F5-802D-5E057BA78845}" srcOrd="0" destOrd="0" presId="urn:microsoft.com/office/officeart/2005/8/layout/radial5"/>
    <dgm:cxn modelId="{387F0F1C-98C0-4CAC-BE5B-315D011AA857}" type="presOf" srcId="{9C14BBC5-0D58-4EAE-BDC8-DCF76D9418B4}" destId="{C0A0E477-9796-4EED-98D2-541C3DC0FF0C}" srcOrd="1" destOrd="0" presId="urn:microsoft.com/office/officeart/2005/8/layout/radial5"/>
    <dgm:cxn modelId="{E947D51D-EF0A-46A4-9241-9E4E964A697D}" srcId="{D77EE603-AD76-4524-AEE2-10D6BFD8D42A}" destId="{C47C993B-04F3-4964-912A-F36ED9D44CD6}" srcOrd="0" destOrd="0" parTransId="{7D44D289-7A6F-41CB-95F5-C9BF3E4808A5}" sibTransId="{E8D7C1A7-6BB2-47AB-AC33-82688CE62D95}"/>
    <dgm:cxn modelId="{4695B126-3EBF-41DE-BE30-32D24017E160}" srcId="{D77EE603-AD76-4524-AEE2-10D6BFD8D42A}" destId="{A5411690-1A11-45C5-9018-5DB374224D40}" srcOrd="3" destOrd="0" parTransId="{D21E92CD-31DB-4CEB-9E97-7C0EEEE8615D}" sibTransId="{58781C35-5969-4C2F-B68E-6FBC26198F10}"/>
    <dgm:cxn modelId="{D1BA2E3C-3EC8-4B24-923C-BAB2185D0A18}" type="presOf" srcId="{9C14BBC5-0D58-4EAE-BDC8-DCF76D9418B4}" destId="{C370E7B4-3A61-4F10-8EF2-BBF93E104AC1}" srcOrd="0" destOrd="0" presId="urn:microsoft.com/office/officeart/2005/8/layout/radial5"/>
    <dgm:cxn modelId="{86771E42-CAF1-495B-811C-3D16841AF5E0}" type="presOf" srcId="{D21E92CD-31DB-4CEB-9E97-7C0EEEE8615D}" destId="{8CDD9AF0-A2FD-4EF7-8DB9-3F9E9276E98D}" srcOrd="1" destOrd="0" presId="urn:microsoft.com/office/officeart/2005/8/layout/radial5"/>
    <dgm:cxn modelId="{9A94B063-74CF-431F-B349-A83119036072}" type="presOf" srcId="{C47C993B-04F3-4964-912A-F36ED9D44CD6}" destId="{501920AB-1CAC-4435-85E0-CF0C2DF89E11}" srcOrd="0" destOrd="0" presId="urn:microsoft.com/office/officeart/2005/8/layout/radial5"/>
    <dgm:cxn modelId="{8A3CD164-BA6C-4DD6-BBDE-856050810E5D}" srcId="{D77EE603-AD76-4524-AEE2-10D6BFD8D42A}" destId="{286DCD72-25F7-4CA4-BCF3-FC6E75558A45}" srcOrd="2" destOrd="0" parTransId="{9C14BBC5-0D58-4EAE-BDC8-DCF76D9418B4}" sibTransId="{37CB9F4E-5459-4B9E-9657-1A47852E6ADD}"/>
    <dgm:cxn modelId="{E6CD016B-00F3-49BC-A888-315D6A027633}" type="presOf" srcId="{DF461CE7-8A24-4EDD-8FFC-36806C6F8294}" destId="{61ADD3A3-B8A3-471A-9713-3864C8DC73F8}" srcOrd="0" destOrd="0" presId="urn:microsoft.com/office/officeart/2005/8/layout/radial5"/>
    <dgm:cxn modelId="{E280526F-CF06-4024-8CD9-31D03FC4F636}" type="presOf" srcId="{286DCD72-25F7-4CA4-BCF3-FC6E75558A45}" destId="{43D34178-F677-49F5-9245-10FCA7B43479}" srcOrd="0" destOrd="0" presId="urn:microsoft.com/office/officeart/2005/8/layout/radial5"/>
    <dgm:cxn modelId="{9CE08071-8E0E-4852-BCAA-8077BDD74C1D}" type="presOf" srcId="{7D44D289-7A6F-41CB-95F5-C9BF3E4808A5}" destId="{B8DB8878-1F7B-4985-BDAF-56DB2DDE44AB}" srcOrd="1" destOrd="0" presId="urn:microsoft.com/office/officeart/2005/8/layout/radial5"/>
    <dgm:cxn modelId="{E362AF73-DE04-48F0-8A98-7F179EE0E421}" type="presOf" srcId="{D77EE603-AD76-4524-AEE2-10D6BFD8D42A}" destId="{DD77D4C4-FBDF-4466-9A38-BA50EEC9DBDF}" srcOrd="0" destOrd="0" presId="urn:microsoft.com/office/officeart/2005/8/layout/radial5"/>
    <dgm:cxn modelId="{6363E577-BE29-4E51-9D6D-0756AC9C97BD}" type="presOf" srcId="{26BDFD80-09D5-4EAB-9FC6-8E4C95F872B3}" destId="{BE808E7B-B16B-4758-9A57-546ECB1AD8C5}" srcOrd="1" destOrd="0" presId="urn:microsoft.com/office/officeart/2005/8/layout/radial5"/>
    <dgm:cxn modelId="{54C24D79-12A0-4F8A-BB6F-32F3372EED8D}" type="presOf" srcId="{9F718755-8084-4C3A-A9D0-D586A6F5CD1B}" destId="{956AABA1-F3A7-4455-BE31-014BF52CF0C0}" srcOrd="0" destOrd="0" presId="urn:microsoft.com/office/officeart/2005/8/layout/radial5"/>
    <dgm:cxn modelId="{BB9E207C-BA1A-4FDA-B3B0-492BE942BFFA}" type="presOf" srcId="{AD6EA82F-D053-4235-86D7-63EBBD4890A2}" destId="{DE5286F1-FE9C-4BA5-A7F1-4656F88D3205}" srcOrd="1" destOrd="0" presId="urn:microsoft.com/office/officeart/2005/8/layout/radial5"/>
    <dgm:cxn modelId="{E02EFA8B-300E-4B46-BF15-B3067B59A715}" srcId="{C0F810BC-3D97-4F93-8FD5-EA657CAEA84D}" destId="{D77EE603-AD76-4524-AEE2-10D6BFD8D42A}" srcOrd="0" destOrd="0" parTransId="{49631088-14E0-4507-B628-3C70B502CE6D}" sibTransId="{2FF01186-344C-4650-9697-BFB107F72AD9}"/>
    <dgm:cxn modelId="{655ACBB2-AF35-4F6D-96FC-73ECD3316E54}" srcId="{D77EE603-AD76-4524-AEE2-10D6BFD8D42A}" destId="{239B2E85-AB2D-4077-8C0F-4384C8E4D025}" srcOrd="4" destOrd="0" parTransId="{26BDFD80-09D5-4EAB-9FC6-8E4C95F872B3}" sibTransId="{D559557F-16F5-4B63-9F09-4C02B1761650}"/>
    <dgm:cxn modelId="{8FD35BB4-F933-4838-9738-525E7BE85566}" srcId="{D77EE603-AD76-4524-AEE2-10D6BFD8D42A}" destId="{5B820F72-3029-4377-818A-C383A2451C4D}" srcOrd="6" destOrd="0" parTransId="{DF461CE7-8A24-4EDD-8FFC-36806C6F8294}" sibTransId="{C3C698E9-D6AD-4968-BDA9-A13D9C908F78}"/>
    <dgm:cxn modelId="{AE7E65B4-0A8B-459D-A19F-D378D41CBCEE}" type="presOf" srcId="{239B2E85-AB2D-4077-8C0F-4384C8E4D025}" destId="{8B4CF656-D66D-4BF7-A7EF-58B4E1846F8B}" srcOrd="0" destOrd="0" presId="urn:microsoft.com/office/officeart/2005/8/layout/radial5"/>
    <dgm:cxn modelId="{774E5CBA-061F-4690-8663-5A4C517D7053}" srcId="{D77EE603-AD76-4524-AEE2-10D6BFD8D42A}" destId="{9F718755-8084-4C3A-A9D0-D586A6F5CD1B}" srcOrd="1" destOrd="0" parTransId="{105EF866-DE11-406A-9B7D-EAB8B8D3C3F4}" sibTransId="{1DBB1C91-F6C5-4C46-A7F6-18B4162D38BD}"/>
    <dgm:cxn modelId="{7D32AFBB-D14F-4056-9781-2E1BC09A71AD}" type="presOf" srcId="{105EF866-DE11-406A-9B7D-EAB8B8D3C3F4}" destId="{9A13A2BE-0699-44E4-9082-90DEA8B01CC0}" srcOrd="0" destOrd="0" presId="urn:microsoft.com/office/officeart/2005/8/layout/radial5"/>
    <dgm:cxn modelId="{F28AE9BB-16A2-42EE-B1F5-B9A08492A2BD}" srcId="{D77EE603-AD76-4524-AEE2-10D6BFD8D42A}" destId="{CEDC1F4D-C3D2-4098-B977-8B3C422CF70D}" srcOrd="5" destOrd="0" parTransId="{AD6EA82F-D053-4235-86D7-63EBBD4890A2}" sibTransId="{8AB43AB5-CB75-4C1F-AD4E-CAFE86D95C4E}"/>
    <dgm:cxn modelId="{871FE0CA-ED3F-49CE-8753-38E023578D94}" type="presOf" srcId="{C0F810BC-3D97-4F93-8FD5-EA657CAEA84D}" destId="{1650A6E6-5322-458F-B1A0-89376DFFC68A}" srcOrd="0" destOrd="0" presId="urn:microsoft.com/office/officeart/2005/8/layout/radial5"/>
    <dgm:cxn modelId="{3E4A1CCF-CF22-4AD9-96B7-E7C6DFB0026F}" type="presOf" srcId="{CEDC1F4D-C3D2-4098-B977-8B3C422CF70D}" destId="{4BD3D332-29B3-4654-A407-32724D1C25AE}" srcOrd="0" destOrd="0" presId="urn:microsoft.com/office/officeart/2005/8/layout/radial5"/>
    <dgm:cxn modelId="{C358F3CF-46CF-4A38-B6F5-7CD16B8C8797}" type="presOf" srcId="{AD6EA82F-D053-4235-86D7-63EBBD4890A2}" destId="{748E4BF6-5A58-4670-903B-DC2742805911}" srcOrd="0" destOrd="0" presId="urn:microsoft.com/office/officeart/2005/8/layout/radial5"/>
    <dgm:cxn modelId="{F3783DE2-C0DE-4434-A421-E2A1042641AB}" type="presOf" srcId="{DF461CE7-8A24-4EDD-8FFC-36806C6F8294}" destId="{0DEAF3D9-1682-46AD-BE40-951B286FF565}" srcOrd="1" destOrd="0" presId="urn:microsoft.com/office/officeart/2005/8/layout/radial5"/>
    <dgm:cxn modelId="{31418BEA-4854-48BC-97C3-FACF1141455F}" type="presOf" srcId="{D21E92CD-31DB-4CEB-9E97-7C0EEEE8615D}" destId="{EA205975-FF2D-4E38-93B4-B3A3D027F686}" srcOrd="0" destOrd="0" presId="urn:microsoft.com/office/officeart/2005/8/layout/radial5"/>
    <dgm:cxn modelId="{45798FEA-684F-49B4-BF89-38D79871235F}" type="presOf" srcId="{105EF866-DE11-406A-9B7D-EAB8B8D3C3F4}" destId="{054F3A71-8A98-4BDB-A6A1-E4E7A482E19F}" srcOrd="1" destOrd="0" presId="urn:microsoft.com/office/officeart/2005/8/layout/radial5"/>
    <dgm:cxn modelId="{741C8DF1-BF6E-4960-8479-6A9E2FC6D339}" type="presOf" srcId="{A5411690-1A11-45C5-9018-5DB374224D40}" destId="{5113F547-7B28-46DC-B726-E109338C98EA}" srcOrd="0" destOrd="0" presId="urn:microsoft.com/office/officeart/2005/8/layout/radial5"/>
    <dgm:cxn modelId="{13A48635-0E1B-44BD-A3AF-825EB35A4512}" type="presParOf" srcId="{1650A6E6-5322-458F-B1A0-89376DFFC68A}" destId="{DD77D4C4-FBDF-4466-9A38-BA50EEC9DBDF}" srcOrd="0" destOrd="0" presId="urn:microsoft.com/office/officeart/2005/8/layout/radial5"/>
    <dgm:cxn modelId="{D53CCD4B-42A3-4A7B-BAEF-9CFB091B05AF}" type="presParOf" srcId="{1650A6E6-5322-458F-B1A0-89376DFFC68A}" destId="{3DC9137D-2237-49D1-AC19-CB3970AB7BB4}" srcOrd="1" destOrd="0" presId="urn:microsoft.com/office/officeart/2005/8/layout/radial5"/>
    <dgm:cxn modelId="{B99C1464-E88A-410F-AD64-1E798A315511}" type="presParOf" srcId="{3DC9137D-2237-49D1-AC19-CB3970AB7BB4}" destId="{B8DB8878-1F7B-4985-BDAF-56DB2DDE44AB}" srcOrd="0" destOrd="0" presId="urn:microsoft.com/office/officeart/2005/8/layout/radial5"/>
    <dgm:cxn modelId="{2BC20056-E1AF-46E1-8D79-D1EA7F33FD74}" type="presParOf" srcId="{1650A6E6-5322-458F-B1A0-89376DFFC68A}" destId="{501920AB-1CAC-4435-85E0-CF0C2DF89E11}" srcOrd="2" destOrd="0" presId="urn:microsoft.com/office/officeart/2005/8/layout/radial5"/>
    <dgm:cxn modelId="{5455E20F-BFFE-4EB5-8B67-1EA2103A3C0A}" type="presParOf" srcId="{1650A6E6-5322-458F-B1A0-89376DFFC68A}" destId="{9A13A2BE-0699-44E4-9082-90DEA8B01CC0}" srcOrd="3" destOrd="0" presId="urn:microsoft.com/office/officeart/2005/8/layout/radial5"/>
    <dgm:cxn modelId="{20BFA501-711E-4F27-810E-46EE201540EE}" type="presParOf" srcId="{9A13A2BE-0699-44E4-9082-90DEA8B01CC0}" destId="{054F3A71-8A98-4BDB-A6A1-E4E7A482E19F}" srcOrd="0" destOrd="0" presId="urn:microsoft.com/office/officeart/2005/8/layout/radial5"/>
    <dgm:cxn modelId="{5486C6CE-C89A-4065-BA74-04BA8DED6D53}" type="presParOf" srcId="{1650A6E6-5322-458F-B1A0-89376DFFC68A}" destId="{956AABA1-F3A7-4455-BE31-014BF52CF0C0}" srcOrd="4" destOrd="0" presId="urn:microsoft.com/office/officeart/2005/8/layout/radial5"/>
    <dgm:cxn modelId="{45FC6032-5B8B-4848-9860-EAA4FD50D141}" type="presParOf" srcId="{1650A6E6-5322-458F-B1A0-89376DFFC68A}" destId="{C370E7B4-3A61-4F10-8EF2-BBF93E104AC1}" srcOrd="5" destOrd="0" presId="urn:microsoft.com/office/officeart/2005/8/layout/radial5"/>
    <dgm:cxn modelId="{E9A3AADE-ECA6-4370-BE60-8238DCCC26B0}" type="presParOf" srcId="{C370E7B4-3A61-4F10-8EF2-BBF93E104AC1}" destId="{C0A0E477-9796-4EED-98D2-541C3DC0FF0C}" srcOrd="0" destOrd="0" presId="urn:microsoft.com/office/officeart/2005/8/layout/radial5"/>
    <dgm:cxn modelId="{0A1E10FE-395A-4233-9686-6CEA3005382A}" type="presParOf" srcId="{1650A6E6-5322-458F-B1A0-89376DFFC68A}" destId="{43D34178-F677-49F5-9245-10FCA7B43479}" srcOrd="6" destOrd="0" presId="urn:microsoft.com/office/officeart/2005/8/layout/radial5"/>
    <dgm:cxn modelId="{BB13D323-4B01-4038-AA9E-3ABAF02F6BBF}" type="presParOf" srcId="{1650A6E6-5322-458F-B1A0-89376DFFC68A}" destId="{EA205975-FF2D-4E38-93B4-B3A3D027F686}" srcOrd="7" destOrd="0" presId="urn:microsoft.com/office/officeart/2005/8/layout/radial5"/>
    <dgm:cxn modelId="{3B008A0C-FFE3-4612-8082-EA6EFCD42699}" type="presParOf" srcId="{EA205975-FF2D-4E38-93B4-B3A3D027F686}" destId="{8CDD9AF0-A2FD-4EF7-8DB9-3F9E9276E98D}" srcOrd="0" destOrd="0" presId="urn:microsoft.com/office/officeart/2005/8/layout/radial5"/>
    <dgm:cxn modelId="{CC879C7B-AFDC-4CD2-A16C-028C306D8B17}" type="presParOf" srcId="{1650A6E6-5322-458F-B1A0-89376DFFC68A}" destId="{5113F547-7B28-46DC-B726-E109338C98EA}" srcOrd="8" destOrd="0" presId="urn:microsoft.com/office/officeart/2005/8/layout/radial5"/>
    <dgm:cxn modelId="{F5CEEF61-2DEA-49DF-96A6-2D7AC935EBB3}" type="presParOf" srcId="{1650A6E6-5322-458F-B1A0-89376DFFC68A}" destId="{B086A5B3-CC99-43EE-85BD-D5B0AA7AC518}" srcOrd="9" destOrd="0" presId="urn:microsoft.com/office/officeart/2005/8/layout/radial5"/>
    <dgm:cxn modelId="{71C4F9E2-E199-4D5C-892F-233F4361FEC4}" type="presParOf" srcId="{B086A5B3-CC99-43EE-85BD-D5B0AA7AC518}" destId="{BE808E7B-B16B-4758-9A57-546ECB1AD8C5}" srcOrd="0" destOrd="0" presId="urn:microsoft.com/office/officeart/2005/8/layout/radial5"/>
    <dgm:cxn modelId="{21176F67-F671-4EE2-8C69-D09C4FA2B2E5}" type="presParOf" srcId="{1650A6E6-5322-458F-B1A0-89376DFFC68A}" destId="{8B4CF656-D66D-4BF7-A7EF-58B4E1846F8B}" srcOrd="10" destOrd="0" presId="urn:microsoft.com/office/officeart/2005/8/layout/radial5"/>
    <dgm:cxn modelId="{F65518CB-EA3C-43B5-865C-93D41BF4C7A1}" type="presParOf" srcId="{1650A6E6-5322-458F-B1A0-89376DFFC68A}" destId="{748E4BF6-5A58-4670-903B-DC2742805911}" srcOrd="11" destOrd="0" presId="urn:microsoft.com/office/officeart/2005/8/layout/radial5"/>
    <dgm:cxn modelId="{3AB73395-B7EF-4485-B063-B4BB25D477F2}" type="presParOf" srcId="{748E4BF6-5A58-4670-903B-DC2742805911}" destId="{DE5286F1-FE9C-4BA5-A7F1-4656F88D3205}" srcOrd="0" destOrd="0" presId="urn:microsoft.com/office/officeart/2005/8/layout/radial5"/>
    <dgm:cxn modelId="{8D2E994A-AF98-4A8C-BAA5-53CC4524C51A}" type="presParOf" srcId="{1650A6E6-5322-458F-B1A0-89376DFFC68A}" destId="{4BD3D332-29B3-4654-A407-32724D1C25AE}" srcOrd="12" destOrd="0" presId="urn:microsoft.com/office/officeart/2005/8/layout/radial5"/>
    <dgm:cxn modelId="{D17B1DD9-69BD-4106-8072-7C531D895561}" type="presParOf" srcId="{1650A6E6-5322-458F-B1A0-89376DFFC68A}" destId="{61ADD3A3-B8A3-471A-9713-3864C8DC73F8}" srcOrd="13" destOrd="0" presId="urn:microsoft.com/office/officeart/2005/8/layout/radial5"/>
    <dgm:cxn modelId="{8D58A3CC-5C3D-4A65-BEBF-42436211906C}" type="presParOf" srcId="{61ADD3A3-B8A3-471A-9713-3864C8DC73F8}" destId="{0DEAF3D9-1682-46AD-BE40-951B286FF565}" srcOrd="0" destOrd="0" presId="urn:microsoft.com/office/officeart/2005/8/layout/radial5"/>
    <dgm:cxn modelId="{E25B43AB-C9AF-4E67-ADAD-0178966C0F79}" type="presParOf" srcId="{1650A6E6-5322-458F-B1A0-89376DFFC68A}" destId="{910DCB4A-06E9-45F5-802D-5E057BA78845}" srcOrd="14" destOrd="0" presId="urn:microsoft.com/office/officeart/2005/8/layout/radial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4E92524-8EDE-4B65-A120-DCDD860226C6}" type="doc">
      <dgm:prSet loTypeId="urn:microsoft.com/office/officeart/2005/8/layout/radial5" loCatId="relationship" qsTypeId="urn:microsoft.com/office/officeart/2005/8/quickstyle/simple1" qsCatId="simple" csTypeId="urn:microsoft.com/office/officeart/2005/8/colors/accent1_2" csCatId="accent1" phldr="1"/>
      <dgm:spPr/>
      <dgm:t>
        <a:bodyPr/>
        <a:lstStyle/>
        <a:p>
          <a:endParaRPr lang="en-US"/>
        </a:p>
      </dgm:t>
    </dgm:pt>
    <dgm:pt modelId="{523CE3FB-E0B8-455F-AC93-300F6494289C}">
      <dgm:prSet phldrT="[Text]" custT="1"/>
      <dgm:spPr/>
      <dgm:t>
        <a:bodyPr/>
        <a:lstStyle/>
        <a:p>
          <a:r>
            <a:rPr lang="en-US" sz="2400" dirty="0">
              <a:latin typeface="Comic Sans MS" panose="030F0702030302020204" pitchFamily="66" charset="0"/>
            </a:rPr>
            <a:t>Targeting Strategies</a:t>
          </a:r>
        </a:p>
      </dgm:t>
    </dgm:pt>
    <dgm:pt modelId="{9A47AF6E-6FA3-49B9-AFC7-4769CCAA0048}" type="parTrans" cxnId="{A8A0B14B-2451-4EAF-BC2A-3A6D45AA3A06}">
      <dgm:prSet/>
      <dgm:spPr/>
      <dgm:t>
        <a:bodyPr/>
        <a:lstStyle/>
        <a:p>
          <a:endParaRPr lang="en-US"/>
        </a:p>
      </dgm:t>
    </dgm:pt>
    <dgm:pt modelId="{02D775EE-191E-49B5-AE94-6BDE6E91B881}" type="sibTrans" cxnId="{A8A0B14B-2451-4EAF-BC2A-3A6D45AA3A06}">
      <dgm:prSet/>
      <dgm:spPr/>
      <dgm:t>
        <a:bodyPr/>
        <a:lstStyle/>
        <a:p>
          <a:endParaRPr lang="en-US"/>
        </a:p>
      </dgm:t>
    </dgm:pt>
    <dgm:pt modelId="{93D02802-403B-43C5-8F24-8045B04366A3}">
      <dgm:prSet phldrT="[Text]" custT="1"/>
      <dgm:spPr/>
      <dgm:t>
        <a:bodyPr/>
        <a:lstStyle/>
        <a:p>
          <a:r>
            <a:rPr lang="en-US" sz="1800" b="1" dirty="0">
              <a:latin typeface="Comic Sans MS" panose="030F0702030302020204" pitchFamily="66" charset="0"/>
            </a:rPr>
            <a:t>Mass Marketing</a:t>
          </a:r>
        </a:p>
        <a:p>
          <a:r>
            <a:rPr lang="en-US" sz="1800" b="1" dirty="0">
              <a:latin typeface="Comic Sans MS" panose="030F0702030302020204" pitchFamily="66" charset="0"/>
            </a:rPr>
            <a:t>(</a:t>
          </a:r>
          <a:r>
            <a:rPr lang="en-US" sz="1800" b="1" dirty="0" err="1">
              <a:latin typeface="Comic Sans MS" panose="030F0702030302020204" pitchFamily="66" charset="0"/>
            </a:rPr>
            <a:t>Undiferentiated</a:t>
          </a:r>
          <a:r>
            <a:rPr lang="en-US" sz="1600" dirty="0">
              <a:latin typeface="Comic Sans MS" panose="030F0702030302020204" pitchFamily="66" charset="0"/>
            </a:rPr>
            <a:t>)</a:t>
          </a:r>
        </a:p>
      </dgm:t>
    </dgm:pt>
    <dgm:pt modelId="{136BB7EF-6A1D-4B2B-A48D-5E5C897A8584}" type="parTrans" cxnId="{C44AF486-1D94-47C9-A502-D1EF47964C22}">
      <dgm:prSet/>
      <dgm:spPr/>
      <dgm:t>
        <a:bodyPr/>
        <a:lstStyle/>
        <a:p>
          <a:endParaRPr lang="en-US"/>
        </a:p>
      </dgm:t>
    </dgm:pt>
    <dgm:pt modelId="{4947CDF0-CC41-4942-9D7D-EA8C5CE1A8A8}" type="sibTrans" cxnId="{C44AF486-1D94-47C9-A502-D1EF47964C22}">
      <dgm:prSet/>
      <dgm:spPr/>
      <dgm:t>
        <a:bodyPr/>
        <a:lstStyle/>
        <a:p>
          <a:endParaRPr lang="en-US"/>
        </a:p>
      </dgm:t>
    </dgm:pt>
    <dgm:pt modelId="{097ACC26-B3B6-4F25-95BC-53364A8211AD}">
      <dgm:prSet phldrT="[Text]" custT="1"/>
      <dgm:spPr/>
      <dgm:t>
        <a:bodyPr/>
        <a:lstStyle/>
        <a:p>
          <a:r>
            <a:rPr lang="en-US" sz="2000" b="1" dirty="0" err="1">
              <a:latin typeface="Comic Sans MS" panose="030F0702030302020204" pitchFamily="66" charset="0"/>
            </a:rPr>
            <a:t>Diferentiated</a:t>
          </a:r>
          <a:r>
            <a:rPr lang="en-US" sz="2000" b="1" dirty="0">
              <a:latin typeface="Comic Sans MS" panose="030F0702030302020204" pitchFamily="66" charset="0"/>
            </a:rPr>
            <a:t> Marketing </a:t>
          </a:r>
        </a:p>
      </dgm:t>
    </dgm:pt>
    <dgm:pt modelId="{A26783F8-60B7-4D10-B29E-4468111CCA3D}" type="parTrans" cxnId="{8E78429E-08C5-41C6-B5CD-28CB367C33ED}">
      <dgm:prSet/>
      <dgm:spPr/>
      <dgm:t>
        <a:bodyPr/>
        <a:lstStyle/>
        <a:p>
          <a:endParaRPr lang="en-US"/>
        </a:p>
      </dgm:t>
    </dgm:pt>
    <dgm:pt modelId="{F8C1987F-D4F3-4421-9D8A-AC6AE59D0132}" type="sibTrans" cxnId="{8E78429E-08C5-41C6-B5CD-28CB367C33ED}">
      <dgm:prSet/>
      <dgm:spPr/>
      <dgm:t>
        <a:bodyPr/>
        <a:lstStyle/>
        <a:p>
          <a:endParaRPr lang="en-US"/>
        </a:p>
      </dgm:t>
    </dgm:pt>
    <dgm:pt modelId="{6CB919DE-F5D2-4E99-9220-236A9CF9BBB9}">
      <dgm:prSet phldrT="[Text]" custT="1"/>
      <dgm:spPr/>
      <dgm:t>
        <a:bodyPr/>
        <a:lstStyle/>
        <a:p>
          <a:r>
            <a:rPr lang="en-US" sz="2400" b="1" dirty="0">
              <a:latin typeface="Comic Sans MS" panose="030F0702030302020204" pitchFamily="66" charset="0"/>
            </a:rPr>
            <a:t>Niche Marketing</a:t>
          </a:r>
        </a:p>
      </dgm:t>
    </dgm:pt>
    <dgm:pt modelId="{B0ED9838-C9D0-40A0-81A9-2DD6C4B3B563}" type="parTrans" cxnId="{C0302B46-C33F-4AD6-92E9-3880EC79EDD2}">
      <dgm:prSet/>
      <dgm:spPr/>
      <dgm:t>
        <a:bodyPr/>
        <a:lstStyle/>
        <a:p>
          <a:endParaRPr lang="en-US"/>
        </a:p>
      </dgm:t>
    </dgm:pt>
    <dgm:pt modelId="{EE96F165-5800-4A78-BF8B-8BD94AC63AA9}" type="sibTrans" cxnId="{C0302B46-C33F-4AD6-92E9-3880EC79EDD2}">
      <dgm:prSet/>
      <dgm:spPr/>
      <dgm:t>
        <a:bodyPr/>
        <a:lstStyle/>
        <a:p>
          <a:endParaRPr lang="en-US"/>
        </a:p>
      </dgm:t>
    </dgm:pt>
    <dgm:pt modelId="{386DA14D-FD27-4E6A-80EE-D06437AF863D}">
      <dgm:prSet phldrT="[Text]"/>
      <dgm:spPr/>
      <dgm:t>
        <a:bodyPr/>
        <a:lstStyle/>
        <a:p>
          <a:r>
            <a:rPr lang="en-US" dirty="0">
              <a:latin typeface="Comic Sans MS" panose="030F0702030302020204" pitchFamily="66" charset="0"/>
            </a:rPr>
            <a:t>Micro</a:t>
          </a:r>
        </a:p>
        <a:p>
          <a:r>
            <a:rPr lang="en-US" dirty="0">
              <a:latin typeface="Comic Sans MS" panose="030F0702030302020204" pitchFamily="66" charset="0"/>
            </a:rPr>
            <a:t>Marketing</a:t>
          </a:r>
        </a:p>
      </dgm:t>
    </dgm:pt>
    <dgm:pt modelId="{017709B9-EF7F-48D1-98CB-4F95A619B12C}" type="parTrans" cxnId="{A001F770-7216-4AF8-BFFE-0665E04A96A5}">
      <dgm:prSet/>
      <dgm:spPr/>
      <dgm:t>
        <a:bodyPr/>
        <a:lstStyle/>
        <a:p>
          <a:endParaRPr lang="en-US"/>
        </a:p>
      </dgm:t>
    </dgm:pt>
    <dgm:pt modelId="{EF4CD406-FD5D-4C36-BAA3-79D23DD9FD79}" type="sibTrans" cxnId="{A001F770-7216-4AF8-BFFE-0665E04A96A5}">
      <dgm:prSet/>
      <dgm:spPr/>
      <dgm:t>
        <a:bodyPr/>
        <a:lstStyle/>
        <a:p>
          <a:endParaRPr lang="en-US"/>
        </a:p>
      </dgm:t>
    </dgm:pt>
    <dgm:pt modelId="{5AC81A0C-27D8-495F-8AAD-B8FC29BD369E}" type="pres">
      <dgm:prSet presAssocID="{54E92524-8EDE-4B65-A120-DCDD860226C6}" presName="Name0" presStyleCnt="0">
        <dgm:presLayoutVars>
          <dgm:chMax val="1"/>
          <dgm:dir/>
          <dgm:animLvl val="ctr"/>
          <dgm:resizeHandles val="exact"/>
        </dgm:presLayoutVars>
      </dgm:prSet>
      <dgm:spPr/>
    </dgm:pt>
    <dgm:pt modelId="{489B5ABA-3190-4784-96DE-698676FF7F88}" type="pres">
      <dgm:prSet presAssocID="{523CE3FB-E0B8-455F-AC93-300F6494289C}" presName="centerShape" presStyleLbl="node0" presStyleIdx="0" presStyleCnt="1" custScaleX="179718" custScaleY="111558" custLinFactNeighborY="-138"/>
      <dgm:spPr/>
    </dgm:pt>
    <dgm:pt modelId="{E4A540BA-B920-46ED-90DA-C0353C6D8E15}" type="pres">
      <dgm:prSet presAssocID="{136BB7EF-6A1D-4B2B-A48D-5E5C897A8584}" presName="parTrans" presStyleLbl="sibTrans2D1" presStyleIdx="0" presStyleCnt="4"/>
      <dgm:spPr/>
    </dgm:pt>
    <dgm:pt modelId="{388863DC-C11B-49F8-8E54-DB16A2AE31CF}" type="pres">
      <dgm:prSet presAssocID="{136BB7EF-6A1D-4B2B-A48D-5E5C897A8584}" presName="connectorText" presStyleLbl="sibTrans2D1" presStyleIdx="0" presStyleCnt="4"/>
      <dgm:spPr/>
    </dgm:pt>
    <dgm:pt modelId="{7EDB4CE9-BF4A-4A96-9EA6-D961A5FAE922}" type="pres">
      <dgm:prSet presAssocID="{93D02802-403B-43C5-8F24-8045B04366A3}" presName="node" presStyleLbl="node1" presStyleIdx="0" presStyleCnt="4" custScaleX="229614" custScaleY="87696" custRadScaleRad="80966" custRadScaleInc="-3324">
        <dgm:presLayoutVars>
          <dgm:bulletEnabled val="1"/>
        </dgm:presLayoutVars>
      </dgm:prSet>
      <dgm:spPr/>
    </dgm:pt>
    <dgm:pt modelId="{CA632BD0-44B3-4262-9F15-2BB4CBC6B6B6}" type="pres">
      <dgm:prSet presAssocID="{A26783F8-60B7-4D10-B29E-4468111CCA3D}" presName="parTrans" presStyleLbl="sibTrans2D1" presStyleIdx="1" presStyleCnt="4"/>
      <dgm:spPr/>
    </dgm:pt>
    <dgm:pt modelId="{F7074237-D5E0-496D-9892-5B4C8708C2CE}" type="pres">
      <dgm:prSet presAssocID="{A26783F8-60B7-4D10-B29E-4468111CCA3D}" presName="connectorText" presStyleLbl="sibTrans2D1" presStyleIdx="1" presStyleCnt="4"/>
      <dgm:spPr/>
    </dgm:pt>
    <dgm:pt modelId="{8B2BB591-EA00-4BE8-AB60-488D54488EC1}" type="pres">
      <dgm:prSet presAssocID="{097ACC26-B3B6-4F25-95BC-53364A8211AD}" presName="node" presStyleLbl="node1" presStyleIdx="1" presStyleCnt="4" custScaleX="203558" custRadScaleRad="137914" custRadScaleInc="-2404">
        <dgm:presLayoutVars>
          <dgm:bulletEnabled val="1"/>
        </dgm:presLayoutVars>
      </dgm:prSet>
      <dgm:spPr/>
    </dgm:pt>
    <dgm:pt modelId="{28FBA577-2534-4652-A03F-42353BA68673}" type="pres">
      <dgm:prSet presAssocID="{B0ED9838-C9D0-40A0-81A9-2DD6C4B3B563}" presName="parTrans" presStyleLbl="sibTrans2D1" presStyleIdx="2" presStyleCnt="4"/>
      <dgm:spPr/>
    </dgm:pt>
    <dgm:pt modelId="{62E3233E-0B28-4616-B438-49D766DB9C84}" type="pres">
      <dgm:prSet presAssocID="{B0ED9838-C9D0-40A0-81A9-2DD6C4B3B563}" presName="connectorText" presStyleLbl="sibTrans2D1" presStyleIdx="2" presStyleCnt="4"/>
      <dgm:spPr/>
    </dgm:pt>
    <dgm:pt modelId="{6D81B951-8170-45C4-BD8C-85CE4E23E377}" type="pres">
      <dgm:prSet presAssocID="{6CB919DE-F5D2-4E99-9220-236A9CF9BBB9}" presName="node" presStyleLbl="node1" presStyleIdx="2" presStyleCnt="4" custScaleX="202784" custRadScaleRad="87326" custRadScaleInc="-1541">
        <dgm:presLayoutVars>
          <dgm:bulletEnabled val="1"/>
        </dgm:presLayoutVars>
      </dgm:prSet>
      <dgm:spPr/>
    </dgm:pt>
    <dgm:pt modelId="{62A52A90-81C7-4818-A633-4F0C71F37104}" type="pres">
      <dgm:prSet presAssocID="{017709B9-EF7F-48D1-98CB-4F95A619B12C}" presName="parTrans" presStyleLbl="sibTrans2D1" presStyleIdx="3" presStyleCnt="4"/>
      <dgm:spPr/>
    </dgm:pt>
    <dgm:pt modelId="{C28EBC4D-1DDF-481C-8422-E76667AE49CE}" type="pres">
      <dgm:prSet presAssocID="{017709B9-EF7F-48D1-98CB-4F95A619B12C}" presName="connectorText" presStyleLbl="sibTrans2D1" presStyleIdx="3" presStyleCnt="4"/>
      <dgm:spPr/>
    </dgm:pt>
    <dgm:pt modelId="{0D4F09BB-DC42-44CD-A41B-1F32B799CAC6}" type="pres">
      <dgm:prSet presAssocID="{386DA14D-FD27-4E6A-80EE-D06437AF863D}" presName="node" presStyleLbl="node1" presStyleIdx="3" presStyleCnt="4" custScaleX="185094" custRadScaleRad="133503" custRadScaleInc="2484">
        <dgm:presLayoutVars>
          <dgm:bulletEnabled val="1"/>
        </dgm:presLayoutVars>
      </dgm:prSet>
      <dgm:spPr/>
    </dgm:pt>
  </dgm:ptLst>
  <dgm:cxnLst>
    <dgm:cxn modelId="{EA7BD80A-F9A9-4DE7-BF24-35101CF9998F}" type="presOf" srcId="{A26783F8-60B7-4D10-B29E-4468111CCA3D}" destId="{F7074237-D5E0-496D-9892-5B4C8708C2CE}" srcOrd="1" destOrd="0" presId="urn:microsoft.com/office/officeart/2005/8/layout/radial5"/>
    <dgm:cxn modelId="{BA88E80A-60E7-41EE-ADE7-F6DC49C8EB83}" type="presOf" srcId="{386DA14D-FD27-4E6A-80EE-D06437AF863D}" destId="{0D4F09BB-DC42-44CD-A41B-1F32B799CAC6}" srcOrd="0" destOrd="0" presId="urn:microsoft.com/office/officeart/2005/8/layout/radial5"/>
    <dgm:cxn modelId="{42342F0D-38FA-44C2-9A19-57F787DD59B4}" type="presOf" srcId="{B0ED9838-C9D0-40A0-81A9-2DD6C4B3B563}" destId="{62E3233E-0B28-4616-B438-49D766DB9C84}" srcOrd="1" destOrd="0" presId="urn:microsoft.com/office/officeart/2005/8/layout/radial5"/>
    <dgm:cxn modelId="{871F3631-54F5-420E-A03C-CF877E076FEF}" type="presOf" srcId="{017709B9-EF7F-48D1-98CB-4F95A619B12C}" destId="{C28EBC4D-1DDF-481C-8422-E76667AE49CE}" srcOrd="1" destOrd="0" presId="urn:microsoft.com/office/officeart/2005/8/layout/radial5"/>
    <dgm:cxn modelId="{D7F47939-82BB-4847-8B81-E9F76524C645}" type="presOf" srcId="{A26783F8-60B7-4D10-B29E-4468111CCA3D}" destId="{CA632BD0-44B3-4262-9F15-2BB4CBC6B6B6}" srcOrd="0" destOrd="0" presId="urn:microsoft.com/office/officeart/2005/8/layout/radial5"/>
    <dgm:cxn modelId="{02B4D142-8EC8-45E3-9BCB-5FCDEB77A1AA}" type="presOf" srcId="{136BB7EF-6A1D-4B2B-A48D-5E5C897A8584}" destId="{E4A540BA-B920-46ED-90DA-C0353C6D8E15}" srcOrd="0" destOrd="0" presId="urn:microsoft.com/office/officeart/2005/8/layout/radial5"/>
    <dgm:cxn modelId="{C0302B46-C33F-4AD6-92E9-3880EC79EDD2}" srcId="{523CE3FB-E0B8-455F-AC93-300F6494289C}" destId="{6CB919DE-F5D2-4E99-9220-236A9CF9BBB9}" srcOrd="2" destOrd="0" parTransId="{B0ED9838-C9D0-40A0-81A9-2DD6C4B3B563}" sibTransId="{EE96F165-5800-4A78-BF8B-8BD94AC63AA9}"/>
    <dgm:cxn modelId="{A8A0B14B-2451-4EAF-BC2A-3A6D45AA3A06}" srcId="{54E92524-8EDE-4B65-A120-DCDD860226C6}" destId="{523CE3FB-E0B8-455F-AC93-300F6494289C}" srcOrd="0" destOrd="0" parTransId="{9A47AF6E-6FA3-49B9-AFC7-4769CCAA0048}" sibTransId="{02D775EE-191E-49B5-AE94-6BDE6E91B881}"/>
    <dgm:cxn modelId="{A001F770-7216-4AF8-BFFE-0665E04A96A5}" srcId="{523CE3FB-E0B8-455F-AC93-300F6494289C}" destId="{386DA14D-FD27-4E6A-80EE-D06437AF863D}" srcOrd="3" destOrd="0" parTransId="{017709B9-EF7F-48D1-98CB-4F95A619B12C}" sibTransId="{EF4CD406-FD5D-4C36-BAA3-79D23DD9FD79}"/>
    <dgm:cxn modelId="{FC1A9C72-BF57-437D-96AD-EDF987CA3EF6}" type="presOf" srcId="{54E92524-8EDE-4B65-A120-DCDD860226C6}" destId="{5AC81A0C-27D8-495F-8AAD-B8FC29BD369E}" srcOrd="0" destOrd="0" presId="urn:microsoft.com/office/officeart/2005/8/layout/radial5"/>
    <dgm:cxn modelId="{BF442156-8B44-416E-9575-316E0542632E}" type="presOf" srcId="{136BB7EF-6A1D-4B2B-A48D-5E5C897A8584}" destId="{388863DC-C11B-49F8-8E54-DB16A2AE31CF}" srcOrd="1" destOrd="0" presId="urn:microsoft.com/office/officeart/2005/8/layout/radial5"/>
    <dgm:cxn modelId="{C44AF486-1D94-47C9-A502-D1EF47964C22}" srcId="{523CE3FB-E0B8-455F-AC93-300F6494289C}" destId="{93D02802-403B-43C5-8F24-8045B04366A3}" srcOrd="0" destOrd="0" parTransId="{136BB7EF-6A1D-4B2B-A48D-5E5C897A8584}" sibTransId="{4947CDF0-CC41-4942-9D7D-EA8C5CE1A8A8}"/>
    <dgm:cxn modelId="{B12F8396-D174-4110-883A-F687FEB76F36}" type="presOf" srcId="{B0ED9838-C9D0-40A0-81A9-2DD6C4B3B563}" destId="{28FBA577-2534-4652-A03F-42353BA68673}" srcOrd="0" destOrd="0" presId="urn:microsoft.com/office/officeart/2005/8/layout/radial5"/>
    <dgm:cxn modelId="{FFC27C9A-1B1A-46E7-9F71-125322626D57}" type="presOf" srcId="{097ACC26-B3B6-4F25-95BC-53364A8211AD}" destId="{8B2BB591-EA00-4BE8-AB60-488D54488EC1}" srcOrd="0" destOrd="0" presId="urn:microsoft.com/office/officeart/2005/8/layout/radial5"/>
    <dgm:cxn modelId="{8E78429E-08C5-41C6-B5CD-28CB367C33ED}" srcId="{523CE3FB-E0B8-455F-AC93-300F6494289C}" destId="{097ACC26-B3B6-4F25-95BC-53364A8211AD}" srcOrd="1" destOrd="0" parTransId="{A26783F8-60B7-4D10-B29E-4468111CCA3D}" sibTransId="{F8C1987F-D4F3-4421-9D8A-AC6AE59D0132}"/>
    <dgm:cxn modelId="{24427F9E-6D60-4714-AC4D-AAAC4091F5F9}" type="presOf" srcId="{6CB919DE-F5D2-4E99-9220-236A9CF9BBB9}" destId="{6D81B951-8170-45C4-BD8C-85CE4E23E377}" srcOrd="0" destOrd="0" presId="urn:microsoft.com/office/officeart/2005/8/layout/radial5"/>
    <dgm:cxn modelId="{BF74FFAF-C12B-48EA-AEDC-DBC05F841067}" type="presOf" srcId="{523CE3FB-E0B8-455F-AC93-300F6494289C}" destId="{489B5ABA-3190-4784-96DE-698676FF7F88}" srcOrd="0" destOrd="0" presId="urn:microsoft.com/office/officeart/2005/8/layout/radial5"/>
    <dgm:cxn modelId="{9CDBABB2-B666-4C69-8AEB-C709BB150DD0}" type="presOf" srcId="{93D02802-403B-43C5-8F24-8045B04366A3}" destId="{7EDB4CE9-BF4A-4A96-9EA6-D961A5FAE922}" srcOrd="0" destOrd="0" presId="urn:microsoft.com/office/officeart/2005/8/layout/radial5"/>
    <dgm:cxn modelId="{ADB830FA-FACC-4FAA-86D9-F09224B31215}" type="presOf" srcId="{017709B9-EF7F-48D1-98CB-4F95A619B12C}" destId="{62A52A90-81C7-4818-A633-4F0C71F37104}" srcOrd="0" destOrd="0" presId="urn:microsoft.com/office/officeart/2005/8/layout/radial5"/>
    <dgm:cxn modelId="{0CC86CBA-2C15-4662-A208-BC8DC00C9654}" type="presParOf" srcId="{5AC81A0C-27D8-495F-8AAD-B8FC29BD369E}" destId="{489B5ABA-3190-4784-96DE-698676FF7F88}" srcOrd="0" destOrd="0" presId="urn:microsoft.com/office/officeart/2005/8/layout/radial5"/>
    <dgm:cxn modelId="{77DBD651-0AFF-4A87-BA4E-0508D1324870}" type="presParOf" srcId="{5AC81A0C-27D8-495F-8AAD-B8FC29BD369E}" destId="{E4A540BA-B920-46ED-90DA-C0353C6D8E15}" srcOrd="1" destOrd="0" presId="urn:microsoft.com/office/officeart/2005/8/layout/radial5"/>
    <dgm:cxn modelId="{91AA933C-6EB6-4D33-B74F-BF565313293B}" type="presParOf" srcId="{E4A540BA-B920-46ED-90DA-C0353C6D8E15}" destId="{388863DC-C11B-49F8-8E54-DB16A2AE31CF}" srcOrd="0" destOrd="0" presId="urn:microsoft.com/office/officeart/2005/8/layout/radial5"/>
    <dgm:cxn modelId="{1A497EB6-495D-4FE4-BF71-523E4A564E18}" type="presParOf" srcId="{5AC81A0C-27D8-495F-8AAD-B8FC29BD369E}" destId="{7EDB4CE9-BF4A-4A96-9EA6-D961A5FAE922}" srcOrd="2" destOrd="0" presId="urn:microsoft.com/office/officeart/2005/8/layout/radial5"/>
    <dgm:cxn modelId="{F8904F73-3B04-472A-B946-BC4AD03E9A5D}" type="presParOf" srcId="{5AC81A0C-27D8-495F-8AAD-B8FC29BD369E}" destId="{CA632BD0-44B3-4262-9F15-2BB4CBC6B6B6}" srcOrd="3" destOrd="0" presId="urn:microsoft.com/office/officeart/2005/8/layout/radial5"/>
    <dgm:cxn modelId="{9C38AC25-D269-4E9B-96C3-735577197AEB}" type="presParOf" srcId="{CA632BD0-44B3-4262-9F15-2BB4CBC6B6B6}" destId="{F7074237-D5E0-496D-9892-5B4C8708C2CE}" srcOrd="0" destOrd="0" presId="urn:microsoft.com/office/officeart/2005/8/layout/radial5"/>
    <dgm:cxn modelId="{A4C41761-C74F-4EFA-965E-287F6D791469}" type="presParOf" srcId="{5AC81A0C-27D8-495F-8AAD-B8FC29BD369E}" destId="{8B2BB591-EA00-4BE8-AB60-488D54488EC1}" srcOrd="4" destOrd="0" presId="urn:microsoft.com/office/officeart/2005/8/layout/radial5"/>
    <dgm:cxn modelId="{8D332E26-FAED-4EE9-ABBD-00768F8597EF}" type="presParOf" srcId="{5AC81A0C-27D8-495F-8AAD-B8FC29BD369E}" destId="{28FBA577-2534-4652-A03F-42353BA68673}" srcOrd="5" destOrd="0" presId="urn:microsoft.com/office/officeart/2005/8/layout/radial5"/>
    <dgm:cxn modelId="{747A1048-BED2-45C2-903B-6C1FCF8AEFC9}" type="presParOf" srcId="{28FBA577-2534-4652-A03F-42353BA68673}" destId="{62E3233E-0B28-4616-B438-49D766DB9C84}" srcOrd="0" destOrd="0" presId="urn:microsoft.com/office/officeart/2005/8/layout/radial5"/>
    <dgm:cxn modelId="{A7A3EF2F-4356-4EE6-9E5A-A2EBA9869235}" type="presParOf" srcId="{5AC81A0C-27D8-495F-8AAD-B8FC29BD369E}" destId="{6D81B951-8170-45C4-BD8C-85CE4E23E377}" srcOrd="6" destOrd="0" presId="urn:microsoft.com/office/officeart/2005/8/layout/radial5"/>
    <dgm:cxn modelId="{01D9DE74-C2DE-4E0F-A32E-0311EE77EE34}" type="presParOf" srcId="{5AC81A0C-27D8-495F-8AAD-B8FC29BD369E}" destId="{62A52A90-81C7-4818-A633-4F0C71F37104}" srcOrd="7" destOrd="0" presId="urn:microsoft.com/office/officeart/2005/8/layout/radial5"/>
    <dgm:cxn modelId="{D37EC948-53E0-448E-B076-96F42A47C36D}" type="presParOf" srcId="{62A52A90-81C7-4818-A633-4F0C71F37104}" destId="{C28EBC4D-1DDF-481C-8422-E76667AE49CE}" srcOrd="0" destOrd="0" presId="urn:microsoft.com/office/officeart/2005/8/layout/radial5"/>
    <dgm:cxn modelId="{ABDB79F6-658A-4127-AEEE-B4C830133550}" type="presParOf" srcId="{5AC81A0C-27D8-495F-8AAD-B8FC29BD369E}" destId="{0D4F09BB-DC42-44CD-A41B-1F32B799CAC6}" srcOrd="8" destOrd="0" presId="urn:microsoft.com/office/officeart/2005/8/layout/radial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B559B74-62B0-4356-A8A8-C69BAAC6BB51}" type="doc">
      <dgm:prSet loTypeId="urn:microsoft.com/office/officeart/2005/8/layout/radial3" loCatId="relationship" qsTypeId="urn:microsoft.com/office/officeart/2005/8/quickstyle/simple1" qsCatId="simple" csTypeId="urn:microsoft.com/office/officeart/2005/8/colors/accent1_2" csCatId="accent1" phldr="1"/>
      <dgm:spPr/>
      <dgm:t>
        <a:bodyPr/>
        <a:lstStyle/>
        <a:p>
          <a:endParaRPr lang="en-US"/>
        </a:p>
      </dgm:t>
    </dgm:pt>
    <dgm:pt modelId="{7EE1AD3F-EC28-48CC-8897-3459FECB144E}">
      <dgm:prSet phldrT="[Text]"/>
      <dgm:spPr/>
      <dgm:t>
        <a:bodyPr/>
        <a:lstStyle/>
        <a:p>
          <a:r>
            <a:rPr lang="en-US" dirty="0">
              <a:solidFill>
                <a:schemeClr val="bg1"/>
              </a:solidFill>
            </a:rPr>
            <a:t>7Ps</a:t>
          </a:r>
        </a:p>
      </dgm:t>
    </dgm:pt>
    <dgm:pt modelId="{B50A29B7-02B5-42A1-A03A-A98089BA4208}" type="parTrans" cxnId="{719E3E30-E8CA-49EB-9D82-40565B92B043}">
      <dgm:prSet/>
      <dgm:spPr/>
      <dgm:t>
        <a:bodyPr/>
        <a:lstStyle/>
        <a:p>
          <a:endParaRPr lang="en-US"/>
        </a:p>
      </dgm:t>
    </dgm:pt>
    <dgm:pt modelId="{17FCA62E-C354-4BC1-92BF-923B46836E7C}" type="sibTrans" cxnId="{719E3E30-E8CA-49EB-9D82-40565B92B043}">
      <dgm:prSet/>
      <dgm:spPr/>
      <dgm:t>
        <a:bodyPr/>
        <a:lstStyle/>
        <a:p>
          <a:endParaRPr lang="en-US"/>
        </a:p>
      </dgm:t>
    </dgm:pt>
    <dgm:pt modelId="{A5E4DB9C-E248-47FA-9AAE-50F82C451B00}">
      <dgm:prSet phldrT="[Text]" custT="1"/>
      <dgm:spPr/>
      <dgm:t>
        <a:bodyPr/>
        <a:lstStyle/>
        <a:p>
          <a:r>
            <a:rPr lang="en-US" sz="1400" b="1" dirty="0">
              <a:solidFill>
                <a:schemeClr val="bg1"/>
              </a:solidFill>
            </a:rPr>
            <a:t>Product</a:t>
          </a:r>
        </a:p>
        <a:p>
          <a:r>
            <a:rPr lang="en-US" sz="1400" dirty="0">
              <a:solidFill>
                <a:schemeClr val="bg1"/>
              </a:solidFill>
            </a:rPr>
            <a:t>Design </a:t>
          </a:r>
        </a:p>
        <a:p>
          <a:r>
            <a:rPr lang="en-US" sz="1400" dirty="0">
              <a:solidFill>
                <a:schemeClr val="bg1"/>
              </a:solidFill>
            </a:rPr>
            <a:t>Usefulness </a:t>
          </a:r>
        </a:p>
        <a:p>
          <a:r>
            <a:rPr lang="en-US" sz="1400" dirty="0" err="1">
              <a:solidFill>
                <a:schemeClr val="bg1"/>
              </a:solidFill>
            </a:rPr>
            <a:t>Convinience</a:t>
          </a:r>
          <a:r>
            <a:rPr lang="en-US" sz="1400" dirty="0">
              <a:solidFill>
                <a:schemeClr val="bg1"/>
              </a:solidFill>
            </a:rPr>
            <a:t> </a:t>
          </a:r>
        </a:p>
        <a:p>
          <a:r>
            <a:rPr lang="en-US" sz="1400" dirty="0">
              <a:solidFill>
                <a:schemeClr val="bg1"/>
              </a:solidFill>
            </a:rPr>
            <a:t>Quality </a:t>
          </a:r>
        </a:p>
        <a:p>
          <a:r>
            <a:rPr lang="en-US" sz="1400" dirty="0">
              <a:solidFill>
                <a:schemeClr val="bg1"/>
              </a:solidFill>
            </a:rPr>
            <a:t>Packaging </a:t>
          </a:r>
        </a:p>
        <a:p>
          <a:r>
            <a:rPr lang="en-US" sz="1400" dirty="0">
              <a:solidFill>
                <a:schemeClr val="bg1"/>
              </a:solidFill>
            </a:rPr>
            <a:t>Branding </a:t>
          </a:r>
        </a:p>
        <a:p>
          <a:r>
            <a:rPr lang="en-US" sz="1400" dirty="0">
              <a:solidFill>
                <a:schemeClr val="bg1"/>
              </a:solidFill>
            </a:rPr>
            <a:t>Warranty</a:t>
          </a:r>
          <a:r>
            <a:rPr lang="en-US" sz="1100" dirty="0">
              <a:solidFill>
                <a:schemeClr val="bg1"/>
              </a:solidFill>
            </a:rPr>
            <a:t> </a:t>
          </a:r>
        </a:p>
        <a:p>
          <a:endParaRPr lang="en-US" sz="900" dirty="0"/>
        </a:p>
      </dgm:t>
    </dgm:pt>
    <dgm:pt modelId="{3BF6044A-C89F-410B-A6F4-D4885B806545}" type="parTrans" cxnId="{A0A5E98F-6269-4147-AE42-C0D7FF0ED629}">
      <dgm:prSet/>
      <dgm:spPr/>
      <dgm:t>
        <a:bodyPr/>
        <a:lstStyle/>
        <a:p>
          <a:endParaRPr lang="en-US"/>
        </a:p>
      </dgm:t>
    </dgm:pt>
    <dgm:pt modelId="{C437A5CD-0208-40D5-A193-A27EADB3CA6E}" type="sibTrans" cxnId="{A0A5E98F-6269-4147-AE42-C0D7FF0ED629}">
      <dgm:prSet/>
      <dgm:spPr/>
      <dgm:t>
        <a:bodyPr/>
        <a:lstStyle/>
        <a:p>
          <a:endParaRPr lang="en-US"/>
        </a:p>
      </dgm:t>
    </dgm:pt>
    <dgm:pt modelId="{C1995FFC-3920-4448-9A3A-14ED2C115EA1}">
      <dgm:prSet phldrT="[Text]" custT="1"/>
      <dgm:spPr/>
      <dgm:t>
        <a:bodyPr/>
        <a:lstStyle/>
        <a:p>
          <a:r>
            <a:rPr lang="en-US" sz="2800" b="1" dirty="0">
              <a:solidFill>
                <a:schemeClr val="bg1"/>
              </a:solidFill>
            </a:rPr>
            <a:t>Price</a:t>
          </a:r>
          <a:r>
            <a:rPr lang="en-US" sz="1200" dirty="0">
              <a:solidFill>
                <a:schemeClr val="bg1"/>
              </a:solidFill>
            </a:rPr>
            <a:t> </a:t>
          </a:r>
        </a:p>
        <a:p>
          <a:r>
            <a:rPr lang="en-US" sz="1200" dirty="0">
              <a:solidFill>
                <a:schemeClr val="bg1"/>
              </a:solidFill>
            </a:rPr>
            <a:t>Strategies </a:t>
          </a:r>
        </a:p>
        <a:p>
          <a:r>
            <a:rPr lang="en-US" sz="1200" dirty="0">
              <a:solidFill>
                <a:schemeClr val="bg1"/>
              </a:solidFill>
            </a:rPr>
            <a:t>Penetration </a:t>
          </a:r>
        </a:p>
        <a:p>
          <a:r>
            <a:rPr lang="en-US" sz="1200" dirty="0" err="1">
              <a:solidFill>
                <a:schemeClr val="bg1"/>
              </a:solidFill>
            </a:rPr>
            <a:t>Skimmiming</a:t>
          </a:r>
          <a:r>
            <a:rPr lang="en-US" sz="1200" dirty="0">
              <a:solidFill>
                <a:schemeClr val="bg1"/>
              </a:solidFill>
            </a:rPr>
            <a:t> </a:t>
          </a:r>
        </a:p>
        <a:p>
          <a:r>
            <a:rPr lang="en-US" sz="1200" dirty="0" err="1">
              <a:solidFill>
                <a:schemeClr val="bg1"/>
              </a:solidFill>
            </a:rPr>
            <a:t>Phsychograpical</a:t>
          </a:r>
          <a:r>
            <a:rPr lang="en-US" sz="1200" dirty="0">
              <a:solidFill>
                <a:schemeClr val="bg1"/>
              </a:solidFill>
            </a:rPr>
            <a:t> </a:t>
          </a:r>
        </a:p>
        <a:p>
          <a:r>
            <a:rPr lang="en-US" sz="1200" dirty="0">
              <a:solidFill>
                <a:schemeClr val="bg1"/>
              </a:solidFill>
            </a:rPr>
            <a:t>Cost plus </a:t>
          </a:r>
        </a:p>
        <a:p>
          <a:r>
            <a:rPr lang="en-US" sz="1200" dirty="0">
              <a:solidFill>
                <a:schemeClr val="bg1"/>
              </a:solidFill>
            </a:rPr>
            <a:t>Loss leader </a:t>
          </a:r>
          <a:endParaRPr lang="en-US" sz="900" dirty="0">
            <a:solidFill>
              <a:schemeClr val="bg1"/>
            </a:solidFill>
          </a:endParaRPr>
        </a:p>
      </dgm:t>
    </dgm:pt>
    <dgm:pt modelId="{6FCEFF36-B2A0-4608-85DE-42B3E6A927B7}" type="parTrans" cxnId="{63060F18-FC4C-43E6-90E8-1C42108A89C7}">
      <dgm:prSet/>
      <dgm:spPr/>
      <dgm:t>
        <a:bodyPr/>
        <a:lstStyle/>
        <a:p>
          <a:endParaRPr lang="en-US"/>
        </a:p>
      </dgm:t>
    </dgm:pt>
    <dgm:pt modelId="{DA1C01A4-1206-4975-A407-F9978182D611}" type="sibTrans" cxnId="{63060F18-FC4C-43E6-90E8-1C42108A89C7}">
      <dgm:prSet/>
      <dgm:spPr/>
      <dgm:t>
        <a:bodyPr/>
        <a:lstStyle/>
        <a:p>
          <a:endParaRPr lang="en-US"/>
        </a:p>
      </dgm:t>
    </dgm:pt>
    <dgm:pt modelId="{DF7348A7-9231-4F24-9055-82D37684BE4D}">
      <dgm:prSet phldrT="[Text]" custT="1"/>
      <dgm:spPr/>
      <dgm:t>
        <a:bodyPr/>
        <a:lstStyle/>
        <a:p>
          <a:r>
            <a:rPr lang="en-US" sz="1800" b="1" dirty="0">
              <a:solidFill>
                <a:schemeClr val="bg1"/>
              </a:solidFill>
            </a:rPr>
            <a:t>Place</a:t>
          </a:r>
        </a:p>
        <a:p>
          <a:r>
            <a:rPr lang="en-US" sz="1100" dirty="0">
              <a:solidFill>
                <a:schemeClr val="bg1"/>
              </a:solidFill>
            </a:rPr>
            <a:t>Retail </a:t>
          </a:r>
        </a:p>
        <a:p>
          <a:r>
            <a:rPr lang="en-US" sz="1100" dirty="0">
              <a:solidFill>
                <a:schemeClr val="bg1"/>
              </a:solidFill>
            </a:rPr>
            <a:t>Wholesale </a:t>
          </a:r>
        </a:p>
        <a:p>
          <a:r>
            <a:rPr lang="en-US" sz="1100" dirty="0">
              <a:solidFill>
                <a:schemeClr val="bg1"/>
              </a:solidFill>
            </a:rPr>
            <a:t>Mall order </a:t>
          </a:r>
        </a:p>
        <a:p>
          <a:r>
            <a:rPr lang="en-US" sz="1100" dirty="0" err="1">
              <a:solidFill>
                <a:schemeClr val="bg1"/>
              </a:solidFill>
            </a:rPr>
            <a:t>Intenet</a:t>
          </a:r>
          <a:r>
            <a:rPr lang="en-US" sz="1100" dirty="0">
              <a:solidFill>
                <a:schemeClr val="bg1"/>
              </a:solidFill>
            </a:rPr>
            <a:t> </a:t>
          </a:r>
        </a:p>
        <a:p>
          <a:r>
            <a:rPr lang="en-US" sz="1100" dirty="0">
              <a:solidFill>
                <a:schemeClr val="bg1"/>
              </a:solidFill>
            </a:rPr>
            <a:t>Direct sales </a:t>
          </a:r>
        </a:p>
        <a:p>
          <a:r>
            <a:rPr lang="en-US" sz="1100" dirty="0">
              <a:solidFill>
                <a:schemeClr val="bg1"/>
              </a:solidFill>
            </a:rPr>
            <a:t>Multi channel</a:t>
          </a:r>
          <a:r>
            <a:rPr lang="en-US" sz="1100" dirty="0"/>
            <a:t>s  </a:t>
          </a:r>
          <a:endParaRPr lang="en-US" sz="900" dirty="0"/>
        </a:p>
      </dgm:t>
    </dgm:pt>
    <dgm:pt modelId="{F15F911D-3B66-41CC-9901-DE8CF9B3BCE3}" type="parTrans" cxnId="{6215FD7F-8F78-4A7D-943A-3DE45FF81D5C}">
      <dgm:prSet/>
      <dgm:spPr/>
      <dgm:t>
        <a:bodyPr/>
        <a:lstStyle/>
        <a:p>
          <a:endParaRPr lang="en-US"/>
        </a:p>
      </dgm:t>
    </dgm:pt>
    <dgm:pt modelId="{551CCEFC-B6A8-4825-AD51-85FEAC998ECF}" type="sibTrans" cxnId="{6215FD7F-8F78-4A7D-943A-3DE45FF81D5C}">
      <dgm:prSet/>
      <dgm:spPr/>
      <dgm:t>
        <a:bodyPr/>
        <a:lstStyle/>
        <a:p>
          <a:endParaRPr lang="en-US"/>
        </a:p>
      </dgm:t>
    </dgm:pt>
    <dgm:pt modelId="{ECF360A5-6144-4067-BBB8-D7ED3260926F}">
      <dgm:prSet phldrT="[Text]" custT="1"/>
      <dgm:spPr/>
      <dgm:t>
        <a:bodyPr/>
        <a:lstStyle/>
        <a:p>
          <a:r>
            <a:rPr lang="en-US" sz="1200" b="1" dirty="0">
              <a:solidFill>
                <a:schemeClr val="bg1"/>
              </a:solidFill>
            </a:rPr>
            <a:t>Promotion </a:t>
          </a:r>
        </a:p>
        <a:p>
          <a:r>
            <a:rPr lang="en-US" sz="1200" dirty="0">
              <a:solidFill>
                <a:schemeClr val="bg1"/>
              </a:solidFill>
            </a:rPr>
            <a:t>Special offers </a:t>
          </a:r>
        </a:p>
        <a:p>
          <a:r>
            <a:rPr lang="en-US" sz="1200" dirty="0">
              <a:solidFill>
                <a:schemeClr val="bg1"/>
              </a:solidFill>
            </a:rPr>
            <a:t>Advertising </a:t>
          </a:r>
        </a:p>
        <a:p>
          <a:r>
            <a:rPr lang="en-US" sz="1200" dirty="0">
              <a:solidFill>
                <a:schemeClr val="bg1"/>
              </a:solidFill>
            </a:rPr>
            <a:t>Endorsement </a:t>
          </a:r>
        </a:p>
        <a:p>
          <a:r>
            <a:rPr lang="en-US" sz="1200" dirty="0">
              <a:solidFill>
                <a:schemeClr val="bg1"/>
              </a:solidFill>
            </a:rPr>
            <a:t>User trails </a:t>
          </a:r>
        </a:p>
        <a:p>
          <a:r>
            <a:rPr lang="en-US" sz="1200" dirty="0">
              <a:solidFill>
                <a:schemeClr val="bg1"/>
              </a:solidFill>
            </a:rPr>
            <a:t>Direct mailing </a:t>
          </a:r>
        </a:p>
        <a:p>
          <a:r>
            <a:rPr lang="en-US" sz="1200" dirty="0">
              <a:solidFill>
                <a:schemeClr val="bg1"/>
              </a:solidFill>
            </a:rPr>
            <a:t>Leaflets/poster</a:t>
          </a:r>
        </a:p>
        <a:p>
          <a:r>
            <a:rPr lang="en-US" sz="1200" dirty="0">
              <a:solidFill>
                <a:schemeClr val="bg1"/>
              </a:solidFill>
            </a:rPr>
            <a:t>Free gifts </a:t>
          </a:r>
        </a:p>
        <a:p>
          <a:endParaRPr lang="en-US" sz="900" dirty="0"/>
        </a:p>
      </dgm:t>
    </dgm:pt>
    <dgm:pt modelId="{DE0C0B86-0800-4D56-9288-E1515A0311F2}" type="parTrans" cxnId="{E12A74A1-6844-4545-9848-F482B4A49B36}">
      <dgm:prSet/>
      <dgm:spPr/>
      <dgm:t>
        <a:bodyPr/>
        <a:lstStyle/>
        <a:p>
          <a:endParaRPr lang="en-US"/>
        </a:p>
      </dgm:t>
    </dgm:pt>
    <dgm:pt modelId="{3ACAE355-44B3-4434-B95B-4BE31F6D748D}" type="sibTrans" cxnId="{E12A74A1-6844-4545-9848-F482B4A49B36}">
      <dgm:prSet/>
      <dgm:spPr/>
      <dgm:t>
        <a:bodyPr/>
        <a:lstStyle/>
        <a:p>
          <a:endParaRPr lang="en-US"/>
        </a:p>
      </dgm:t>
    </dgm:pt>
    <dgm:pt modelId="{6C08A4A1-3E80-4DE6-91A5-6329B0939DE4}">
      <dgm:prSet/>
      <dgm:spPr/>
      <dgm:t>
        <a:bodyPr/>
        <a:lstStyle/>
        <a:p>
          <a:r>
            <a:rPr lang="en-US" b="1" dirty="0">
              <a:solidFill>
                <a:schemeClr val="bg1"/>
              </a:solidFill>
            </a:rPr>
            <a:t>People </a:t>
          </a:r>
        </a:p>
        <a:p>
          <a:r>
            <a:rPr lang="en-US" dirty="0">
              <a:solidFill>
                <a:schemeClr val="bg1"/>
              </a:solidFill>
            </a:rPr>
            <a:t>Employees </a:t>
          </a:r>
        </a:p>
        <a:p>
          <a:r>
            <a:rPr lang="en-US" dirty="0">
              <a:solidFill>
                <a:schemeClr val="bg1"/>
              </a:solidFill>
            </a:rPr>
            <a:t>Management </a:t>
          </a:r>
        </a:p>
        <a:p>
          <a:r>
            <a:rPr lang="en-US" dirty="0">
              <a:solidFill>
                <a:schemeClr val="bg1"/>
              </a:solidFill>
            </a:rPr>
            <a:t>Culture </a:t>
          </a:r>
        </a:p>
        <a:p>
          <a:r>
            <a:rPr lang="en-US" dirty="0">
              <a:solidFill>
                <a:schemeClr val="bg1"/>
              </a:solidFill>
            </a:rPr>
            <a:t>Customer service </a:t>
          </a:r>
        </a:p>
      </dgm:t>
    </dgm:pt>
    <dgm:pt modelId="{3E471C72-F60E-4452-BE18-1D14D8374D29}" type="parTrans" cxnId="{8026CC98-3C9C-45D8-84D4-D64864B15B29}">
      <dgm:prSet/>
      <dgm:spPr/>
      <dgm:t>
        <a:bodyPr/>
        <a:lstStyle/>
        <a:p>
          <a:endParaRPr lang="en-US"/>
        </a:p>
      </dgm:t>
    </dgm:pt>
    <dgm:pt modelId="{B1DB712F-81EA-4A8C-8300-A756DFAD1303}" type="sibTrans" cxnId="{8026CC98-3C9C-45D8-84D4-D64864B15B29}">
      <dgm:prSet/>
      <dgm:spPr/>
      <dgm:t>
        <a:bodyPr/>
        <a:lstStyle/>
        <a:p>
          <a:endParaRPr lang="en-US"/>
        </a:p>
      </dgm:t>
    </dgm:pt>
    <dgm:pt modelId="{D741B27B-70E5-49AF-A648-5FE5D7FD7CFC}">
      <dgm:prSet/>
      <dgm:spPr/>
      <dgm:t>
        <a:bodyPr/>
        <a:lstStyle/>
        <a:p>
          <a:r>
            <a:rPr lang="en-US" b="1" dirty="0">
              <a:solidFill>
                <a:schemeClr val="bg1"/>
              </a:solidFill>
            </a:rPr>
            <a:t>Process</a:t>
          </a:r>
        </a:p>
        <a:p>
          <a:r>
            <a:rPr lang="en-US" dirty="0">
              <a:solidFill>
                <a:schemeClr val="bg1"/>
              </a:solidFill>
            </a:rPr>
            <a:t>Especially relevant to service industry</a:t>
          </a:r>
        </a:p>
        <a:p>
          <a:r>
            <a:rPr lang="en-US" dirty="0">
              <a:solidFill>
                <a:schemeClr val="bg1"/>
              </a:solidFill>
            </a:rPr>
            <a:t>How are services consumed </a:t>
          </a:r>
        </a:p>
      </dgm:t>
    </dgm:pt>
    <dgm:pt modelId="{067ADA15-9361-4460-84E2-996729CE2401}" type="parTrans" cxnId="{0390FBB5-7B96-4AD5-88F0-AD00765C2F7B}">
      <dgm:prSet/>
      <dgm:spPr/>
      <dgm:t>
        <a:bodyPr/>
        <a:lstStyle/>
        <a:p>
          <a:endParaRPr lang="en-US"/>
        </a:p>
      </dgm:t>
    </dgm:pt>
    <dgm:pt modelId="{494E3E16-D376-4384-A3D6-A2251F03C7A4}" type="sibTrans" cxnId="{0390FBB5-7B96-4AD5-88F0-AD00765C2F7B}">
      <dgm:prSet/>
      <dgm:spPr/>
      <dgm:t>
        <a:bodyPr/>
        <a:lstStyle/>
        <a:p>
          <a:endParaRPr lang="en-US"/>
        </a:p>
      </dgm:t>
    </dgm:pt>
    <dgm:pt modelId="{13A80BB6-67D4-47B1-91FA-D8D9D25F519F}">
      <dgm:prSet/>
      <dgm:spPr/>
      <dgm:t>
        <a:bodyPr/>
        <a:lstStyle/>
        <a:p>
          <a:r>
            <a:rPr lang="en-US" b="1" dirty="0">
              <a:solidFill>
                <a:schemeClr val="bg1"/>
              </a:solidFill>
            </a:rPr>
            <a:t>Physical Environment</a:t>
          </a:r>
        </a:p>
        <a:p>
          <a:r>
            <a:rPr lang="en-US" dirty="0">
              <a:solidFill>
                <a:schemeClr val="bg1"/>
              </a:solidFill>
            </a:rPr>
            <a:t>Smart </a:t>
          </a:r>
        </a:p>
        <a:p>
          <a:r>
            <a:rPr lang="en-US" dirty="0">
              <a:solidFill>
                <a:schemeClr val="bg1"/>
              </a:solidFill>
            </a:rPr>
            <a:t>Interface </a:t>
          </a:r>
        </a:p>
        <a:p>
          <a:r>
            <a:rPr lang="en-US" dirty="0">
              <a:solidFill>
                <a:schemeClr val="bg1"/>
              </a:solidFill>
            </a:rPr>
            <a:t>Facilities  </a:t>
          </a:r>
        </a:p>
      </dgm:t>
    </dgm:pt>
    <dgm:pt modelId="{22A71494-36EE-419A-BD08-41DA0C98E3D9}" type="parTrans" cxnId="{2CA21A96-FD12-4A7C-B372-3893C8926820}">
      <dgm:prSet/>
      <dgm:spPr/>
      <dgm:t>
        <a:bodyPr/>
        <a:lstStyle/>
        <a:p>
          <a:endParaRPr lang="en-US"/>
        </a:p>
      </dgm:t>
    </dgm:pt>
    <dgm:pt modelId="{997F2A99-C42E-4348-ADCA-FFA3C94B2C61}" type="sibTrans" cxnId="{2CA21A96-FD12-4A7C-B372-3893C8926820}">
      <dgm:prSet/>
      <dgm:spPr/>
      <dgm:t>
        <a:bodyPr/>
        <a:lstStyle/>
        <a:p>
          <a:endParaRPr lang="en-US"/>
        </a:p>
      </dgm:t>
    </dgm:pt>
    <dgm:pt modelId="{E11E22DB-9C35-4179-9EB1-F8D29E475CE1}" type="pres">
      <dgm:prSet presAssocID="{7B559B74-62B0-4356-A8A8-C69BAAC6BB51}" presName="composite" presStyleCnt="0">
        <dgm:presLayoutVars>
          <dgm:chMax val="1"/>
          <dgm:dir/>
          <dgm:resizeHandles val="exact"/>
        </dgm:presLayoutVars>
      </dgm:prSet>
      <dgm:spPr/>
    </dgm:pt>
    <dgm:pt modelId="{30E81FC4-7EBD-4414-A1F3-3C070954503A}" type="pres">
      <dgm:prSet presAssocID="{7B559B74-62B0-4356-A8A8-C69BAAC6BB51}" presName="radial" presStyleCnt="0">
        <dgm:presLayoutVars>
          <dgm:animLvl val="ctr"/>
        </dgm:presLayoutVars>
      </dgm:prSet>
      <dgm:spPr/>
    </dgm:pt>
    <dgm:pt modelId="{CD65E49B-9EDE-4FA3-ABAF-C0D82BFE8A8E}" type="pres">
      <dgm:prSet presAssocID="{7EE1AD3F-EC28-48CC-8897-3459FECB144E}" presName="centerShape" presStyleLbl="vennNode1" presStyleIdx="0" presStyleCnt="8" custLinFactNeighborX="122"/>
      <dgm:spPr/>
    </dgm:pt>
    <dgm:pt modelId="{972B51FD-2A02-42CA-977D-71F926856E17}" type="pres">
      <dgm:prSet presAssocID="{A5E4DB9C-E248-47FA-9AAE-50F82C451B00}" presName="node" presStyleLbl="vennNode1" presStyleIdx="1" presStyleCnt="8" custScaleX="123754" custScaleY="149998">
        <dgm:presLayoutVars>
          <dgm:bulletEnabled val="1"/>
        </dgm:presLayoutVars>
      </dgm:prSet>
      <dgm:spPr/>
    </dgm:pt>
    <dgm:pt modelId="{BFD4250E-FFA3-4201-92C2-C1D75DA5E06D}" type="pres">
      <dgm:prSet presAssocID="{C1995FFC-3920-4448-9A3A-14ED2C115EA1}" presName="node" presStyleLbl="vennNode1" presStyleIdx="2" presStyleCnt="8" custScaleX="151416" custScaleY="158315" custRadScaleRad="118187" custRadScaleInc="-2879">
        <dgm:presLayoutVars>
          <dgm:bulletEnabled val="1"/>
        </dgm:presLayoutVars>
      </dgm:prSet>
      <dgm:spPr/>
    </dgm:pt>
    <dgm:pt modelId="{AEA52EE6-81C4-48D7-90E5-9BE89065A9DC}" type="pres">
      <dgm:prSet presAssocID="{DF7348A7-9231-4F24-9055-82D37684BE4D}" presName="node" presStyleLbl="vennNode1" presStyleIdx="3" presStyleCnt="8" custScaleX="159968" custScaleY="136292" custRadScaleRad="99802" custRadScaleInc="50">
        <dgm:presLayoutVars>
          <dgm:bulletEnabled val="1"/>
        </dgm:presLayoutVars>
      </dgm:prSet>
      <dgm:spPr/>
    </dgm:pt>
    <dgm:pt modelId="{18578960-BB71-4392-ADE2-A8936A5E33E2}" type="pres">
      <dgm:prSet presAssocID="{ECF360A5-6144-4067-BBB8-D7ED3260926F}" presName="node" presStyleLbl="vennNode1" presStyleIdx="4" presStyleCnt="8" custScaleX="139938" custScaleY="140577" custRadScaleRad="100206" custRadScaleInc="-473">
        <dgm:presLayoutVars>
          <dgm:bulletEnabled val="1"/>
        </dgm:presLayoutVars>
      </dgm:prSet>
      <dgm:spPr/>
    </dgm:pt>
    <dgm:pt modelId="{C30ED29C-B67D-4DDA-95C8-DC4662247483}" type="pres">
      <dgm:prSet presAssocID="{6C08A4A1-3E80-4DE6-91A5-6329B0939DE4}" presName="node" presStyleLbl="vennNode1" presStyleIdx="5" presStyleCnt="8" custScaleX="134617" custScaleY="144027" custRadScaleRad="97919" custRadScaleInc="-5167">
        <dgm:presLayoutVars>
          <dgm:bulletEnabled val="1"/>
        </dgm:presLayoutVars>
      </dgm:prSet>
      <dgm:spPr/>
    </dgm:pt>
    <dgm:pt modelId="{44865AD2-81AD-4490-851E-8AA2747F6F88}" type="pres">
      <dgm:prSet presAssocID="{D741B27B-70E5-49AF-A648-5FE5D7FD7CFC}" presName="node" presStyleLbl="vennNode1" presStyleIdx="6" presStyleCnt="8" custScaleX="135525" custScaleY="126484">
        <dgm:presLayoutVars>
          <dgm:bulletEnabled val="1"/>
        </dgm:presLayoutVars>
      </dgm:prSet>
      <dgm:spPr/>
    </dgm:pt>
    <dgm:pt modelId="{5E1A78F7-B130-4FE9-AA41-32FCBF193E6B}" type="pres">
      <dgm:prSet presAssocID="{13A80BB6-67D4-47B1-91FA-D8D9D25F519F}" presName="node" presStyleLbl="vennNode1" presStyleIdx="7" presStyleCnt="8" custScaleX="148997" custScaleY="136329" custRadScaleRad="97588" custRadScaleInc="-3523">
        <dgm:presLayoutVars>
          <dgm:bulletEnabled val="1"/>
        </dgm:presLayoutVars>
      </dgm:prSet>
      <dgm:spPr/>
    </dgm:pt>
  </dgm:ptLst>
  <dgm:cxnLst>
    <dgm:cxn modelId="{7B3CE10F-6847-4D0B-98DC-AA52C7CDBE1D}" type="presOf" srcId="{D741B27B-70E5-49AF-A648-5FE5D7FD7CFC}" destId="{44865AD2-81AD-4490-851E-8AA2747F6F88}" srcOrd="0" destOrd="0" presId="urn:microsoft.com/office/officeart/2005/8/layout/radial3"/>
    <dgm:cxn modelId="{63060F18-FC4C-43E6-90E8-1C42108A89C7}" srcId="{7EE1AD3F-EC28-48CC-8897-3459FECB144E}" destId="{C1995FFC-3920-4448-9A3A-14ED2C115EA1}" srcOrd="1" destOrd="0" parTransId="{6FCEFF36-B2A0-4608-85DE-42B3E6A927B7}" sibTransId="{DA1C01A4-1206-4975-A407-F9978182D611}"/>
    <dgm:cxn modelId="{B5AC9820-5311-4C5A-AB3A-0D404CF1CDDD}" type="presOf" srcId="{DF7348A7-9231-4F24-9055-82D37684BE4D}" destId="{AEA52EE6-81C4-48D7-90E5-9BE89065A9DC}" srcOrd="0" destOrd="0" presId="urn:microsoft.com/office/officeart/2005/8/layout/radial3"/>
    <dgm:cxn modelId="{719E3E30-E8CA-49EB-9D82-40565B92B043}" srcId="{7B559B74-62B0-4356-A8A8-C69BAAC6BB51}" destId="{7EE1AD3F-EC28-48CC-8897-3459FECB144E}" srcOrd="0" destOrd="0" parTransId="{B50A29B7-02B5-42A1-A03A-A98089BA4208}" sibTransId="{17FCA62E-C354-4BC1-92BF-923B46836E7C}"/>
    <dgm:cxn modelId="{26E65230-5FA1-4B79-ADA8-FAAE9F5F0385}" type="presOf" srcId="{6C08A4A1-3E80-4DE6-91A5-6329B0939DE4}" destId="{C30ED29C-B67D-4DDA-95C8-DC4662247483}" srcOrd="0" destOrd="0" presId="urn:microsoft.com/office/officeart/2005/8/layout/radial3"/>
    <dgm:cxn modelId="{8174AD35-3D12-4E08-9E01-7AFA848404AC}" type="presOf" srcId="{7B559B74-62B0-4356-A8A8-C69BAAC6BB51}" destId="{E11E22DB-9C35-4179-9EB1-F8D29E475CE1}" srcOrd="0" destOrd="0" presId="urn:microsoft.com/office/officeart/2005/8/layout/radial3"/>
    <dgm:cxn modelId="{202FA25B-443F-47A9-9C85-10568AA59B37}" type="presOf" srcId="{13A80BB6-67D4-47B1-91FA-D8D9D25F519F}" destId="{5E1A78F7-B130-4FE9-AA41-32FCBF193E6B}" srcOrd="0" destOrd="0" presId="urn:microsoft.com/office/officeart/2005/8/layout/radial3"/>
    <dgm:cxn modelId="{93E1C474-2CD8-4DC9-886E-DD7F63998111}" type="presOf" srcId="{A5E4DB9C-E248-47FA-9AAE-50F82C451B00}" destId="{972B51FD-2A02-42CA-977D-71F926856E17}" srcOrd="0" destOrd="0" presId="urn:microsoft.com/office/officeart/2005/8/layout/radial3"/>
    <dgm:cxn modelId="{6215FD7F-8F78-4A7D-943A-3DE45FF81D5C}" srcId="{7EE1AD3F-EC28-48CC-8897-3459FECB144E}" destId="{DF7348A7-9231-4F24-9055-82D37684BE4D}" srcOrd="2" destOrd="0" parTransId="{F15F911D-3B66-41CC-9901-DE8CF9B3BCE3}" sibTransId="{551CCEFC-B6A8-4825-AD51-85FEAC998ECF}"/>
    <dgm:cxn modelId="{A0A5E98F-6269-4147-AE42-C0D7FF0ED629}" srcId="{7EE1AD3F-EC28-48CC-8897-3459FECB144E}" destId="{A5E4DB9C-E248-47FA-9AAE-50F82C451B00}" srcOrd="0" destOrd="0" parTransId="{3BF6044A-C89F-410B-A6F4-D4885B806545}" sibTransId="{C437A5CD-0208-40D5-A193-A27EADB3CA6E}"/>
    <dgm:cxn modelId="{2CA21A96-FD12-4A7C-B372-3893C8926820}" srcId="{7EE1AD3F-EC28-48CC-8897-3459FECB144E}" destId="{13A80BB6-67D4-47B1-91FA-D8D9D25F519F}" srcOrd="6" destOrd="0" parTransId="{22A71494-36EE-419A-BD08-41DA0C98E3D9}" sibTransId="{997F2A99-C42E-4348-ADCA-FFA3C94B2C61}"/>
    <dgm:cxn modelId="{8026CC98-3C9C-45D8-84D4-D64864B15B29}" srcId="{7EE1AD3F-EC28-48CC-8897-3459FECB144E}" destId="{6C08A4A1-3E80-4DE6-91A5-6329B0939DE4}" srcOrd="4" destOrd="0" parTransId="{3E471C72-F60E-4452-BE18-1D14D8374D29}" sibTransId="{B1DB712F-81EA-4A8C-8300-A756DFAD1303}"/>
    <dgm:cxn modelId="{E12A74A1-6844-4545-9848-F482B4A49B36}" srcId="{7EE1AD3F-EC28-48CC-8897-3459FECB144E}" destId="{ECF360A5-6144-4067-BBB8-D7ED3260926F}" srcOrd="3" destOrd="0" parTransId="{DE0C0B86-0800-4D56-9288-E1515A0311F2}" sibTransId="{3ACAE355-44B3-4434-B95B-4BE31F6D748D}"/>
    <dgm:cxn modelId="{0390FBB5-7B96-4AD5-88F0-AD00765C2F7B}" srcId="{7EE1AD3F-EC28-48CC-8897-3459FECB144E}" destId="{D741B27B-70E5-49AF-A648-5FE5D7FD7CFC}" srcOrd="5" destOrd="0" parTransId="{067ADA15-9361-4460-84E2-996729CE2401}" sibTransId="{494E3E16-D376-4384-A3D6-A2251F03C7A4}"/>
    <dgm:cxn modelId="{E23C5BE5-411A-41AD-9E51-83434DEBE777}" type="presOf" srcId="{7EE1AD3F-EC28-48CC-8897-3459FECB144E}" destId="{CD65E49B-9EDE-4FA3-ABAF-C0D82BFE8A8E}" srcOrd="0" destOrd="0" presId="urn:microsoft.com/office/officeart/2005/8/layout/radial3"/>
    <dgm:cxn modelId="{CFA893E5-1D34-465C-9202-06E963653107}" type="presOf" srcId="{ECF360A5-6144-4067-BBB8-D7ED3260926F}" destId="{18578960-BB71-4392-ADE2-A8936A5E33E2}" srcOrd="0" destOrd="0" presId="urn:microsoft.com/office/officeart/2005/8/layout/radial3"/>
    <dgm:cxn modelId="{E1A0B9E7-7ACC-4D91-B556-CB991FB9DDAC}" type="presOf" srcId="{C1995FFC-3920-4448-9A3A-14ED2C115EA1}" destId="{BFD4250E-FFA3-4201-92C2-C1D75DA5E06D}" srcOrd="0" destOrd="0" presId="urn:microsoft.com/office/officeart/2005/8/layout/radial3"/>
    <dgm:cxn modelId="{97BC0189-0EE1-4AAF-A28F-8A4ED89DFEE0}" type="presParOf" srcId="{E11E22DB-9C35-4179-9EB1-F8D29E475CE1}" destId="{30E81FC4-7EBD-4414-A1F3-3C070954503A}" srcOrd="0" destOrd="0" presId="urn:microsoft.com/office/officeart/2005/8/layout/radial3"/>
    <dgm:cxn modelId="{F613BBA5-8B6C-4FBD-B2A5-CE5AA9150CFA}" type="presParOf" srcId="{30E81FC4-7EBD-4414-A1F3-3C070954503A}" destId="{CD65E49B-9EDE-4FA3-ABAF-C0D82BFE8A8E}" srcOrd="0" destOrd="0" presId="urn:microsoft.com/office/officeart/2005/8/layout/radial3"/>
    <dgm:cxn modelId="{B9C24D88-3664-4734-9557-4BEB1557A2A7}" type="presParOf" srcId="{30E81FC4-7EBD-4414-A1F3-3C070954503A}" destId="{972B51FD-2A02-42CA-977D-71F926856E17}" srcOrd="1" destOrd="0" presId="urn:microsoft.com/office/officeart/2005/8/layout/radial3"/>
    <dgm:cxn modelId="{1C81E1D8-2EF0-487D-8F19-BE62571B83CF}" type="presParOf" srcId="{30E81FC4-7EBD-4414-A1F3-3C070954503A}" destId="{BFD4250E-FFA3-4201-92C2-C1D75DA5E06D}" srcOrd="2" destOrd="0" presId="urn:microsoft.com/office/officeart/2005/8/layout/radial3"/>
    <dgm:cxn modelId="{A79BCBB9-06E2-474D-9744-EBCFD280A1CC}" type="presParOf" srcId="{30E81FC4-7EBD-4414-A1F3-3C070954503A}" destId="{AEA52EE6-81C4-48D7-90E5-9BE89065A9DC}" srcOrd="3" destOrd="0" presId="urn:microsoft.com/office/officeart/2005/8/layout/radial3"/>
    <dgm:cxn modelId="{B5C761F5-E180-4D2F-9BC7-518A92ADAD31}" type="presParOf" srcId="{30E81FC4-7EBD-4414-A1F3-3C070954503A}" destId="{18578960-BB71-4392-ADE2-A8936A5E33E2}" srcOrd="4" destOrd="0" presId="urn:microsoft.com/office/officeart/2005/8/layout/radial3"/>
    <dgm:cxn modelId="{EE0FDB78-7E25-479A-B893-F851AD3DD4E6}" type="presParOf" srcId="{30E81FC4-7EBD-4414-A1F3-3C070954503A}" destId="{C30ED29C-B67D-4DDA-95C8-DC4662247483}" srcOrd="5" destOrd="0" presId="urn:microsoft.com/office/officeart/2005/8/layout/radial3"/>
    <dgm:cxn modelId="{77A93D01-9027-4526-87C7-275618F39122}" type="presParOf" srcId="{30E81FC4-7EBD-4414-A1F3-3C070954503A}" destId="{44865AD2-81AD-4490-851E-8AA2747F6F88}" srcOrd="6" destOrd="0" presId="urn:microsoft.com/office/officeart/2005/8/layout/radial3"/>
    <dgm:cxn modelId="{8879CCAD-5392-4951-830F-87DDBC9E843F}" type="presParOf" srcId="{30E81FC4-7EBD-4414-A1F3-3C070954503A}" destId="{5E1A78F7-B130-4FE9-AA41-32FCBF193E6B}" srcOrd="7" destOrd="0" presId="urn:microsoft.com/office/officeart/2005/8/layout/radial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A04422-EC3A-4F9C-88B8-DDD9C572C4B4}">
      <dsp:nvSpPr>
        <dsp:cNvPr id="0" name=""/>
        <dsp:cNvSpPr/>
      </dsp:nvSpPr>
      <dsp:spPr>
        <a:xfrm rot="10800000">
          <a:off x="1438386" y="4"/>
          <a:ext cx="4053840" cy="1669226"/>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36083" tIns="129540" rIns="241808"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Businesses to Businesses (B2B)</a:t>
          </a:r>
        </a:p>
      </dsp:txBody>
      <dsp:txXfrm rot="10800000">
        <a:off x="1855692" y="4"/>
        <a:ext cx="3636534" cy="1669226"/>
      </dsp:txXfrm>
    </dsp:sp>
    <dsp:sp modelId="{584DEA8B-FD30-40A1-839D-877CE4ACCA02}">
      <dsp:nvSpPr>
        <dsp:cNvPr id="0" name=""/>
        <dsp:cNvSpPr/>
      </dsp:nvSpPr>
      <dsp:spPr>
        <a:xfrm>
          <a:off x="603773" y="371"/>
          <a:ext cx="1669226" cy="1669226"/>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C0642DF-55AD-4370-BD95-5DB57EA5C7B9}">
      <dsp:nvSpPr>
        <dsp:cNvPr id="0" name=""/>
        <dsp:cNvSpPr/>
      </dsp:nvSpPr>
      <dsp:spPr>
        <a:xfrm rot="10800000">
          <a:off x="1438386" y="2167874"/>
          <a:ext cx="4053840" cy="1669226"/>
        </a:xfrm>
        <a:prstGeom prst="homePlat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36083" tIns="129540" rIns="241808"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Businesses to Consumers (B2C)</a:t>
          </a:r>
        </a:p>
      </dsp:txBody>
      <dsp:txXfrm rot="10800000">
        <a:off x="1855692" y="2167874"/>
        <a:ext cx="3636534" cy="1669226"/>
      </dsp:txXfrm>
    </dsp:sp>
    <dsp:sp modelId="{53016390-EAAC-42F9-9BC0-0A22031A7B68}">
      <dsp:nvSpPr>
        <dsp:cNvPr id="0" name=""/>
        <dsp:cNvSpPr/>
      </dsp:nvSpPr>
      <dsp:spPr>
        <a:xfrm>
          <a:off x="603773" y="2167874"/>
          <a:ext cx="1669226" cy="1669226"/>
        </a:xfrm>
        <a:prstGeom prst="ellipse">
          <a:avLst/>
        </a:prstGeom>
        <a:solidFill>
          <a:schemeClr val="accent1">
            <a:tint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490109-92AE-4DBA-9B24-D3E292E4790C}">
      <dsp:nvSpPr>
        <dsp:cNvPr id="0" name=""/>
        <dsp:cNvSpPr/>
      </dsp:nvSpPr>
      <dsp:spPr>
        <a:xfrm>
          <a:off x="818038" y="752539"/>
          <a:ext cx="5603386" cy="3645166"/>
        </a:xfrm>
        <a:prstGeom prst="blockArc">
          <a:avLst>
            <a:gd name="adj1" fmla="val 11183168"/>
            <a:gd name="adj2" fmla="val 15749078"/>
            <a:gd name="adj3" fmla="val 464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150FC6C-D5C1-4210-A2E6-548D990AB7E6}">
      <dsp:nvSpPr>
        <dsp:cNvPr id="0" name=""/>
        <dsp:cNvSpPr/>
      </dsp:nvSpPr>
      <dsp:spPr>
        <a:xfrm>
          <a:off x="982036" y="623892"/>
          <a:ext cx="3645166" cy="3645166"/>
        </a:xfrm>
        <a:prstGeom prst="blockArc">
          <a:avLst>
            <a:gd name="adj1" fmla="val 5914128"/>
            <a:gd name="adj2" fmla="val 10235701"/>
            <a:gd name="adj3" fmla="val 464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3BC52F6-D425-460E-9BA7-DD801ED655E1}">
      <dsp:nvSpPr>
        <dsp:cNvPr id="0" name=""/>
        <dsp:cNvSpPr/>
      </dsp:nvSpPr>
      <dsp:spPr>
        <a:xfrm>
          <a:off x="616085" y="635499"/>
          <a:ext cx="3645166" cy="3645166"/>
        </a:xfrm>
        <a:prstGeom prst="blockArc">
          <a:avLst>
            <a:gd name="adj1" fmla="val 772234"/>
            <a:gd name="adj2" fmla="val 5000389"/>
            <a:gd name="adj3" fmla="val 464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5EFF41C-3D33-4DF2-90E9-E7AD91F6DE74}">
      <dsp:nvSpPr>
        <dsp:cNvPr id="0" name=""/>
        <dsp:cNvSpPr/>
      </dsp:nvSpPr>
      <dsp:spPr>
        <a:xfrm>
          <a:off x="639410" y="659411"/>
          <a:ext cx="3645166" cy="3645166"/>
        </a:xfrm>
        <a:prstGeom prst="blockArc">
          <a:avLst>
            <a:gd name="adj1" fmla="val 16770663"/>
            <a:gd name="adj2" fmla="val 21424087"/>
            <a:gd name="adj3" fmla="val 4643"/>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3C500AC-0917-46F2-BC88-0F3147370C95}">
      <dsp:nvSpPr>
        <dsp:cNvPr id="0" name=""/>
        <dsp:cNvSpPr/>
      </dsp:nvSpPr>
      <dsp:spPr>
        <a:xfrm>
          <a:off x="1989043" y="1491008"/>
          <a:ext cx="1678917" cy="1678917"/>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Market</a:t>
          </a:r>
        </a:p>
        <a:p>
          <a:pPr marL="0" lvl="0" indent="0" algn="ctr" defTabSz="711200">
            <a:lnSpc>
              <a:spcPct val="90000"/>
            </a:lnSpc>
            <a:spcBef>
              <a:spcPct val="0"/>
            </a:spcBef>
            <a:spcAft>
              <a:spcPct val="35000"/>
            </a:spcAft>
            <a:buNone/>
          </a:pPr>
          <a:r>
            <a:rPr lang="en-US" sz="1600" kern="1200" dirty="0"/>
            <a:t>Segmentation</a:t>
          </a:r>
        </a:p>
      </dsp:txBody>
      <dsp:txXfrm>
        <a:off x="2234915" y="1736880"/>
        <a:ext cx="1187173" cy="1187173"/>
      </dsp:txXfrm>
    </dsp:sp>
    <dsp:sp modelId="{6F429A49-152B-49CC-8973-0D3E14D52017}">
      <dsp:nvSpPr>
        <dsp:cNvPr id="0" name=""/>
        <dsp:cNvSpPr/>
      </dsp:nvSpPr>
      <dsp:spPr>
        <a:xfrm>
          <a:off x="2304870" y="-2186"/>
          <a:ext cx="1175242" cy="1624655"/>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Demographic</a:t>
          </a:r>
        </a:p>
      </dsp:txBody>
      <dsp:txXfrm>
        <a:off x="2476980" y="235739"/>
        <a:ext cx="831022" cy="1148805"/>
      </dsp:txXfrm>
    </dsp:sp>
    <dsp:sp modelId="{68058E5E-203C-4FD7-AAB2-F89F6182D3BB}">
      <dsp:nvSpPr>
        <dsp:cNvPr id="0" name=""/>
        <dsp:cNvSpPr/>
      </dsp:nvSpPr>
      <dsp:spPr>
        <a:xfrm>
          <a:off x="3452743" y="1887263"/>
          <a:ext cx="1847046" cy="1175242"/>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Geographic</a:t>
          </a:r>
        </a:p>
      </dsp:txBody>
      <dsp:txXfrm>
        <a:off x="3723237" y="2059373"/>
        <a:ext cx="1306058" cy="831022"/>
      </dsp:txXfrm>
    </dsp:sp>
    <dsp:sp modelId="{47F81063-06E6-42B2-858E-C8E3AC2BA5D9}">
      <dsp:nvSpPr>
        <dsp:cNvPr id="0" name=""/>
        <dsp:cNvSpPr/>
      </dsp:nvSpPr>
      <dsp:spPr>
        <a:xfrm>
          <a:off x="2259576" y="2973901"/>
          <a:ext cx="1175242" cy="1745376"/>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Psychographic </a:t>
          </a:r>
        </a:p>
      </dsp:txBody>
      <dsp:txXfrm>
        <a:off x="2431686" y="3229505"/>
        <a:ext cx="831022" cy="1234168"/>
      </dsp:txXfrm>
    </dsp:sp>
    <dsp:sp modelId="{16FE6E05-1E7B-4EAB-92BC-986093E5592F}">
      <dsp:nvSpPr>
        <dsp:cNvPr id="0" name=""/>
        <dsp:cNvSpPr/>
      </dsp:nvSpPr>
      <dsp:spPr>
        <a:xfrm>
          <a:off x="560964" y="1789483"/>
          <a:ext cx="1590291" cy="1175242"/>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err="1"/>
            <a:t>Behavioural</a:t>
          </a:r>
          <a:r>
            <a:rPr lang="en-US" sz="1100" kern="1200" dirty="0"/>
            <a:t> </a:t>
          </a:r>
        </a:p>
      </dsp:txBody>
      <dsp:txXfrm>
        <a:off x="793857" y="1961593"/>
        <a:ext cx="1124505" cy="83102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978B7F-471A-4B4D-BFB8-6065C616EE10}">
      <dsp:nvSpPr>
        <dsp:cNvPr id="0" name=""/>
        <dsp:cNvSpPr/>
      </dsp:nvSpPr>
      <dsp:spPr>
        <a:xfrm>
          <a:off x="3249307" y="1967311"/>
          <a:ext cx="1511715" cy="1511715"/>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Breakfast Cereal Market Segment</a:t>
          </a:r>
        </a:p>
      </dsp:txBody>
      <dsp:txXfrm>
        <a:off x="3470693" y="2188697"/>
        <a:ext cx="1068943" cy="1068943"/>
      </dsp:txXfrm>
    </dsp:sp>
    <dsp:sp modelId="{0BB3B87D-D419-4327-9C4F-E2172B27BB11}">
      <dsp:nvSpPr>
        <dsp:cNvPr id="0" name=""/>
        <dsp:cNvSpPr/>
      </dsp:nvSpPr>
      <dsp:spPr>
        <a:xfrm rot="16200000">
          <a:off x="3855162" y="1435785"/>
          <a:ext cx="300006" cy="5139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3900163" y="1583583"/>
        <a:ext cx="210004" cy="308389"/>
      </dsp:txXfrm>
    </dsp:sp>
    <dsp:sp modelId="{D07F433D-7487-47AE-A5C1-5932FE132967}">
      <dsp:nvSpPr>
        <dsp:cNvPr id="0" name=""/>
        <dsp:cNvSpPr/>
      </dsp:nvSpPr>
      <dsp:spPr>
        <a:xfrm>
          <a:off x="3324893" y="40718"/>
          <a:ext cx="1360543" cy="1360543"/>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Easy Start</a:t>
          </a:r>
        </a:p>
      </dsp:txBody>
      <dsp:txXfrm>
        <a:off x="3524140" y="239965"/>
        <a:ext cx="962049" cy="962049"/>
      </dsp:txXfrm>
    </dsp:sp>
    <dsp:sp modelId="{A9C42D45-49A8-404F-924C-0881A0FFF25F}">
      <dsp:nvSpPr>
        <dsp:cNvPr id="0" name=""/>
        <dsp:cNvSpPr/>
      </dsp:nvSpPr>
      <dsp:spPr>
        <a:xfrm rot="19285714">
          <a:off x="4665016" y="1812452"/>
          <a:ext cx="319787" cy="5139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4675481" y="1945157"/>
        <a:ext cx="223851" cy="308389"/>
      </dsp:txXfrm>
    </dsp:sp>
    <dsp:sp modelId="{692A341B-A643-4F9D-A11A-3A78B111C04D}">
      <dsp:nvSpPr>
        <dsp:cNvPr id="0" name=""/>
        <dsp:cNvSpPr/>
      </dsp:nvSpPr>
      <dsp:spPr>
        <a:xfrm>
          <a:off x="4919440" y="771288"/>
          <a:ext cx="1360543" cy="1360543"/>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Family Feeders</a:t>
          </a:r>
        </a:p>
      </dsp:txBody>
      <dsp:txXfrm>
        <a:off x="5118687" y="970535"/>
        <a:ext cx="962049" cy="962049"/>
      </dsp:txXfrm>
    </dsp:sp>
    <dsp:sp modelId="{4311CFA8-63F7-4AC5-80C2-EDBCA489F360}">
      <dsp:nvSpPr>
        <dsp:cNvPr id="0" name=""/>
        <dsp:cNvSpPr/>
      </dsp:nvSpPr>
      <dsp:spPr>
        <a:xfrm rot="771429">
          <a:off x="4867477" y="2699489"/>
          <a:ext cx="319787" cy="5139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4868680" y="2791612"/>
        <a:ext cx="223851" cy="308389"/>
      </dsp:txXfrm>
    </dsp:sp>
    <dsp:sp modelId="{B365EC0E-78C8-4C6F-9E96-F44BE7430467}">
      <dsp:nvSpPr>
        <dsp:cNvPr id="0" name=""/>
        <dsp:cNvSpPr/>
      </dsp:nvSpPr>
      <dsp:spPr>
        <a:xfrm>
          <a:off x="5313261" y="2496729"/>
          <a:ext cx="1360543" cy="1360543"/>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Mobile</a:t>
          </a:r>
        </a:p>
        <a:p>
          <a:pPr marL="0" lvl="0" indent="0" algn="ctr" defTabSz="844550">
            <a:lnSpc>
              <a:spcPct val="90000"/>
            </a:lnSpc>
            <a:spcBef>
              <a:spcPct val="0"/>
            </a:spcBef>
            <a:spcAft>
              <a:spcPct val="35000"/>
            </a:spcAft>
            <a:buNone/>
          </a:pPr>
          <a:r>
            <a:rPr lang="en-US" sz="1900" kern="1200" dirty="0"/>
            <a:t>Snackers</a:t>
          </a:r>
        </a:p>
      </dsp:txBody>
      <dsp:txXfrm>
        <a:off x="5512508" y="2695976"/>
        <a:ext cx="962049" cy="962049"/>
      </dsp:txXfrm>
    </dsp:sp>
    <dsp:sp modelId="{233FD953-15D1-4852-BD73-341CAF968EA6}">
      <dsp:nvSpPr>
        <dsp:cNvPr id="0" name=""/>
        <dsp:cNvSpPr/>
      </dsp:nvSpPr>
      <dsp:spPr>
        <a:xfrm rot="3857143">
          <a:off x="4300195" y="3410837"/>
          <a:ext cx="319787" cy="5139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a:off x="4327350" y="3470416"/>
        <a:ext cx="223851" cy="308389"/>
      </dsp:txXfrm>
    </dsp:sp>
    <dsp:sp modelId="{1B045986-0683-4A5F-B575-6A8CD8CABD7D}">
      <dsp:nvSpPr>
        <dsp:cNvPr id="0" name=""/>
        <dsp:cNvSpPr/>
      </dsp:nvSpPr>
      <dsp:spPr>
        <a:xfrm>
          <a:off x="4209800" y="3880425"/>
          <a:ext cx="1360543" cy="1360543"/>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Family</a:t>
          </a:r>
        </a:p>
        <a:p>
          <a:pPr marL="0" lvl="0" indent="0" algn="ctr" defTabSz="844550">
            <a:lnSpc>
              <a:spcPct val="90000"/>
            </a:lnSpc>
            <a:spcBef>
              <a:spcPct val="0"/>
            </a:spcBef>
            <a:spcAft>
              <a:spcPct val="35000"/>
            </a:spcAft>
            <a:buNone/>
          </a:pPr>
          <a:r>
            <a:rPr lang="en-US" sz="1900" kern="1200" dirty="0"/>
            <a:t>Friendly</a:t>
          </a:r>
        </a:p>
      </dsp:txBody>
      <dsp:txXfrm>
        <a:off x="4409047" y="4079672"/>
        <a:ext cx="962049" cy="962049"/>
      </dsp:txXfrm>
    </dsp:sp>
    <dsp:sp modelId="{1BA36508-24A2-4534-96E6-1FDAB589CB08}">
      <dsp:nvSpPr>
        <dsp:cNvPr id="0" name=""/>
        <dsp:cNvSpPr/>
      </dsp:nvSpPr>
      <dsp:spPr>
        <a:xfrm rot="6940374">
          <a:off x="3389577" y="3412502"/>
          <a:ext cx="321408" cy="5139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rot="10800000">
        <a:off x="3458675" y="3471847"/>
        <a:ext cx="224986" cy="308389"/>
      </dsp:txXfrm>
    </dsp:sp>
    <dsp:sp modelId="{554EFDAC-A2D3-48A5-A6A2-9FEFC3BA4FEB}">
      <dsp:nvSpPr>
        <dsp:cNvPr id="0" name=""/>
        <dsp:cNvSpPr/>
      </dsp:nvSpPr>
      <dsp:spPr>
        <a:xfrm>
          <a:off x="2439989" y="3883820"/>
          <a:ext cx="1360543" cy="1360543"/>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Good Start</a:t>
          </a:r>
        </a:p>
      </dsp:txBody>
      <dsp:txXfrm>
        <a:off x="2639236" y="4083067"/>
        <a:ext cx="962049" cy="962049"/>
      </dsp:txXfrm>
    </dsp:sp>
    <dsp:sp modelId="{600DF9A2-574C-4027-9ED0-AD6E6793F8CE}">
      <dsp:nvSpPr>
        <dsp:cNvPr id="0" name=""/>
        <dsp:cNvSpPr/>
      </dsp:nvSpPr>
      <dsp:spPr>
        <a:xfrm rot="10028571">
          <a:off x="2823066" y="2699489"/>
          <a:ext cx="319787" cy="5139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rot="10800000">
        <a:off x="2917799" y="2791612"/>
        <a:ext cx="223851" cy="308389"/>
      </dsp:txXfrm>
    </dsp:sp>
    <dsp:sp modelId="{0CA6FF4A-4778-4683-869A-BC1CCD01E68A}">
      <dsp:nvSpPr>
        <dsp:cNvPr id="0" name=""/>
        <dsp:cNvSpPr/>
      </dsp:nvSpPr>
      <dsp:spPr>
        <a:xfrm>
          <a:off x="1336526" y="2496729"/>
          <a:ext cx="1360543" cy="1360543"/>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Dietary Needs </a:t>
          </a:r>
        </a:p>
      </dsp:txBody>
      <dsp:txXfrm>
        <a:off x="1535773" y="2695976"/>
        <a:ext cx="962049" cy="962049"/>
      </dsp:txXfrm>
    </dsp:sp>
    <dsp:sp modelId="{7EA51755-919B-4BDE-85B2-839E78DF10F6}">
      <dsp:nvSpPr>
        <dsp:cNvPr id="0" name=""/>
        <dsp:cNvSpPr/>
      </dsp:nvSpPr>
      <dsp:spPr>
        <a:xfrm rot="13114286">
          <a:off x="3025526" y="1812452"/>
          <a:ext cx="319787" cy="5139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US" sz="1500" kern="1200"/>
        </a:p>
      </dsp:txBody>
      <dsp:txXfrm rot="10800000">
        <a:off x="3110997" y="1945157"/>
        <a:ext cx="223851" cy="308389"/>
      </dsp:txXfrm>
    </dsp:sp>
    <dsp:sp modelId="{954EEB6A-810F-4BC7-9E9F-9CB608EF05DB}">
      <dsp:nvSpPr>
        <dsp:cNvPr id="0" name=""/>
        <dsp:cNvSpPr/>
      </dsp:nvSpPr>
      <dsp:spPr>
        <a:xfrm>
          <a:off x="1730346" y="771288"/>
          <a:ext cx="1360543" cy="1360543"/>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t>Just for Kids</a:t>
          </a:r>
        </a:p>
      </dsp:txBody>
      <dsp:txXfrm>
        <a:off x="1929593" y="970535"/>
        <a:ext cx="962049" cy="96204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77D4C4-FBDF-4466-9A38-BA50EEC9DBDF}">
      <dsp:nvSpPr>
        <dsp:cNvPr id="0" name=""/>
        <dsp:cNvSpPr/>
      </dsp:nvSpPr>
      <dsp:spPr>
        <a:xfrm>
          <a:off x="3174390" y="2160249"/>
          <a:ext cx="1529698" cy="1290046"/>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Car Market Segment</a:t>
          </a:r>
        </a:p>
      </dsp:txBody>
      <dsp:txXfrm>
        <a:off x="3398409" y="2349172"/>
        <a:ext cx="1081660" cy="912200"/>
      </dsp:txXfrm>
    </dsp:sp>
    <dsp:sp modelId="{3DC9137D-2237-49D1-AC19-CB3970AB7BB4}">
      <dsp:nvSpPr>
        <dsp:cNvPr id="0" name=""/>
        <dsp:cNvSpPr/>
      </dsp:nvSpPr>
      <dsp:spPr>
        <a:xfrm rot="16200000">
          <a:off x="3737881" y="1527206"/>
          <a:ext cx="402717" cy="52903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3798289" y="1693422"/>
        <a:ext cx="281902" cy="317423"/>
      </dsp:txXfrm>
    </dsp:sp>
    <dsp:sp modelId="{501920AB-1CAC-4435-85E0-CF0C2DF89E11}">
      <dsp:nvSpPr>
        <dsp:cNvPr id="0" name=""/>
        <dsp:cNvSpPr/>
      </dsp:nvSpPr>
      <dsp:spPr>
        <a:xfrm>
          <a:off x="3239040" y="8"/>
          <a:ext cx="1400398" cy="1400398"/>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Just getting around</a:t>
          </a:r>
        </a:p>
      </dsp:txBody>
      <dsp:txXfrm>
        <a:off x="3444124" y="205092"/>
        <a:ext cx="990230" cy="990230"/>
      </dsp:txXfrm>
    </dsp:sp>
    <dsp:sp modelId="{9A13A2BE-0699-44E4-9082-90DEA8B01CC0}">
      <dsp:nvSpPr>
        <dsp:cNvPr id="0" name=""/>
        <dsp:cNvSpPr/>
      </dsp:nvSpPr>
      <dsp:spPr>
        <a:xfrm rot="19361422">
          <a:off x="4585470" y="1916591"/>
          <a:ext cx="345627" cy="52903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4596079" y="2053823"/>
        <a:ext cx="241939" cy="317423"/>
      </dsp:txXfrm>
    </dsp:sp>
    <dsp:sp modelId="{956AABA1-F3A7-4455-BE31-014BF52CF0C0}">
      <dsp:nvSpPr>
        <dsp:cNvPr id="0" name=""/>
        <dsp:cNvSpPr/>
      </dsp:nvSpPr>
      <dsp:spPr>
        <a:xfrm>
          <a:off x="4882126" y="852942"/>
          <a:ext cx="1400398" cy="1400398"/>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kern="1200" dirty="0"/>
            <a:t>Family needs</a:t>
          </a:r>
        </a:p>
      </dsp:txBody>
      <dsp:txXfrm>
        <a:off x="5087210" y="1058026"/>
        <a:ext cx="990230" cy="990230"/>
      </dsp:txXfrm>
    </dsp:sp>
    <dsp:sp modelId="{C370E7B4-3A61-4F10-8EF2-BBF93E104AC1}">
      <dsp:nvSpPr>
        <dsp:cNvPr id="0" name=""/>
        <dsp:cNvSpPr/>
      </dsp:nvSpPr>
      <dsp:spPr>
        <a:xfrm rot="771429">
          <a:off x="4811398" y="2778776"/>
          <a:ext cx="341375" cy="52903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4812682" y="2873190"/>
        <a:ext cx="238963" cy="317423"/>
      </dsp:txXfrm>
    </dsp:sp>
    <dsp:sp modelId="{43D34178-F677-49F5-9245-10FCA7B43479}">
      <dsp:nvSpPr>
        <dsp:cNvPr id="0" name=""/>
        <dsp:cNvSpPr/>
      </dsp:nvSpPr>
      <dsp:spPr>
        <a:xfrm>
          <a:off x="5287927" y="2572719"/>
          <a:ext cx="1400398" cy="1400398"/>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I’ve made it</a:t>
          </a:r>
        </a:p>
      </dsp:txBody>
      <dsp:txXfrm>
        <a:off x="5493011" y="2777803"/>
        <a:ext cx="990230" cy="990230"/>
      </dsp:txXfrm>
    </dsp:sp>
    <dsp:sp modelId="{EA205975-FF2D-4E38-93B4-B3A3D027F686}">
      <dsp:nvSpPr>
        <dsp:cNvPr id="0" name=""/>
        <dsp:cNvSpPr/>
      </dsp:nvSpPr>
      <dsp:spPr>
        <a:xfrm rot="3857143">
          <a:off x="4187737" y="3453092"/>
          <a:ext cx="381723" cy="52903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4220152" y="3507312"/>
        <a:ext cx="267206" cy="317423"/>
      </dsp:txXfrm>
    </dsp:sp>
    <dsp:sp modelId="{5113F547-7B28-46DC-B726-E109338C98EA}">
      <dsp:nvSpPr>
        <dsp:cNvPr id="0" name=""/>
        <dsp:cNvSpPr/>
      </dsp:nvSpPr>
      <dsp:spPr>
        <a:xfrm>
          <a:off x="4036755" y="3998529"/>
          <a:ext cx="1628649" cy="1400398"/>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t>Quality matters</a:t>
          </a:r>
        </a:p>
      </dsp:txBody>
      <dsp:txXfrm>
        <a:off x="4275265" y="4203613"/>
        <a:ext cx="1151629" cy="990230"/>
      </dsp:txXfrm>
    </dsp:sp>
    <dsp:sp modelId="{B086A5B3-CC99-43EE-85BD-D5B0AA7AC518}">
      <dsp:nvSpPr>
        <dsp:cNvPr id="0" name=""/>
        <dsp:cNvSpPr/>
      </dsp:nvSpPr>
      <dsp:spPr>
        <a:xfrm rot="6942857">
          <a:off x="3311683" y="3450643"/>
          <a:ext cx="378753" cy="52903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rot="10800000">
        <a:off x="3393146" y="3505264"/>
        <a:ext cx="265127" cy="317423"/>
      </dsp:txXfrm>
    </dsp:sp>
    <dsp:sp modelId="{8B4CF656-D66D-4BF7-A7EF-58B4E1846F8B}">
      <dsp:nvSpPr>
        <dsp:cNvPr id="0" name=""/>
        <dsp:cNvSpPr/>
      </dsp:nvSpPr>
      <dsp:spPr>
        <a:xfrm>
          <a:off x="2166427" y="3998529"/>
          <a:ext cx="1721943" cy="1400398"/>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err="1"/>
            <a:t>Luxery</a:t>
          </a:r>
          <a:r>
            <a:rPr lang="en-US" sz="2400" kern="1200" dirty="0"/>
            <a:t> matters</a:t>
          </a:r>
        </a:p>
      </dsp:txBody>
      <dsp:txXfrm>
        <a:off x="2418600" y="4203613"/>
        <a:ext cx="1217597" cy="990230"/>
      </dsp:txXfrm>
    </dsp:sp>
    <dsp:sp modelId="{748E4BF6-5A58-4670-903B-DC2742805911}">
      <dsp:nvSpPr>
        <dsp:cNvPr id="0" name=""/>
        <dsp:cNvSpPr/>
      </dsp:nvSpPr>
      <dsp:spPr>
        <a:xfrm rot="10028571">
          <a:off x="2799233" y="2768021"/>
          <a:ext cx="288559" cy="52903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rot="10800000">
        <a:off x="2884716" y="2864197"/>
        <a:ext cx="201991" cy="317423"/>
      </dsp:txXfrm>
    </dsp:sp>
    <dsp:sp modelId="{4BD3D332-29B3-4654-A407-32724D1C25AE}">
      <dsp:nvSpPr>
        <dsp:cNvPr id="0" name=""/>
        <dsp:cNvSpPr/>
      </dsp:nvSpPr>
      <dsp:spPr>
        <a:xfrm>
          <a:off x="1084074" y="2572719"/>
          <a:ext cx="1612558" cy="1400398"/>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Environmentally aware</a:t>
          </a:r>
        </a:p>
      </dsp:txBody>
      <dsp:txXfrm>
        <a:off x="1320228" y="2777803"/>
        <a:ext cx="1140250" cy="990230"/>
      </dsp:txXfrm>
    </dsp:sp>
    <dsp:sp modelId="{61ADD3A3-B8A3-471A-9713-3864C8DC73F8}">
      <dsp:nvSpPr>
        <dsp:cNvPr id="0" name=""/>
        <dsp:cNvSpPr/>
      </dsp:nvSpPr>
      <dsp:spPr>
        <a:xfrm rot="13114286">
          <a:off x="2938651" y="1888749"/>
          <a:ext cx="366004" cy="52903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rot="10800000">
        <a:off x="3036474" y="2028787"/>
        <a:ext cx="256203" cy="317423"/>
      </dsp:txXfrm>
    </dsp:sp>
    <dsp:sp modelId="{910DCB4A-06E9-45F5-802D-5E057BA78845}">
      <dsp:nvSpPr>
        <dsp:cNvPr id="0" name=""/>
        <dsp:cNvSpPr/>
      </dsp:nvSpPr>
      <dsp:spPr>
        <a:xfrm>
          <a:off x="1595961" y="794762"/>
          <a:ext cx="1400398" cy="1400398"/>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kern="1200" dirty="0"/>
            <a:t>Off-roaders </a:t>
          </a:r>
        </a:p>
      </dsp:txBody>
      <dsp:txXfrm>
        <a:off x="1801045" y="999846"/>
        <a:ext cx="990230" cy="99023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9B5ABA-3190-4784-96DE-698676FF7F88}">
      <dsp:nvSpPr>
        <dsp:cNvPr id="0" name=""/>
        <dsp:cNvSpPr/>
      </dsp:nvSpPr>
      <dsp:spPr>
        <a:xfrm>
          <a:off x="2701213" y="1643245"/>
          <a:ext cx="2254178" cy="1399256"/>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Comic Sans MS" panose="030F0702030302020204" pitchFamily="66" charset="0"/>
            </a:rPr>
            <a:t>Targeting Strategies</a:t>
          </a:r>
        </a:p>
      </dsp:txBody>
      <dsp:txXfrm>
        <a:off x="3031330" y="1848161"/>
        <a:ext cx="1593944" cy="989424"/>
      </dsp:txXfrm>
    </dsp:sp>
    <dsp:sp modelId="{E4A540BA-B920-46ED-90DA-C0353C6D8E15}">
      <dsp:nvSpPr>
        <dsp:cNvPr id="0" name=""/>
        <dsp:cNvSpPr/>
      </dsp:nvSpPr>
      <dsp:spPr>
        <a:xfrm rot="16109945">
          <a:off x="3763554" y="1349069"/>
          <a:ext cx="88589" cy="42645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rot="10800000">
        <a:off x="3777191" y="1447644"/>
        <a:ext cx="62012" cy="255875"/>
      </dsp:txXfrm>
    </dsp:sp>
    <dsp:sp modelId="{7EDB4CE9-BF4A-4A96-9EA6-D961A5FAE922}">
      <dsp:nvSpPr>
        <dsp:cNvPr id="0" name=""/>
        <dsp:cNvSpPr/>
      </dsp:nvSpPr>
      <dsp:spPr>
        <a:xfrm>
          <a:off x="2351176" y="376313"/>
          <a:ext cx="2880016" cy="1099958"/>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Comic Sans MS" panose="030F0702030302020204" pitchFamily="66" charset="0"/>
            </a:rPr>
            <a:t>Mass Marketing</a:t>
          </a:r>
        </a:p>
        <a:p>
          <a:pPr marL="0" lvl="0" indent="0" algn="ctr" defTabSz="800100">
            <a:lnSpc>
              <a:spcPct val="90000"/>
            </a:lnSpc>
            <a:spcBef>
              <a:spcPct val="0"/>
            </a:spcBef>
            <a:spcAft>
              <a:spcPct val="35000"/>
            </a:spcAft>
            <a:buNone/>
          </a:pPr>
          <a:r>
            <a:rPr lang="en-US" sz="1800" b="1" kern="1200" dirty="0">
              <a:latin typeface="Comic Sans MS" panose="030F0702030302020204" pitchFamily="66" charset="0"/>
            </a:rPr>
            <a:t>(</a:t>
          </a:r>
          <a:r>
            <a:rPr lang="en-US" sz="1800" b="1" kern="1200" dirty="0" err="1">
              <a:latin typeface="Comic Sans MS" panose="030F0702030302020204" pitchFamily="66" charset="0"/>
            </a:rPr>
            <a:t>Undiferentiated</a:t>
          </a:r>
          <a:r>
            <a:rPr lang="en-US" sz="1600" kern="1200" dirty="0">
              <a:latin typeface="Comic Sans MS" panose="030F0702030302020204" pitchFamily="66" charset="0"/>
            </a:rPr>
            <a:t>)</a:t>
          </a:r>
        </a:p>
      </dsp:txBody>
      <dsp:txXfrm>
        <a:off x="2772945" y="537398"/>
        <a:ext cx="2036478" cy="777788"/>
      </dsp:txXfrm>
    </dsp:sp>
    <dsp:sp modelId="{CA632BD0-44B3-4262-9F15-2BB4CBC6B6B6}">
      <dsp:nvSpPr>
        <dsp:cNvPr id="0" name=""/>
        <dsp:cNvSpPr/>
      </dsp:nvSpPr>
      <dsp:spPr>
        <a:xfrm rot="21541971">
          <a:off x="4959170" y="2110469"/>
          <a:ext cx="10110" cy="42645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4959170" y="2195786"/>
        <a:ext cx="7077" cy="255875"/>
      </dsp:txXfrm>
    </dsp:sp>
    <dsp:sp modelId="{8B2BB591-EA00-4BE8-AB60-488D54488EC1}">
      <dsp:nvSpPr>
        <dsp:cNvPr id="0" name=""/>
        <dsp:cNvSpPr/>
      </dsp:nvSpPr>
      <dsp:spPr>
        <a:xfrm>
          <a:off x="4973295" y="1674850"/>
          <a:ext cx="2553199" cy="1254286"/>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err="1">
              <a:latin typeface="Comic Sans MS" panose="030F0702030302020204" pitchFamily="66" charset="0"/>
            </a:rPr>
            <a:t>Diferentiated</a:t>
          </a:r>
          <a:r>
            <a:rPr lang="en-US" sz="2000" b="1" kern="1200" dirty="0">
              <a:latin typeface="Comic Sans MS" panose="030F0702030302020204" pitchFamily="66" charset="0"/>
            </a:rPr>
            <a:t> Marketing </a:t>
          </a:r>
        </a:p>
      </dsp:txBody>
      <dsp:txXfrm>
        <a:off x="5347202" y="1858536"/>
        <a:ext cx="1805385" cy="886914"/>
      </dsp:txXfrm>
    </dsp:sp>
    <dsp:sp modelId="{28FBA577-2534-4652-A03F-42353BA68673}">
      <dsp:nvSpPr>
        <dsp:cNvPr id="0" name=""/>
        <dsp:cNvSpPr/>
      </dsp:nvSpPr>
      <dsp:spPr>
        <a:xfrm rot="5358524">
          <a:off x="3781903" y="2931880"/>
          <a:ext cx="112156" cy="42645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3798524" y="3000349"/>
        <a:ext cx="78509" cy="255875"/>
      </dsp:txXfrm>
    </dsp:sp>
    <dsp:sp modelId="{6D81B951-8170-45C4-BD8C-85CE4E23E377}">
      <dsp:nvSpPr>
        <dsp:cNvPr id="0" name=""/>
        <dsp:cNvSpPr/>
      </dsp:nvSpPr>
      <dsp:spPr>
        <a:xfrm>
          <a:off x="2575117" y="3254071"/>
          <a:ext cx="2543491" cy="1254286"/>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b="1" kern="1200" dirty="0">
              <a:latin typeface="Comic Sans MS" panose="030F0702030302020204" pitchFamily="66" charset="0"/>
            </a:rPr>
            <a:t>Niche Marketing</a:t>
          </a:r>
        </a:p>
      </dsp:txBody>
      <dsp:txXfrm>
        <a:off x="2947603" y="3437757"/>
        <a:ext cx="1798519" cy="886914"/>
      </dsp:txXfrm>
    </dsp:sp>
    <dsp:sp modelId="{62A52A90-81C7-4818-A633-4F0C71F37104}">
      <dsp:nvSpPr>
        <dsp:cNvPr id="0" name=""/>
        <dsp:cNvSpPr/>
      </dsp:nvSpPr>
      <dsp:spPr>
        <a:xfrm rot="10859962">
          <a:off x="2658703" y="2109507"/>
          <a:ext cx="30357" cy="42645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rot="10800000">
        <a:off x="2667809" y="2194877"/>
        <a:ext cx="21250" cy="255875"/>
      </dsp:txXfrm>
    </dsp:sp>
    <dsp:sp modelId="{0D4F09BB-DC42-44CD-A41B-1F32B799CAC6}">
      <dsp:nvSpPr>
        <dsp:cNvPr id="0" name=""/>
        <dsp:cNvSpPr/>
      </dsp:nvSpPr>
      <dsp:spPr>
        <a:xfrm>
          <a:off x="323384" y="1674840"/>
          <a:ext cx="2321608" cy="1254286"/>
        </a:xfrm>
        <a:prstGeom prst="ellipse">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US" sz="2100" kern="1200" dirty="0">
              <a:latin typeface="Comic Sans MS" panose="030F0702030302020204" pitchFamily="66" charset="0"/>
            </a:rPr>
            <a:t>Micro</a:t>
          </a:r>
        </a:p>
        <a:p>
          <a:pPr marL="0" lvl="0" indent="0" algn="ctr" defTabSz="933450">
            <a:lnSpc>
              <a:spcPct val="90000"/>
            </a:lnSpc>
            <a:spcBef>
              <a:spcPct val="0"/>
            </a:spcBef>
            <a:spcAft>
              <a:spcPct val="35000"/>
            </a:spcAft>
            <a:buNone/>
          </a:pPr>
          <a:r>
            <a:rPr lang="en-US" sz="2100" kern="1200" dirty="0">
              <a:latin typeface="Comic Sans MS" panose="030F0702030302020204" pitchFamily="66" charset="0"/>
            </a:rPr>
            <a:t>Marketing</a:t>
          </a:r>
        </a:p>
      </dsp:txBody>
      <dsp:txXfrm>
        <a:off x="663376" y="1858526"/>
        <a:ext cx="1641624" cy="88691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65E49B-9EDE-4FA3-ABAF-C0D82BFE8A8E}">
      <dsp:nvSpPr>
        <dsp:cNvPr id="0" name=""/>
        <dsp:cNvSpPr/>
      </dsp:nvSpPr>
      <dsp:spPr>
        <a:xfrm>
          <a:off x="2545184" y="1289700"/>
          <a:ext cx="3030731" cy="3030731"/>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r>
            <a:rPr lang="en-US" sz="6500" kern="1200" dirty="0">
              <a:solidFill>
                <a:schemeClr val="bg1"/>
              </a:solidFill>
            </a:rPr>
            <a:t>7Ps</a:t>
          </a:r>
        </a:p>
      </dsp:txBody>
      <dsp:txXfrm>
        <a:off x="2989024" y="1733540"/>
        <a:ext cx="2143051" cy="2143051"/>
      </dsp:txXfrm>
    </dsp:sp>
    <dsp:sp modelId="{972B51FD-2A02-42CA-977D-71F926856E17}">
      <dsp:nvSpPr>
        <dsp:cNvPr id="0" name=""/>
        <dsp:cNvSpPr/>
      </dsp:nvSpPr>
      <dsp:spPr>
        <a:xfrm>
          <a:off x="3118069" y="-306259"/>
          <a:ext cx="1875325" cy="2273018"/>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chemeClr val="bg1"/>
              </a:solidFill>
            </a:rPr>
            <a:t>Product</a:t>
          </a:r>
        </a:p>
        <a:p>
          <a:pPr marL="0" lvl="0" indent="0" algn="ctr" defTabSz="622300">
            <a:lnSpc>
              <a:spcPct val="90000"/>
            </a:lnSpc>
            <a:spcBef>
              <a:spcPct val="0"/>
            </a:spcBef>
            <a:spcAft>
              <a:spcPct val="35000"/>
            </a:spcAft>
            <a:buNone/>
          </a:pPr>
          <a:r>
            <a:rPr lang="en-US" sz="1400" kern="1200" dirty="0">
              <a:solidFill>
                <a:schemeClr val="bg1"/>
              </a:solidFill>
            </a:rPr>
            <a:t>Design </a:t>
          </a:r>
        </a:p>
        <a:p>
          <a:pPr marL="0" lvl="0" indent="0" algn="ctr" defTabSz="622300">
            <a:lnSpc>
              <a:spcPct val="90000"/>
            </a:lnSpc>
            <a:spcBef>
              <a:spcPct val="0"/>
            </a:spcBef>
            <a:spcAft>
              <a:spcPct val="35000"/>
            </a:spcAft>
            <a:buNone/>
          </a:pPr>
          <a:r>
            <a:rPr lang="en-US" sz="1400" kern="1200" dirty="0">
              <a:solidFill>
                <a:schemeClr val="bg1"/>
              </a:solidFill>
            </a:rPr>
            <a:t>Usefulness </a:t>
          </a:r>
        </a:p>
        <a:p>
          <a:pPr marL="0" lvl="0" indent="0" algn="ctr" defTabSz="622300">
            <a:lnSpc>
              <a:spcPct val="90000"/>
            </a:lnSpc>
            <a:spcBef>
              <a:spcPct val="0"/>
            </a:spcBef>
            <a:spcAft>
              <a:spcPct val="35000"/>
            </a:spcAft>
            <a:buNone/>
          </a:pPr>
          <a:r>
            <a:rPr lang="en-US" sz="1400" kern="1200" dirty="0" err="1">
              <a:solidFill>
                <a:schemeClr val="bg1"/>
              </a:solidFill>
            </a:rPr>
            <a:t>Convinience</a:t>
          </a:r>
          <a:r>
            <a:rPr lang="en-US" sz="1400" kern="1200" dirty="0">
              <a:solidFill>
                <a:schemeClr val="bg1"/>
              </a:solidFill>
            </a:rPr>
            <a:t> </a:t>
          </a:r>
        </a:p>
        <a:p>
          <a:pPr marL="0" lvl="0" indent="0" algn="ctr" defTabSz="622300">
            <a:lnSpc>
              <a:spcPct val="90000"/>
            </a:lnSpc>
            <a:spcBef>
              <a:spcPct val="0"/>
            </a:spcBef>
            <a:spcAft>
              <a:spcPct val="35000"/>
            </a:spcAft>
            <a:buNone/>
          </a:pPr>
          <a:r>
            <a:rPr lang="en-US" sz="1400" kern="1200" dirty="0">
              <a:solidFill>
                <a:schemeClr val="bg1"/>
              </a:solidFill>
            </a:rPr>
            <a:t>Quality </a:t>
          </a:r>
        </a:p>
        <a:p>
          <a:pPr marL="0" lvl="0" indent="0" algn="ctr" defTabSz="622300">
            <a:lnSpc>
              <a:spcPct val="90000"/>
            </a:lnSpc>
            <a:spcBef>
              <a:spcPct val="0"/>
            </a:spcBef>
            <a:spcAft>
              <a:spcPct val="35000"/>
            </a:spcAft>
            <a:buNone/>
          </a:pPr>
          <a:r>
            <a:rPr lang="en-US" sz="1400" kern="1200" dirty="0">
              <a:solidFill>
                <a:schemeClr val="bg1"/>
              </a:solidFill>
            </a:rPr>
            <a:t>Packaging </a:t>
          </a:r>
        </a:p>
        <a:p>
          <a:pPr marL="0" lvl="0" indent="0" algn="ctr" defTabSz="622300">
            <a:lnSpc>
              <a:spcPct val="90000"/>
            </a:lnSpc>
            <a:spcBef>
              <a:spcPct val="0"/>
            </a:spcBef>
            <a:spcAft>
              <a:spcPct val="35000"/>
            </a:spcAft>
            <a:buNone/>
          </a:pPr>
          <a:r>
            <a:rPr lang="en-US" sz="1400" kern="1200" dirty="0">
              <a:solidFill>
                <a:schemeClr val="bg1"/>
              </a:solidFill>
            </a:rPr>
            <a:t>Branding </a:t>
          </a:r>
        </a:p>
        <a:p>
          <a:pPr marL="0" lvl="0" indent="0" algn="ctr" defTabSz="622300">
            <a:lnSpc>
              <a:spcPct val="90000"/>
            </a:lnSpc>
            <a:spcBef>
              <a:spcPct val="0"/>
            </a:spcBef>
            <a:spcAft>
              <a:spcPct val="35000"/>
            </a:spcAft>
            <a:buNone/>
          </a:pPr>
          <a:r>
            <a:rPr lang="en-US" sz="1400" kern="1200" dirty="0">
              <a:solidFill>
                <a:schemeClr val="bg1"/>
              </a:solidFill>
            </a:rPr>
            <a:t>Warranty</a:t>
          </a:r>
          <a:r>
            <a:rPr lang="en-US" sz="1100" kern="1200" dirty="0">
              <a:solidFill>
                <a:schemeClr val="bg1"/>
              </a:solidFill>
            </a:rPr>
            <a:t> </a:t>
          </a:r>
        </a:p>
        <a:p>
          <a:pPr marL="0" lvl="0" indent="0" algn="ctr" defTabSz="622300">
            <a:lnSpc>
              <a:spcPct val="90000"/>
            </a:lnSpc>
            <a:spcBef>
              <a:spcPct val="0"/>
            </a:spcBef>
            <a:spcAft>
              <a:spcPct val="35000"/>
            </a:spcAft>
            <a:buNone/>
          </a:pPr>
          <a:endParaRPr lang="en-US" sz="900" kern="1200" dirty="0"/>
        </a:p>
      </dsp:txBody>
      <dsp:txXfrm>
        <a:off x="3392704" y="26617"/>
        <a:ext cx="1326055" cy="1607266"/>
      </dsp:txXfrm>
    </dsp:sp>
    <dsp:sp modelId="{BFD4250E-FFA3-4201-92C2-C1D75DA5E06D}">
      <dsp:nvSpPr>
        <dsp:cNvPr id="0" name=""/>
        <dsp:cNvSpPr/>
      </dsp:nvSpPr>
      <dsp:spPr>
        <a:xfrm>
          <a:off x="4695045" y="103665"/>
          <a:ext cx="2294506" cy="2399051"/>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chemeClr val="bg1"/>
              </a:solidFill>
            </a:rPr>
            <a:t>Price</a:t>
          </a:r>
          <a:r>
            <a:rPr lang="en-US" sz="1200" kern="1200" dirty="0">
              <a:solidFill>
                <a:schemeClr val="bg1"/>
              </a:solidFill>
            </a:rPr>
            <a:t> </a:t>
          </a:r>
        </a:p>
        <a:p>
          <a:pPr marL="0" lvl="0" indent="0" algn="ctr" defTabSz="1244600">
            <a:lnSpc>
              <a:spcPct val="90000"/>
            </a:lnSpc>
            <a:spcBef>
              <a:spcPct val="0"/>
            </a:spcBef>
            <a:spcAft>
              <a:spcPct val="35000"/>
            </a:spcAft>
            <a:buNone/>
          </a:pPr>
          <a:r>
            <a:rPr lang="en-US" sz="1200" kern="1200" dirty="0">
              <a:solidFill>
                <a:schemeClr val="bg1"/>
              </a:solidFill>
            </a:rPr>
            <a:t>Strategies </a:t>
          </a:r>
        </a:p>
        <a:p>
          <a:pPr marL="0" lvl="0" indent="0" algn="ctr" defTabSz="1244600">
            <a:lnSpc>
              <a:spcPct val="90000"/>
            </a:lnSpc>
            <a:spcBef>
              <a:spcPct val="0"/>
            </a:spcBef>
            <a:spcAft>
              <a:spcPct val="35000"/>
            </a:spcAft>
            <a:buNone/>
          </a:pPr>
          <a:r>
            <a:rPr lang="en-US" sz="1200" kern="1200" dirty="0">
              <a:solidFill>
                <a:schemeClr val="bg1"/>
              </a:solidFill>
            </a:rPr>
            <a:t>Penetration </a:t>
          </a:r>
        </a:p>
        <a:p>
          <a:pPr marL="0" lvl="0" indent="0" algn="ctr" defTabSz="1244600">
            <a:lnSpc>
              <a:spcPct val="90000"/>
            </a:lnSpc>
            <a:spcBef>
              <a:spcPct val="0"/>
            </a:spcBef>
            <a:spcAft>
              <a:spcPct val="35000"/>
            </a:spcAft>
            <a:buNone/>
          </a:pPr>
          <a:r>
            <a:rPr lang="en-US" sz="1200" kern="1200" dirty="0" err="1">
              <a:solidFill>
                <a:schemeClr val="bg1"/>
              </a:solidFill>
            </a:rPr>
            <a:t>Skimmiming</a:t>
          </a:r>
          <a:r>
            <a:rPr lang="en-US" sz="1200" kern="1200" dirty="0">
              <a:solidFill>
                <a:schemeClr val="bg1"/>
              </a:solidFill>
            </a:rPr>
            <a:t> </a:t>
          </a:r>
        </a:p>
        <a:p>
          <a:pPr marL="0" lvl="0" indent="0" algn="ctr" defTabSz="1244600">
            <a:lnSpc>
              <a:spcPct val="90000"/>
            </a:lnSpc>
            <a:spcBef>
              <a:spcPct val="0"/>
            </a:spcBef>
            <a:spcAft>
              <a:spcPct val="35000"/>
            </a:spcAft>
            <a:buNone/>
          </a:pPr>
          <a:r>
            <a:rPr lang="en-US" sz="1200" kern="1200" dirty="0" err="1">
              <a:solidFill>
                <a:schemeClr val="bg1"/>
              </a:solidFill>
            </a:rPr>
            <a:t>Phsychograpical</a:t>
          </a:r>
          <a:r>
            <a:rPr lang="en-US" sz="1200" kern="1200" dirty="0">
              <a:solidFill>
                <a:schemeClr val="bg1"/>
              </a:solidFill>
            </a:rPr>
            <a:t> </a:t>
          </a:r>
        </a:p>
        <a:p>
          <a:pPr marL="0" lvl="0" indent="0" algn="ctr" defTabSz="1244600">
            <a:lnSpc>
              <a:spcPct val="90000"/>
            </a:lnSpc>
            <a:spcBef>
              <a:spcPct val="0"/>
            </a:spcBef>
            <a:spcAft>
              <a:spcPct val="35000"/>
            </a:spcAft>
            <a:buNone/>
          </a:pPr>
          <a:r>
            <a:rPr lang="en-US" sz="1200" kern="1200" dirty="0">
              <a:solidFill>
                <a:schemeClr val="bg1"/>
              </a:solidFill>
            </a:rPr>
            <a:t>Cost plus </a:t>
          </a:r>
        </a:p>
        <a:p>
          <a:pPr marL="0" lvl="0" indent="0" algn="ctr" defTabSz="1244600">
            <a:lnSpc>
              <a:spcPct val="90000"/>
            </a:lnSpc>
            <a:spcBef>
              <a:spcPct val="0"/>
            </a:spcBef>
            <a:spcAft>
              <a:spcPct val="35000"/>
            </a:spcAft>
            <a:buNone/>
          </a:pPr>
          <a:r>
            <a:rPr lang="en-US" sz="1200" kern="1200" dirty="0">
              <a:solidFill>
                <a:schemeClr val="bg1"/>
              </a:solidFill>
            </a:rPr>
            <a:t>Loss leader </a:t>
          </a:r>
          <a:endParaRPr lang="en-US" sz="900" kern="1200" dirty="0">
            <a:solidFill>
              <a:schemeClr val="bg1"/>
            </a:solidFill>
          </a:endParaRPr>
        </a:p>
      </dsp:txBody>
      <dsp:txXfrm>
        <a:off x="5031068" y="454998"/>
        <a:ext cx="1622460" cy="1696385"/>
      </dsp:txXfrm>
    </dsp:sp>
    <dsp:sp modelId="{AEA52EE6-81C4-48D7-90E5-9BE89065A9DC}">
      <dsp:nvSpPr>
        <dsp:cNvPr id="0" name=""/>
        <dsp:cNvSpPr/>
      </dsp:nvSpPr>
      <dsp:spPr>
        <a:xfrm>
          <a:off x="4764977" y="2211835"/>
          <a:ext cx="2424100" cy="2065322"/>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solidFill>
                <a:schemeClr val="bg1"/>
              </a:solidFill>
            </a:rPr>
            <a:t>Place</a:t>
          </a:r>
        </a:p>
        <a:p>
          <a:pPr marL="0" lvl="0" indent="0" algn="ctr" defTabSz="800100">
            <a:lnSpc>
              <a:spcPct val="90000"/>
            </a:lnSpc>
            <a:spcBef>
              <a:spcPct val="0"/>
            </a:spcBef>
            <a:spcAft>
              <a:spcPct val="35000"/>
            </a:spcAft>
            <a:buNone/>
          </a:pPr>
          <a:r>
            <a:rPr lang="en-US" sz="1100" kern="1200" dirty="0">
              <a:solidFill>
                <a:schemeClr val="bg1"/>
              </a:solidFill>
            </a:rPr>
            <a:t>Retail </a:t>
          </a:r>
        </a:p>
        <a:p>
          <a:pPr marL="0" lvl="0" indent="0" algn="ctr" defTabSz="800100">
            <a:lnSpc>
              <a:spcPct val="90000"/>
            </a:lnSpc>
            <a:spcBef>
              <a:spcPct val="0"/>
            </a:spcBef>
            <a:spcAft>
              <a:spcPct val="35000"/>
            </a:spcAft>
            <a:buNone/>
          </a:pPr>
          <a:r>
            <a:rPr lang="en-US" sz="1100" kern="1200" dirty="0">
              <a:solidFill>
                <a:schemeClr val="bg1"/>
              </a:solidFill>
            </a:rPr>
            <a:t>Wholesale </a:t>
          </a:r>
        </a:p>
        <a:p>
          <a:pPr marL="0" lvl="0" indent="0" algn="ctr" defTabSz="800100">
            <a:lnSpc>
              <a:spcPct val="90000"/>
            </a:lnSpc>
            <a:spcBef>
              <a:spcPct val="0"/>
            </a:spcBef>
            <a:spcAft>
              <a:spcPct val="35000"/>
            </a:spcAft>
            <a:buNone/>
          </a:pPr>
          <a:r>
            <a:rPr lang="en-US" sz="1100" kern="1200" dirty="0">
              <a:solidFill>
                <a:schemeClr val="bg1"/>
              </a:solidFill>
            </a:rPr>
            <a:t>Mall order </a:t>
          </a:r>
        </a:p>
        <a:p>
          <a:pPr marL="0" lvl="0" indent="0" algn="ctr" defTabSz="800100">
            <a:lnSpc>
              <a:spcPct val="90000"/>
            </a:lnSpc>
            <a:spcBef>
              <a:spcPct val="0"/>
            </a:spcBef>
            <a:spcAft>
              <a:spcPct val="35000"/>
            </a:spcAft>
            <a:buNone/>
          </a:pPr>
          <a:r>
            <a:rPr lang="en-US" sz="1100" kern="1200" dirty="0" err="1">
              <a:solidFill>
                <a:schemeClr val="bg1"/>
              </a:solidFill>
            </a:rPr>
            <a:t>Intenet</a:t>
          </a:r>
          <a:r>
            <a:rPr lang="en-US" sz="1100" kern="1200" dirty="0">
              <a:solidFill>
                <a:schemeClr val="bg1"/>
              </a:solidFill>
            </a:rPr>
            <a:t> </a:t>
          </a:r>
        </a:p>
        <a:p>
          <a:pPr marL="0" lvl="0" indent="0" algn="ctr" defTabSz="800100">
            <a:lnSpc>
              <a:spcPct val="90000"/>
            </a:lnSpc>
            <a:spcBef>
              <a:spcPct val="0"/>
            </a:spcBef>
            <a:spcAft>
              <a:spcPct val="35000"/>
            </a:spcAft>
            <a:buNone/>
          </a:pPr>
          <a:r>
            <a:rPr lang="en-US" sz="1100" kern="1200" dirty="0">
              <a:solidFill>
                <a:schemeClr val="bg1"/>
              </a:solidFill>
            </a:rPr>
            <a:t>Direct sales </a:t>
          </a:r>
        </a:p>
        <a:p>
          <a:pPr marL="0" lvl="0" indent="0" algn="ctr" defTabSz="800100">
            <a:lnSpc>
              <a:spcPct val="90000"/>
            </a:lnSpc>
            <a:spcBef>
              <a:spcPct val="0"/>
            </a:spcBef>
            <a:spcAft>
              <a:spcPct val="35000"/>
            </a:spcAft>
            <a:buNone/>
          </a:pPr>
          <a:r>
            <a:rPr lang="en-US" sz="1100" kern="1200" dirty="0">
              <a:solidFill>
                <a:schemeClr val="bg1"/>
              </a:solidFill>
            </a:rPr>
            <a:t>Multi channel</a:t>
          </a:r>
          <a:r>
            <a:rPr lang="en-US" sz="1100" kern="1200" dirty="0"/>
            <a:t>s  </a:t>
          </a:r>
          <a:endParaRPr lang="en-US" sz="900" kern="1200" dirty="0"/>
        </a:p>
      </dsp:txBody>
      <dsp:txXfrm>
        <a:off x="5119978" y="2514294"/>
        <a:ext cx="1714098" cy="1460404"/>
      </dsp:txXfrm>
    </dsp:sp>
    <dsp:sp modelId="{18578960-BB71-4392-ADE2-A8936A5E33E2}">
      <dsp:nvSpPr>
        <dsp:cNvPr id="0" name=""/>
        <dsp:cNvSpPr/>
      </dsp:nvSpPr>
      <dsp:spPr>
        <a:xfrm>
          <a:off x="3861613" y="3519187"/>
          <a:ext cx="2120572" cy="2130255"/>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chemeClr val="bg1"/>
              </a:solidFill>
            </a:rPr>
            <a:t>Promotion </a:t>
          </a:r>
        </a:p>
        <a:p>
          <a:pPr marL="0" lvl="0" indent="0" algn="ctr" defTabSz="533400">
            <a:lnSpc>
              <a:spcPct val="90000"/>
            </a:lnSpc>
            <a:spcBef>
              <a:spcPct val="0"/>
            </a:spcBef>
            <a:spcAft>
              <a:spcPct val="35000"/>
            </a:spcAft>
            <a:buNone/>
          </a:pPr>
          <a:r>
            <a:rPr lang="en-US" sz="1200" kern="1200" dirty="0">
              <a:solidFill>
                <a:schemeClr val="bg1"/>
              </a:solidFill>
            </a:rPr>
            <a:t>Special offers </a:t>
          </a:r>
        </a:p>
        <a:p>
          <a:pPr marL="0" lvl="0" indent="0" algn="ctr" defTabSz="533400">
            <a:lnSpc>
              <a:spcPct val="90000"/>
            </a:lnSpc>
            <a:spcBef>
              <a:spcPct val="0"/>
            </a:spcBef>
            <a:spcAft>
              <a:spcPct val="35000"/>
            </a:spcAft>
            <a:buNone/>
          </a:pPr>
          <a:r>
            <a:rPr lang="en-US" sz="1200" kern="1200" dirty="0">
              <a:solidFill>
                <a:schemeClr val="bg1"/>
              </a:solidFill>
            </a:rPr>
            <a:t>Advertising </a:t>
          </a:r>
        </a:p>
        <a:p>
          <a:pPr marL="0" lvl="0" indent="0" algn="ctr" defTabSz="533400">
            <a:lnSpc>
              <a:spcPct val="90000"/>
            </a:lnSpc>
            <a:spcBef>
              <a:spcPct val="0"/>
            </a:spcBef>
            <a:spcAft>
              <a:spcPct val="35000"/>
            </a:spcAft>
            <a:buNone/>
          </a:pPr>
          <a:r>
            <a:rPr lang="en-US" sz="1200" kern="1200" dirty="0">
              <a:solidFill>
                <a:schemeClr val="bg1"/>
              </a:solidFill>
            </a:rPr>
            <a:t>Endorsement </a:t>
          </a:r>
        </a:p>
        <a:p>
          <a:pPr marL="0" lvl="0" indent="0" algn="ctr" defTabSz="533400">
            <a:lnSpc>
              <a:spcPct val="90000"/>
            </a:lnSpc>
            <a:spcBef>
              <a:spcPct val="0"/>
            </a:spcBef>
            <a:spcAft>
              <a:spcPct val="35000"/>
            </a:spcAft>
            <a:buNone/>
          </a:pPr>
          <a:r>
            <a:rPr lang="en-US" sz="1200" kern="1200" dirty="0">
              <a:solidFill>
                <a:schemeClr val="bg1"/>
              </a:solidFill>
            </a:rPr>
            <a:t>User trails </a:t>
          </a:r>
        </a:p>
        <a:p>
          <a:pPr marL="0" lvl="0" indent="0" algn="ctr" defTabSz="533400">
            <a:lnSpc>
              <a:spcPct val="90000"/>
            </a:lnSpc>
            <a:spcBef>
              <a:spcPct val="0"/>
            </a:spcBef>
            <a:spcAft>
              <a:spcPct val="35000"/>
            </a:spcAft>
            <a:buNone/>
          </a:pPr>
          <a:r>
            <a:rPr lang="en-US" sz="1200" kern="1200" dirty="0">
              <a:solidFill>
                <a:schemeClr val="bg1"/>
              </a:solidFill>
            </a:rPr>
            <a:t>Direct mailing </a:t>
          </a:r>
        </a:p>
        <a:p>
          <a:pPr marL="0" lvl="0" indent="0" algn="ctr" defTabSz="533400">
            <a:lnSpc>
              <a:spcPct val="90000"/>
            </a:lnSpc>
            <a:spcBef>
              <a:spcPct val="0"/>
            </a:spcBef>
            <a:spcAft>
              <a:spcPct val="35000"/>
            </a:spcAft>
            <a:buNone/>
          </a:pPr>
          <a:r>
            <a:rPr lang="en-US" sz="1200" kern="1200" dirty="0">
              <a:solidFill>
                <a:schemeClr val="bg1"/>
              </a:solidFill>
            </a:rPr>
            <a:t>Leaflets/poster</a:t>
          </a:r>
        </a:p>
        <a:p>
          <a:pPr marL="0" lvl="0" indent="0" algn="ctr" defTabSz="533400">
            <a:lnSpc>
              <a:spcPct val="90000"/>
            </a:lnSpc>
            <a:spcBef>
              <a:spcPct val="0"/>
            </a:spcBef>
            <a:spcAft>
              <a:spcPct val="35000"/>
            </a:spcAft>
            <a:buNone/>
          </a:pPr>
          <a:r>
            <a:rPr lang="en-US" sz="1200" kern="1200" dirty="0">
              <a:solidFill>
                <a:schemeClr val="bg1"/>
              </a:solidFill>
            </a:rPr>
            <a:t>Free gifts </a:t>
          </a:r>
        </a:p>
        <a:p>
          <a:pPr marL="0" lvl="0" indent="0" algn="ctr" defTabSz="533400">
            <a:lnSpc>
              <a:spcPct val="90000"/>
            </a:lnSpc>
            <a:spcBef>
              <a:spcPct val="0"/>
            </a:spcBef>
            <a:spcAft>
              <a:spcPct val="35000"/>
            </a:spcAft>
            <a:buNone/>
          </a:pPr>
          <a:endParaRPr lang="en-US" sz="900" kern="1200" dirty="0"/>
        </a:p>
      </dsp:txBody>
      <dsp:txXfrm>
        <a:off x="4172164" y="3831156"/>
        <a:ext cx="1499470" cy="1506317"/>
      </dsp:txXfrm>
    </dsp:sp>
    <dsp:sp modelId="{C30ED29C-B67D-4DDA-95C8-DC4662247483}">
      <dsp:nvSpPr>
        <dsp:cNvPr id="0" name=""/>
        <dsp:cNvSpPr/>
      </dsp:nvSpPr>
      <dsp:spPr>
        <a:xfrm>
          <a:off x="2278427" y="3493046"/>
          <a:ext cx="2039940" cy="2182535"/>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chemeClr val="bg1"/>
              </a:solidFill>
            </a:rPr>
            <a:t>People </a:t>
          </a:r>
        </a:p>
        <a:p>
          <a:pPr marL="0" lvl="0" indent="0" algn="ctr" defTabSz="622300">
            <a:lnSpc>
              <a:spcPct val="90000"/>
            </a:lnSpc>
            <a:spcBef>
              <a:spcPct val="0"/>
            </a:spcBef>
            <a:spcAft>
              <a:spcPct val="35000"/>
            </a:spcAft>
            <a:buNone/>
          </a:pPr>
          <a:r>
            <a:rPr lang="en-US" sz="1400" kern="1200" dirty="0">
              <a:solidFill>
                <a:schemeClr val="bg1"/>
              </a:solidFill>
            </a:rPr>
            <a:t>Employees </a:t>
          </a:r>
        </a:p>
        <a:p>
          <a:pPr marL="0" lvl="0" indent="0" algn="ctr" defTabSz="622300">
            <a:lnSpc>
              <a:spcPct val="90000"/>
            </a:lnSpc>
            <a:spcBef>
              <a:spcPct val="0"/>
            </a:spcBef>
            <a:spcAft>
              <a:spcPct val="35000"/>
            </a:spcAft>
            <a:buNone/>
          </a:pPr>
          <a:r>
            <a:rPr lang="en-US" sz="1400" kern="1200" dirty="0">
              <a:solidFill>
                <a:schemeClr val="bg1"/>
              </a:solidFill>
            </a:rPr>
            <a:t>Management </a:t>
          </a:r>
        </a:p>
        <a:p>
          <a:pPr marL="0" lvl="0" indent="0" algn="ctr" defTabSz="622300">
            <a:lnSpc>
              <a:spcPct val="90000"/>
            </a:lnSpc>
            <a:spcBef>
              <a:spcPct val="0"/>
            </a:spcBef>
            <a:spcAft>
              <a:spcPct val="35000"/>
            </a:spcAft>
            <a:buNone/>
          </a:pPr>
          <a:r>
            <a:rPr lang="en-US" sz="1400" kern="1200" dirty="0">
              <a:solidFill>
                <a:schemeClr val="bg1"/>
              </a:solidFill>
            </a:rPr>
            <a:t>Culture </a:t>
          </a:r>
        </a:p>
        <a:p>
          <a:pPr marL="0" lvl="0" indent="0" algn="ctr" defTabSz="622300">
            <a:lnSpc>
              <a:spcPct val="90000"/>
            </a:lnSpc>
            <a:spcBef>
              <a:spcPct val="0"/>
            </a:spcBef>
            <a:spcAft>
              <a:spcPct val="35000"/>
            </a:spcAft>
            <a:buNone/>
          </a:pPr>
          <a:r>
            <a:rPr lang="en-US" sz="1400" kern="1200" dirty="0">
              <a:solidFill>
                <a:schemeClr val="bg1"/>
              </a:solidFill>
            </a:rPr>
            <a:t>Customer service </a:t>
          </a:r>
        </a:p>
      </dsp:txBody>
      <dsp:txXfrm>
        <a:off x="2577169" y="3812671"/>
        <a:ext cx="1442456" cy="1543285"/>
      </dsp:txXfrm>
    </dsp:sp>
    <dsp:sp modelId="{44865AD2-81AD-4490-851E-8AA2747F6F88}">
      <dsp:nvSpPr>
        <dsp:cNvPr id="0" name=""/>
        <dsp:cNvSpPr/>
      </dsp:nvSpPr>
      <dsp:spPr>
        <a:xfrm>
          <a:off x="1103578" y="2286157"/>
          <a:ext cx="2053699" cy="1916695"/>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chemeClr val="bg1"/>
              </a:solidFill>
            </a:rPr>
            <a:t>Process</a:t>
          </a:r>
        </a:p>
        <a:p>
          <a:pPr marL="0" lvl="0" indent="0" algn="ctr" defTabSz="622300">
            <a:lnSpc>
              <a:spcPct val="90000"/>
            </a:lnSpc>
            <a:spcBef>
              <a:spcPct val="0"/>
            </a:spcBef>
            <a:spcAft>
              <a:spcPct val="35000"/>
            </a:spcAft>
            <a:buNone/>
          </a:pPr>
          <a:r>
            <a:rPr lang="en-US" sz="1400" kern="1200" dirty="0">
              <a:solidFill>
                <a:schemeClr val="bg1"/>
              </a:solidFill>
            </a:rPr>
            <a:t>Especially relevant to service industry</a:t>
          </a:r>
        </a:p>
        <a:p>
          <a:pPr marL="0" lvl="0" indent="0" algn="ctr" defTabSz="622300">
            <a:lnSpc>
              <a:spcPct val="90000"/>
            </a:lnSpc>
            <a:spcBef>
              <a:spcPct val="0"/>
            </a:spcBef>
            <a:spcAft>
              <a:spcPct val="35000"/>
            </a:spcAft>
            <a:buNone/>
          </a:pPr>
          <a:r>
            <a:rPr lang="en-US" sz="1400" kern="1200" dirty="0">
              <a:solidFill>
                <a:schemeClr val="bg1"/>
              </a:solidFill>
            </a:rPr>
            <a:t>How are services consumed </a:t>
          </a:r>
        </a:p>
      </dsp:txBody>
      <dsp:txXfrm>
        <a:off x="1404335" y="2566850"/>
        <a:ext cx="1452185" cy="1355309"/>
      </dsp:txXfrm>
    </dsp:sp>
    <dsp:sp modelId="{5E1A78F7-B130-4FE9-AA41-32FCBF193E6B}">
      <dsp:nvSpPr>
        <dsp:cNvPr id="0" name=""/>
        <dsp:cNvSpPr/>
      </dsp:nvSpPr>
      <dsp:spPr>
        <a:xfrm>
          <a:off x="1382836" y="618784"/>
          <a:ext cx="2257849" cy="2065883"/>
        </a:xfrm>
        <a:prstGeom prst="ellipse">
          <a:avLst/>
        </a:prstGeom>
        <a:solidFill>
          <a:schemeClr val="accent1">
            <a:alpha val="5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chemeClr val="bg1"/>
              </a:solidFill>
            </a:rPr>
            <a:t>Physical Environment</a:t>
          </a:r>
        </a:p>
        <a:p>
          <a:pPr marL="0" lvl="0" indent="0" algn="ctr" defTabSz="622300">
            <a:lnSpc>
              <a:spcPct val="90000"/>
            </a:lnSpc>
            <a:spcBef>
              <a:spcPct val="0"/>
            </a:spcBef>
            <a:spcAft>
              <a:spcPct val="35000"/>
            </a:spcAft>
            <a:buNone/>
          </a:pPr>
          <a:r>
            <a:rPr lang="en-US" sz="1400" kern="1200" dirty="0">
              <a:solidFill>
                <a:schemeClr val="bg1"/>
              </a:solidFill>
            </a:rPr>
            <a:t>Smart </a:t>
          </a:r>
        </a:p>
        <a:p>
          <a:pPr marL="0" lvl="0" indent="0" algn="ctr" defTabSz="622300">
            <a:lnSpc>
              <a:spcPct val="90000"/>
            </a:lnSpc>
            <a:spcBef>
              <a:spcPct val="0"/>
            </a:spcBef>
            <a:spcAft>
              <a:spcPct val="35000"/>
            </a:spcAft>
            <a:buNone/>
          </a:pPr>
          <a:r>
            <a:rPr lang="en-US" sz="1400" kern="1200" dirty="0">
              <a:solidFill>
                <a:schemeClr val="bg1"/>
              </a:solidFill>
            </a:rPr>
            <a:t>Interface </a:t>
          </a:r>
        </a:p>
        <a:p>
          <a:pPr marL="0" lvl="0" indent="0" algn="ctr" defTabSz="622300">
            <a:lnSpc>
              <a:spcPct val="90000"/>
            </a:lnSpc>
            <a:spcBef>
              <a:spcPct val="0"/>
            </a:spcBef>
            <a:spcAft>
              <a:spcPct val="35000"/>
            </a:spcAft>
            <a:buNone/>
          </a:pPr>
          <a:r>
            <a:rPr lang="en-US" sz="1400" kern="1200" dirty="0">
              <a:solidFill>
                <a:schemeClr val="bg1"/>
              </a:solidFill>
            </a:rPr>
            <a:t>Facilities  </a:t>
          </a:r>
        </a:p>
      </dsp:txBody>
      <dsp:txXfrm>
        <a:off x="1713490" y="921326"/>
        <a:ext cx="1596541" cy="1460799"/>
      </dsp:txXfrm>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96319" y="802299"/>
            <a:ext cx="5618515" cy="2541431"/>
          </a:xfrm>
        </p:spPr>
        <p:txBody>
          <a:bodyPr bIns="0" anchor="b">
            <a:normAutofit/>
          </a:bodyPr>
          <a:lstStyle>
            <a:lvl1pPr algn="l">
              <a:defRPr sz="5400"/>
            </a:lvl1pPr>
          </a:lstStyle>
          <a:p>
            <a:r>
              <a:rPr lang="en-US"/>
              <a:t>Click to edit Master title style</a:t>
            </a:r>
            <a:endParaRPr lang="en-US" dirty="0"/>
          </a:p>
        </p:txBody>
      </p:sp>
      <p:sp>
        <p:nvSpPr>
          <p:cNvPr id="3" name="Subtitle 2"/>
          <p:cNvSpPr>
            <a:spLocks noGrp="1"/>
          </p:cNvSpPr>
          <p:nvPr>
            <p:ph type="subTitle" idx="1"/>
          </p:nvPr>
        </p:nvSpPr>
        <p:spPr>
          <a:xfrm>
            <a:off x="2396319" y="3531205"/>
            <a:ext cx="5618515" cy="977621"/>
          </a:xfrm>
        </p:spPr>
        <p:txBody>
          <a:bodyPr tIns="91440" bIns="91440">
            <a:normAutofit/>
          </a:bodyPr>
          <a:lstStyle>
            <a:lvl1pPr marL="0" indent="0" algn="l">
              <a:buNone/>
              <a:defRPr sz="1600" b="0" cap="all"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76350FE-EC7C-4034-A616-B5F886327A85}" type="datetimeFigureOut">
              <a:rPr lang="en-US" smtClean="0"/>
              <a:t>1/29/2024</a:t>
            </a:fld>
            <a:endParaRPr lang="en-US"/>
          </a:p>
        </p:txBody>
      </p:sp>
      <p:sp>
        <p:nvSpPr>
          <p:cNvPr id="5" name="Footer Placeholder 4"/>
          <p:cNvSpPr>
            <a:spLocks noGrp="1"/>
          </p:cNvSpPr>
          <p:nvPr>
            <p:ph type="ftr" sz="quarter" idx="11"/>
          </p:nvPr>
        </p:nvSpPr>
        <p:spPr>
          <a:xfrm>
            <a:off x="2396319" y="329308"/>
            <a:ext cx="3086292" cy="309201"/>
          </a:xfrm>
        </p:spPr>
        <p:txBody>
          <a:bodyPr/>
          <a:lstStyle/>
          <a:p>
            <a:endParaRPr lang="en-US"/>
          </a:p>
        </p:txBody>
      </p:sp>
      <p:sp>
        <p:nvSpPr>
          <p:cNvPr id="6" name="Slide Number Placeholder 5"/>
          <p:cNvSpPr>
            <a:spLocks noGrp="1"/>
          </p:cNvSpPr>
          <p:nvPr>
            <p:ph type="sldNum" sz="quarter" idx="12"/>
          </p:nvPr>
        </p:nvSpPr>
        <p:spPr>
          <a:xfrm>
            <a:off x="1434703" y="798973"/>
            <a:ext cx="802005" cy="503578"/>
          </a:xfrm>
        </p:spPr>
        <p:txBody>
          <a:bodyPr/>
          <a:lstStyle/>
          <a:p>
            <a:fld id="{CACA5A0A-766A-48FC-BE6C-9F686E982C96}" type="slidenum">
              <a:rPr lang="en-US" smtClean="0"/>
              <a:t>‹#›</a:t>
            </a:fld>
            <a:endParaRPr lang="en-US"/>
          </a:p>
        </p:txBody>
      </p:sp>
      <p:cxnSp>
        <p:nvCxnSpPr>
          <p:cNvPr id="15" name="Straight Connector 14"/>
          <p:cNvCxnSpPr/>
          <p:nvPr/>
        </p:nvCxnSpPr>
        <p:spPr>
          <a:xfrm>
            <a:off x="2396319" y="3528542"/>
            <a:ext cx="561851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877507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6350FE-EC7C-4034-A616-B5F886327A85}" type="datetimeFigureOut">
              <a:rPr lang="en-US" smtClean="0"/>
              <a:t>1/29/2024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CA5A0A-766A-48FC-BE6C-9F686E982C96}"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59077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3491" y="1756130"/>
            <a:ext cx="5617002" cy="1887950"/>
          </a:xfrm>
        </p:spPr>
        <p:txBody>
          <a:bodyPr anchor="b">
            <a:normAutofit/>
          </a:bodyPr>
          <a:lstStyle>
            <a:lvl1pPr algn="l">
              <a:defRPr sz="3200"/>
            </a:lvl1pPr>
          </a:lstStyle>
          <a:p>
            <a:r>
              <a:rPr lang="en-US"/>
              <a:t>Click to edit Master title style</a:t>
            </a:r>
            <a:endParaRPr lang="en-US" dirty="0"/>
          </a:p>
        </p:txBody>
      </p:sp>
      <p:sp>
        <p:nvSpPr>
          <p:cNvPr id="3" name="Text Placeholder 2"/>
          <p:cNvSpPr>
            <a:spLocks noGrp="1"/>
          </p:cNvSpPr>
          <p:nvPr>
            <p:ph type="body" idx="1"/>
          </p:nvPr>
        </p:nvSpPr>
        <p:spPr>
          <a:xfrm>
            <a:off x="1443492" y="3806196"/>
            <a:ext cx="5617002" cy="1012929"/>
          </a:xfrm>
        </p:spPr>
        <p:txBody>
          <a:bodyPr tIns="91440">
            <a:normAutofit/>
          </a:bodyPr>
          <a:lstStyle>
            <a:lvl1pPr marL="0" indent="0" algn="l">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6350FE-EC7C-4034-A616-B5F886327A85}" type="datetimeFigureOut">
              <a:rPr lang="en-US" smtClean="0"/>
              <a:t>1/29/2024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CA5A0A-766A-48FC-BE6C-9F686E982C96}" type="slidenum">
              <a:rPr lang="en-US" smtClean="0"/>
              <a:t>‹#›</a:t>
            </a:fld>
            <a:endParaRPr lang="en-US"/>
          </a:p>
        </p:txBody>
      </p:sp>
      <p:cxnSp>
        <p:nvCxnSpPr>
          <p:cNvPr id="15" name="Straight Connector 14"/>
          <p:cNvCxnSpPr/>
          <p:nvPr/>
        </p:nvCxnSpPr>
        <p:spPr>
          <a:xfrm>
            <a:off x="1443491" y="3804985"/>
            <a:ext cx="561700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012098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890"/>
            <a:ext cx="6571343"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3490" y="2013936"/>
            <a:ext cx="3125871" cy="3437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89182" y="2013936"/>
            <a:ext cx="3125652" cy="3437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76350FE-EC7C-4034-A616-B5F886327A85}" type="datetimeFigureOut">
              <a:rPr lang="en-US" smtClean="0"/>
              <a:t>1/29/2024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CA5A0A-766A-48FC-BE6C-9F686E982C96}"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20456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36" name="Straight Connector 35"/>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43491" y="804164"/>
            <a:ext cx="6571344"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3491" y="2019550"/>
            <a:ext cx="3125766" cy="801943"/>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443491" y="2824270"/>
            <a:ext cx="3125766"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89182" y="2023004"/>
            <a:ext cx="3125652" cy="802237"/>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89182" y="2821491"/>
            <a:ext cx="31256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76350FE-EC7C-4034-A616-B5F886327A85}" type="datetimeFigureOut">
              <a:rPr lang="en-US" smtClean="0"/>
              <a:t>1/29/2024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ACA5A0A-766A-48FC-BE6C-9F686E982C96}" type="slidenum">
              <a:rPr lang="en-US" smtClean="0"/>
              <a:t>‹#›</a:t>
            </a:fld>
            <a:endParaRPr lang="en-US"/>
          </a:p>
        </p:txBody>
      </p:sp>
    </p:spTree>
    <p:extLst>
      <p:ext uri="{BB962C8B-B14F-4D97-AF65-F5344CB8AC3E}">
        <p14:creationId xmlns:p14="http://schemas.microsoft.com/office/powerpoint/2010/main" val="19998225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2" name="Straight Connector 31"/>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76350FE-EC7C-4034-A616-B5F886327A85}" type="datetimeFigureOut">
              <a:rPr lang="en-US" smtClean="0"/>
              <a:t>1/29/2024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ACA5A0A-766A-48FC-BE6C-9F686E982C96}" type="slidenum">
              <a:rPr lang="en-US" smtClean="0"/>
              <a:t>‹#›</a:t>
            </a:fld>
            <a:endParaRPr lang="en-US"/>
          </a:p>
        </p:txBody>
      </p:sp>
    </p:spTree>
    <p:extLst>
      <p:ext uri="{BB962C8B-B14F-4D97-AF65-F5344CB8AC3E}">
        <p14:creationId xmlns:p14="http://schemas.microsoft.com/office/powerpoint/2010/main" val="27546576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6350FE-EC7C-4034-A616-B5F886327A85}" type="datetimeFigureOut">
              <a:rPr lang="en-US" smtClean="0"/>
              <a:t>1/29/2024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ACA5A0A-766A-48FC-BE6C-9F686E982C96}" type="slidenum">
              <a:rPr lang="en-US" smtClean="0"/>
              <a:t>‹#›</a:t>
            </a:fld>
            <a:endParaRPr lang="en-US"/>
          </a:p>
        </p:txBody>
      </p:sp>
    </p:spTree>
    <p:extLst>
      <p:ext uri="{BB962C8B-B14F-4D97-AF65-F5344CB8AC3E}">
        <p14:creationId xmlns:p14="http://schemas.microsoft.com/office/powerpoint/2010/main" val="2237549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39042" y="798973"/>
            <a:ext cx="2425950"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186656" y="798974"/>
            <a:ext cx="3828178"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39042" y="3205492"/>
            <a:ext cx="2427369"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76350FE-EC7C-4034-A616-B5F886327A85}" type="datetimeFigureOut">
              <a:rPr lang="en-US" smtClean="0"/>
              <a:t>1/29/2024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CA5A0A-766A-48FC-BE6C-9F686E982C96}" type="slidenum">
              <a:rPr lang="en-US" smtClean="0"/>
              <a:t>‹#›</a:t>
            </a:fld>
            <a:endParaRPr lang="en-US"/>
          </a:p>
        </p:txBody>
      </p:sp>
      <p:cxnSp>
        <p:nvCxnSpPr>
          <p:cNvPr id="17" name="Straight Connector 16"/>
          <p:cNvCxnSpPr/>
          <p:nvPr/>
        </p:nvCxnSpPr>
        <p:spPr>
          <a:xfrm>
            <a:off x="1441748" y="3205491"/>
            <a:ext cx="242327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00512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3" name="Group 12"/>
          <p:cNvGrpSpPr/>
          <p:nvPr/>
        </p:nvGrpSpPr>
        <p:grpSpPr>
          <a:xfrm>
            <a:off x="4996501" y="482171"/>
            <a:ext cx="3511387" cy="5149101"/>
            <a:chOff x="6852919" y="583365"/>
            <a:chExt cx="4681849" cy="5181928"/>
          </a:xfrm>
        </p:grpSpPr>
        <p:sp>
          <p:nvSpPr>
            <p:cNvPr id="14" name="Rectangle 13"/>
            <p:cNvSpPr/>
            <p:nvPr/>
          </p:nvSpPr>
          <p:spPr>
            <a:xfrm>
              <a:off x="6852919" y="583365"/>
              <a:ext cx="4681849"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7273787" y="915806"/>
              <a:ext cx="3844017" cy="450791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44148" y="1129513"/>
            <a:ext cx="3244935"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640128" y="1122543"/>
            <a:ext cx="223499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443492" y="3145992"/>
            <a:ext cx="3240286" cy="2003742"/>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436664" y="5469857"/>
            <a:ext cx="3252420" cy="320123"/>
          </a:xfrm>
        </p:spPr>
        <p:txBody>
          <a:bodyPr/>
          <a:lstStyle>
            <a:lvl1pPr algn="l">
              <a:defRPr/>
            </a:lvl1pPr>
          </a:lstStyle>
          <a:p>
            <a:fld id="{176350FE-EC7C-4034-A616-B5F886327A85}" type="datetimeFigureOut">
              <a:rPr lang="en-US" smtClean="0"/>
              <a:t>1/29/2024</a:t>
            </a:fld>
            <a:endParaRPr lang="en-US"/>
          </a:p>
        </p:txBody>
      </p:sp>
      <p:sp>
        <p:nvSpPr>
          <p:cNvPr id="6" name="Footer Placeholder 5"/>
          <p:cNvSpPr>
            <a:spLocks noGrp="1"/>
          </p:cNvSpPr>
          <p:nvPr>
            <p:ph type="ftr" sz="quarter" idx="11"/>
          </p:nvPr>
        </p:nvSpPr>
        <p:spPr>
          <a:xfrm>
            <a:off x="1437530" y="318641"/>
            <a:ext cx="3251553" cy="320931"/>
          </a:xfrm>
        </p:spPr>
        <p:txBody>
          <a:bodyPr/>
          <a:lstStyle/>
          <a:p>
            <a:endParaRPr lang="en-US" dirty="0"/>
          </a:p>
        </p:txBody>
      </p:sp>
      <p:sp>
        <p:nvSpPr>
          <p:cNvPr id="7" name="Slide Number Placeholder 6"/>
          <p:cNvSpPr>
            <a:spLocks noGrp="1"/>
          </p:cNvSpPr>
          <p:nvPr>
            <p:ph type="sldNum" sz="quarter" idx="12"/>
          </p:nvPr>
        </p:nvSpPr>
        <p:spPr/>
        <p:txBody>
          <a:bodyPr/>
          <a:lstStyle/>
          <a:p>
            <a:fld id="{CACA5A0A-766A-48FC-BE6C-9F686E982C96}" type="slidenum">
              <a:rPr lang="en-US" smtClean="0"/>
              <a:t>‹#›</a:t>
            </a:fld>
            <a:endParaRPr lang="en-US"/>
          </a:p>
        </p:txBody>
      </p:sp>
      <p:cxnSp>
        <p:nvCxnSpPr>
          <p:cNvPr id="31" name="Straight Connector 30"/>
          <p:cNvCxnSpPr/>
          <p:nvPr/>
        </p:nvCxnSpPr>
        <p:spPr>
          <a:xfrm>
            <a:off x="1441281" y="3143605"/>
            <a:ext cx="324201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548405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6350FE-EC7C-4034-A616-B5F886327A85}" type="datetimeFigureOut">
              <a:rPr lang="en-US" smtClean="0"/>
              <a:t>1/29/2024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CA5A0A-766A-48FC-BE6C-9F686E982C96}" type="slidenum">
              <a:rPr lang="en-US" smtClean="0"/>
              <a:t>‹#›</a:t>
            </a:fld>
            <a:endParaRPr lang="en-US"/>
          </a:p>
        </p:txBody>
      </p:sp>
    </p:spTree>
    <p:extLst>
      <p:ext uri="{BB962C8B-B14F-4D97-AF65-F5344CB8AC3E}">
        <p14:creationId xmlns:p14="http://schemas.microsoft.com/office/powerpoint/2010/main" val="16657133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8028" y="798974"/>
            <a:ext cx="1103027"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3491" y="798974"/>
            <a:ext cx="5301095"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6350FE-EC7C-4034-A616-B5F886327A85}" type="datetimeFigureOut">
              <a:rPr lang="en-US" smtClean="0"/>
              <a:t>1/29/2024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CA5A0A-766A-48FC-BE6C-9F686E982C96}" type="slidenum">
              <a:rPr lang="en-US" smtClean="0"/>
              <a:t>‹#›</a:t>
            </a:fld>
            <a:endParaRPr lang="en-US"/>
          </a:p>
        </p:txBody>
      </p:sp>
      <p:cxnSp>
        <p:nvCxnSpPr>
          <p:cNvPr id="15" name="Straight Connector 14"/>
          <p:cNvCxnSpPr/>
          <p:nvPr/>
        </p:nvCxnSpPr>
        <p:spPr>
          <a:xfrm>
            <a:off x="6918028"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085448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 name="Rectangle 9"/>
          <p:cNvSpPr/>
          <p:nvPr/>
        </p:nvSpPr>
        <p:spPr>
          <a:xfrm>
            <a:off x="0" y="2015734"/>
            <a:ext cx="9144000" cy="4079520"/>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l="12500" t="1538" r="12500" b="-1538"/>
          <a:stretch/>
        </p:blipFill>
        <p:spPr>
          <a:xfrm>
            <a:off x="-1" y="6095253"/>
            <a:ext cx="9144001" cy="774727"/>
          </a:xfrm>
          <a:prstGeom prst="rect">
            <a:avLst/>
          </a:prstGeom>
        </p:spPr>
      </p:pic>
      <p:cxnSp>
        <p:nvCxnSpPr>
          <p:cNvPr id="13" name="Straight Connector 12"/>
          <p:cNvCxnSpPr/>
          <p:nvPr/>
        </p:nvCxnSpPr>
        <p:spPr>
          <a:xfrm>
            <a:off x="0" y="6101127"/>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443491" y="804520"/>
            <a:ext cx="6571343"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43491" y="2015733"/>
            <a:ext cx="6571343"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46542" y="330370"/>
            <a:ext cx="2368292"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76350FE-EC7C-4034-A616-B5F886327A85}" type="datetimeFigureOut">
              <a:rPr lang="en-US" smtClean="0"/>
              <a:t>1/29/2024</a:t>
            </a:fld>
            <a:endParaRPr lang="en-US"/>
          </a:p>
        </p:txBody>
      </p:sp>
      <p:sp>
        <p:nvSpPr>
          <p:cNvPr id="5" name="Footer Placeholder 4"/>
          <p:cNvSpPr>
            <a:spLocks noGrp="1"/>
          </p:cNvSpPr>
          <p:nvPr>
            <p:ph type="ftr" sz="quarter" idx="3"/>
          </p:nvPr>
        </p:nvSpPr>
        <p:spPr>
          <a:xfrm>
            <a:off x="1443491" y="329308"/>
            <a:ext cx="403400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7725" y="798973"/>
            <a:ext cx="795746" cy="503578"/>
          </a:xfrm>
          <a:prstGeom prst="rect">
            <a:avLst/>
          </a:prstGeom>
        </p:spPr>
        <p:txBody>
          <a:bodyPr vert="horz" lIns="91440" tIns="45720" rIns="91440" bIns="45720" rtlCol="0" anchor="t"/>
          <a:lstStyle>
            <a:lvl1pPr algn="r">
              <a:defRPr sz="2800">
                <a:solidFill>
                  <a:schemeClr val="accent1"/>
                </a:solidFill>
              </a:defRPr>
            </a:lvl1pPr>
          </a:lstStyle>
          <a:p>
            <a:fld id="{CACA5A0A-766A-48FC-BE6C-9F686E982C96}" type="slidenum">
              <a:rPr lang="en-US" smtClean="0"/>
              <a:t>‹#›</a:t>
            </a:fld>
            <a:endParaRPr lang="en-US"/>
          </a:p>
        </p:txBody>
      </p:sp>
    </p:spTree>
    <p:extLst>
      <p:ext uri="{BB962C8B-B14F-4D97-AF65-F5344CB8AC3E}">
        <p14:creationId xmlns:p14="http://schemas.microsoft.com/office/powerpoint/2010/main" val="1000763769"/>
      </p:ext>
    </p:extLst>
  </p:cSld>
  <p:clrMap bg1="lt1" tx1="dk1" bg2="lt2" tx2="dk2" accent1="accent1" accent2="accent2" accent3="accent3" accent4="accent4" accent5="accent5" accent6="accent6" hlink="hlink" folHlink="folHlink"/>
  <p:sldLayoutIdLst>
    <p:sldLayoutId id="2147483839" r:id="rId1"/>
    <p:sldLayoutId id="2147483840" r:id="rId2"/>
    <p:sldLayoutId id="2147483841" r:id="rId3"/>
    <p:sldLayoutId id="2147483842" r:id="rId4"/>
    <p:sldLayoutId id="2147483843" r:id="rId5"/>
    <p:sldLayoutId id="2147483844" r:id="rId6"/>
    <p:sldLayoutId id="2147483845" r:id="rId7"/>
    <p:sldLayoutId id="2147483846" r:id="rId8"/>
    <p:sldLayoutId id="2147483847" r:id="rId9"/>
    <p:sldLayoutId id="2147483848" r:id="rId10"/>
    <p:sldLayoutId id="2147483849" r:id="rId11"/>
  </p:sldLayoutIdLst>
  <p:txStyles>
    <p:titleStyle>
      <a:lvl1pPr algn="l" defTabSz="6858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learn.marsdd.com/mars-library/planning-for-a-product-launch-elements-of-your-plan/"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learn.marsdd.com/mars-library/deciding-which-market-problems-to-solve/" TargetMode="External"/><Relationship Id="rId2" Type="http://schemas.openxmlformats.org/officeDocument/2006/relationships/hyperlink" Target="https://learn.marsdd.com/mars-library/the-customer-development-model-cdm-product-development-and-technology-startup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learn.marsdd.com/mars-library/intro-to-product-roadmaps-date-based-theme-based-and-technology/" TargetMode="External"/><Relationship Id="rId2" Type="http://schemas.openxmlformats.org/officeDocument/2006/relationships/hyperlink" Target="https://learn.marsdd.com/mars-library/value-proposition-a-reflection-of-the-relationship-between-your-customer-and-brand/" TargetMode="External"/><Relationship Id="rId1" Type="http://schemas.openxmlformats.org/officeDocument/2006/relationships/slideLayout" Target="../slideLayouts/slideLayout2.xml"/><Relationship Id="rId5" Type="http://schemas.openxmlformats.org/officeDocument/2006/relationships/hyperlink" Target="https://learn.marsdd.com/mars-library/positioning-creating-an-image-of-your-product-in-your-target-customers-mind/" TargetMode="External"/><Relationship Id="rId4" Type="http://schemas.openxmlformats.org/officeDocument/2006/relationships/hyperlink" Target="https://learn.marsdd.com/mars-library/customer-experience-a-key-ingredient-for-a-growing-customer-base/"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learn.marsdd.com/mars-library/competitive-differentiation/"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C8597-C283-F257-9176-BEA77BB6D31A}"/>
              </a:ext>
            </a:extLst>
          </p:cNvPr>
          <p:cNvSpPr>
            <a:spLocks noGrp="1"/>
          </p:cNvSpPr>
          <p:nvPr>
            <p:ph type="ctrTitle"/>
          </p:nvPr>
        </p:nvSpPr>
        <p:spPr>
          <a:xfrm>
            <a:off x="0" y="74645"/>
            <a:ext cx="9144000" cy="1987420"/>
          </a:xfrm>
        </p:spPr>
        <p:txBody>
          <a:bodyPr>
            <a:normAutofit/>
          </a:bodyPr>
          <a:lstStyle/>
          <a:p>
            <a:pPr algn="ctr"/>
            <a:r>
              <a:rPr lang="en-US" dirty="0"/>
              <a:t> Marketing </a:t>
            </a:r>
          </a:p>
        </p:txBody>
      </p:sp>
      <p:sp>
        <p:nvSpPr>
          <p:cNvPr id="3" name="Subtitle 2">
            <a:extLst>
              <a:ext uri="{FF2B5EF4-FFF2-40B4-BE49-F238E27FC236}">
                <a16:creationId xmlns:a16="http://schemas.microsoft.com/office/drawing/2014/main" id="{42C236CA-9B10-721B-AA98-539F9571CF67}"/>
              </a:ext>
            </a:extLst>
          </p:cNvPr>
          <p:cNvSpPr>
            <a:spLocks noGrp="1"/>
          </p:cNvSpPr>
          <p:nvPr>
            <p:ph type="subTitle" idx="1"/>
          </p:nvPr>
        </p:nvSpPr>
        <p:spPr>
          <a:xfrm>
            <a:off x="261256" y="2453952"/>
            <a:ext cx="8780107" cy="2803850"/>
          </a:xfrm>
        </p:spPr>
        <p:txBody>
          <a:bodyPr>
            <a:normAutofit lnSpcReduction="10000"/>
          </a:bodyPr>
          <a:lstStyle/>
          <a:p>
            <a:pPr algn="ctr"/>
            <a:r>
              <a:rPr lang="en-US" sz="2400" cap="none" dirty="0"/>
              <a:t>By </a:t>
            </a:r>
          </a:p>
          <a:p>
            <a:pPr algn="ctr"/>
            <a:r>
              <a:rPr lang="en-US" sz="2400" cap="none" dirty="0"/>
              <a:t>Babangida Muhammad Musa</a:t>
            </a:r>
          </a:p>
          <a:p>
            <a:pPr algn="ctr"/>
            <a:endParaRPr lang="en-US" cap="none" dirty="0"/>
          </a:p>
          <a:p>
            <a:pPr algn="ctr"/>
            <a:r>
              <a:rPr lang="en-US" cap="none" dirty="0"/>
              <a:t>Presented at</a:t>
            </a:r>
          </a:p>
          <a:p>
            <a:pPr algn="ctr"/>
            <a:r>
              <a:rPr lang="en-US" cap="none" dirty="0" err="1"/>
              <a:t>iHatch</a:t>
            </a:r>
            <a:r>
              <a:rPr lang="en-US" cap="none" dirty="0"/>
              <a:t> Startup Incubation </a:t>
            </a:r>
            <a:r>
              <a:rPr lang="en-US" cap="none" dirty="0" err="1"/>
              <a:t>Programme</a:t>
            </a:r>
            <a:endParaRPr lang="en-US" cap="none" dirty="0"/>
          </a:p>
          <a:p>
            <a:pPr algn="ctr"/>
            <a:r>
              <a:rPr lang="en-US" cap="none" dirty="0"/>
              <a:t>NITDA Northeast Zonal Office, Gombe, Gombe State </a:t>
            </a:r>
          </a:p>
          <a:p>
            <a:pPr algn="ctr"/>
            <a:endParaRPr lang="en-US" sz="2400" cap="none" dirty="0"/>
          </a:p>
        </p:txBody>
      </p:sp>
    </p:spTree>
    <p:extLst>
      <p:ext uri="{BB962C8B-B14F-4D97-AF65-F5344CB8AC3E}">
        <p14:creationId xmlns:p14="http://schemas.microsoft.com/office/powerpoint/2010/main" val="8142724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7805C-4364-0884-DF05-6D5FB5471B06}"/>
              </a:ext>
            </a:extLst>
          </p:cNvPr>
          <p:cNvSpPr>
            <a:spLocks noGrp="1"/>
          </p:cNvSpPr>
          <p:nvPr>
            <p:ph type="title"/>
          </p:nvPr>
        </p:nvSpPr>
        <p:spPr/>
        <p:txBody>
          <a:bodyPr/>
          <a:lstStyle/>
          <a:p>
            <a:r>
              <a:rPr lang="en-US" sz="3200" b="1" i="1" dirty="0"/>
              <a:t>What is Marketing? </a:t>
            </a:r>
            <a:br>
              <a:rPr lang="en-US" sz="3200" b="1" i="1" dirty="0"/>
            </a:br>
            <a:endParaRPr lang="en-US" dirty="0"/>
          </a:p>
        </p:txBody>
      </p:sp>
      <p:sp>
        <p:nvSpPr>
          <p:cNvPr id="3" name="Content Placeholder 2">
            <a:extLst>
              <a:ext uri="{FF2B5EF4-FFF2-40B4-BE49-F238E27FC236}">
                <a16:creationId xmlns:a16="http://schemas.microsoft.com/office/drawing/2014/main" id="{10A02C2E-66D7-4F9F-FE95-6D7CC78285F2}"/>
              </a:ext>
            </a:extLst>
          </p:cNvPr>
          <p:cNvSpPr>
            <a:spLocks noGrp="1"/>
          </p:cNvSpPr>
          <p:nvPr>
            <p:ph idx="1"/>
          </p:nvPr>
        </p:nvSpPr>
        <p:spPr>
          <a:xfrm>
            <a:off x="793102" y="2015733"/>
            <a:ext cx="7949681" cy="3450613"/>
          </a:xfrm>
        </p:spPr>
        <p:txBody>
          <a:bodyPr/>
          <a:lstStyle/>
          <a:p>
            <a:pPr algn="l"/>
            <a:r>
              <a:rPr lang="en-US" sz="2400" cap="none" dirty="0"/>
              <a:t>Marketing refers to activities a company undertakes to promote the buying or selling of a product or services.</a:t>
            </a:r>
          </a:p>
          <a:p>
            <a:pPr algn="l"/>
            <a:endParaRPr lang="en-US" sz="2400" dirty="0"/>
          </a:p>
          <a:p>
            <a:pPr algn="l"/>
            <a:r>
              <a:rPr lang="en-US" sz="2400" cap="none" dirty="0"/>
              <a:t>Marketing is the process of getting people interested in your company’s product or service.</a:t>
            </a:r>
          </a:p>
          <a:p>
            <a:endParaRPr lang="en-US" dirty="0"/>
          </a:p>
        </p:txBody>
      </p:sp>
    </p:spTree>
    <p:extLst>
      <p:ext uri="{BB962C8B-B14F-4D97-AF65-F5344CB8AC3E}">
        <p14:creationId xmlns:p14="http://schemas.microsoft.com/office/powerpoint/2010/main" val="42056455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A2DB9-E3A1-A5F8-6899-809B52B8F6CE}"/>
              </a:ext>
            </a:extLst>
          </p:cNvPr>
          <p:cNvSpPr>
            <a:spLocks noGrp="1"/>
          </p:cNvSpPr>
          <p:nvPr>
            <p:ph type="title"/>
          </p:nvPr>
        </p:nvSpPr>
        <p:spPr>
          <a:xfrm>
            <a:off x="559837" y="804520"/>
            <a:ext cx="7828383" cy="1049235"/>
          </a:xfrm>
        </p:spPr>
        <p:txBody>
          <a:bodyPr>
            <a:normAutofit/>
          </a:bodyPr>
          <a:lstStyle/>
          <a:p>
            <a:pPr algn="ctr"/>
            <a:r>
              <a:rPr lang="en-US" sz="2800" dirty="0"/>
              <a:t> introduction to Marketing Strategy</a:t>
            </a:r>
          </a:p>
        </p:txBody>
      </p:sp>
      <p:sp>
        <p:nvSpPr>
          <p:cNvPr id="3" name="Content Placeholder 2">
            <a:extLst>
              <a:ext uri="{FF2B5EF4-FFF2-40B4-BE49-F238E27FC236}">
                <a16:creationId xmlns:a16="http://schemas.microsoft.com/office/drawing/2014/main" id="{D48F41A1-5649-C25E-D565-12A6B6DB2F2E}"/>
              </a:ext>
            </a:extLst>
          </p:cNvPr>
          <p:cNvSpPr>
            <a:spLocks noGrp="1"/>
          </p:cNvSpPr>
          <p:nvPr>
            <p:ph idx="1"/>
          </p:nvPr>
        </p:nvSpPr>
        <p:spPr>
          <a:xfrm>
            <a:off x="559837" y="1853755"/>
            <a:ext cx="8294914" cy="4199725"/>
          </a:xfrm>
        </p:spPr>
        <p:txBody>
          <a:bodyPr>
            <a:noAutofit/>
          </a:bodyPr>
          <a:lstStyle/>
          <a:p>
            <a:r>
              <a:rPr lang="en-US" sz="2400" dirty="0"/>
              <a:t>Marketing Strategy covers a company’s overall approach for promoting its brand to a target audience.</a:t>
            </a:r>
          </a:p>
          <a:p>
            <a:r>
              <a:rPr lang="en-US" sz="2400" dirty="0"/>
              <a:t>It is a business general scheme for developing a customer base for the product or service its provides.</a:t>
            </a:r>
          </a:p>
          <a:p>
            <a:r>
              <a:rPr lang="en-US" sz="2400" dirty="0"/>
              <a:t>Marketing strategy is an organization’s promotional efforts to allocate its resources across a wide range of platforms and channels to increase its sales and achieve sustainable competitive advantage within its corresponding market.  </a:t>
            </a:r>
          </a:p>
        </p:txBody>
      </p:sp>
    </p:spTree>
    <p:extLst>
      <p:ext uri="{BB962C8B-B14F-4D97-AF65-F5344CB8AC3E}">
        <p14:creationId xmlns:p14="http://schemas.microsoft.com/office/powerpoint/2010/main" val="3651950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 calcmode="lin" valueType="num">
                                      <p:cBhvr>
                                        <p:cTn id="15"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18" dur="1000"/>
                                        <p:tgtEl>
                                          <p:spTgt spid="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p:cTn id="23"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4"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5"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26" dur="1000"/>
                                        <p:tgtEl>
                                          <p:spTgt spid="3">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mph" presetSubtype="0" fill="hold" grpId="1" nodeType="clickEffect">
                                  <p:stCondLst>
                                    <p:cond delay="0"/>
                                  </p:stCondLst>
                                  <p:childTnLst>
                                    <p:anim calcmode="discrete" valueType="str">
                                      <p:cBhvr override="childStyle">
                                        <p:cTn id="30" dur="2000" fill="hold"/>
                                        <p:tgtEl>
                                          <p:spTgt spid="3">
                                            <p:txEl>
                                              <p:pRg st="0" end="0"/>
                                            </p:txEl>
                                          </p:spTgt>
                                        </p:tgtEl>
                                        <p:attrNameLst>
                                          <p:attrName>style.fontWeight</p:attrName>
                                        </p:attrNameLst>
                                      </p:cBhvr>
                                      <p:tavLst>
                                        <p:tav tm="0">
                                          <p:val>
                                            <p:strVal val="normal"/>
                                          </p:val>
                                        </p:tav>
                                        <p:tav tm="50000">
                                          <p:val>
                                            <p:strVal val="bold"/>
                                          </p:val>
                                        </p:tav>
                                        <p:tav tm="60000">
                                          <p:val>
                                            <p:strVal val="normal"/>
                                          </p:val>
                                        </p:tav>
                                        <p:tav tm="100000">
                                          <p:val>
                                            <p:strVal val="normal"/>
                                          </p:val>
                                        </p:tav>
                                      </p:tavLst>
                                    </p:anim>
                                  </p:childTnLst>
                                </p:cTn>
                              </p:par>
                            </p:childTnLst>
                          </p:cTn>
                        </p:par>
                      </p:childTnLst>
                    </p:cTn>
                  </p:par>
                  <p:par>
                    <p:cTn id="31" fill="hold">
                      <p:stCondLst>
                        <p:cond delay="indefinite"/>
                      </p:stCondLst>
                      <p:childTnLst>
                        <p:par>
                          <p:cTn id="32" fill="hold">
                            <p:stCondLst>
                              <p:cond delay="0"/>
                            </p:stCondLst>
                            <p:childTnLst>
                              <p:par>
                                <p:cTn id="33" presetID="10" presetClass="emph" presetSubtype="0" fill="hold" grpId="1" nodeType="clickEffect">
                                  <p:stCondLst>
                                    <p:cond delay="0"/>
                                  </p:stCondLst>
                                  <p:childTnLst>
                                    <p:anim calcmode="discrete" valueType="str">
                                      <p:cBhvr override="childStyle">
                                        <p:cTn id="34" dur="2000" fill="hold"/>
                                        <p:tgtEl>
                                          <p:spTgt spid="3">
                                            <p:txEl>
                                              <p:pRg st="1" end="1"/>
                                            </p:txEl>
                                          </p:spTgt>
                                        </p:tgtEl>
                                        <p:attrNameLst>
                                          <p:attrName>style.fontWeight</p:attrName>
                                        </p:attrNameLst>
                                      </p:cBhvr>
                                      <p:tavLst>
                                        <p:tav tm="0">
                                          <p:val>
                                            <p:strVal val="normal"/>
                                          </p:val>
                                        </p:tav>
                                        <p:tav tm="50000">
                                          <p:val>
                                            <p:strVal val="bold"/>
                                          </p:val>
                                        </p:tav>
                                        <p:tav tm="60000">
                                          <p:val>
                                            <p:strVal val="normal"/>
                                          </p:val>
                                        </p:tav>
                                        <p:tav tm="100000">
                                          <p:val>
                                            <p:strVal val="normal"/>
                                          </p:val>
                                        </p:tav>
                                      </p:tavLst>
                                    </p:anim>
                                  </p:childTnLst>
                                </p:cTn>
                              </p:par>
                            </p:childTnLst>
                          </p:cTn>
                        </p:par>
                      </p:childTnLst>
                    </p:cTn>
                  </p:par>
                  <p:par>
                    <p:cTn id="35" fill="hold">
                      <p:stCondLst>
                        <p:cond delay="indefinite"/>
                      </p:stCondLst>
                      <p:childTnLst>
                        <p:par>
                          <p:cTn id="36" fill="hold">
                            <p:stCondLst>
                              <p:cond delay="0"/>
                            </p:stCondLst>
                            <p:childTnLst>
                              <p:par>
                                <p:cTn id="37" presetID="10" presetClass="emph" presetSubtype="0" fill="hold" grpId="1" nodeType="clickEffect">
                                  <p:stCondLst>
                                    <p:cond delay="0"/>
                                  </p:stCondLst>
                                  <p:childTnLst>
                                    <p:anim calcmode="discrete" valueType="str">
                                      <p:cBhvr override="childStyle">
                                        <p:cTn id="38" dur="2000" fill="hold"/>
                                        <p:tgtEl>
                                          <p:spTgt spid="3">
                                            <p:txEl>
                                              <p:pRg st="2" end="2"/>
                                            </p:txEl>
                                          </p:spTgt>
                                        </p:tgtEl>
                                        <p:attrNameLst>
                                          <p:attrName>style.fontWeight</p:attrName>
                                        </p:attrNameLst>
                                      </p:cBhvr>
                                      <p:tavLst>
                                        <p:tav tm="0">
                                          <p:val>
                                            <p:strVal val="normal"/>
                                          </p:val>
                                        </p:tav>
                                        <p:tav tm="50000">
                                          <p:val>
                                            <p:strVal val="bold"/>
                                          </p:val>
                                        </p:tav>
                                        <p:tav tm="60000">
                                          <p:val>
                                            <p:strVal val="normal"/>
                                          </p:val>
                                        </p:tav>
                                        <p:tav tm="100000">
                                          <p:val>
                                            <p:strVal val="normal"/>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3" grpId="1"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C69E2-52D5-675B-A4B0-6A30E3AF3300}"/>
              </a:ext>
            </a:extLst>
          </p:cNvPr>
          <p:cNvSpPr>
            <a:spLocks noGrp="1"/>
          </p:cNvSpPr>
          <p:nvPr>
            <p:ph type="title"/>
          </p:nvPr>
        </p:nvSpPr>
        <p:spPr>
          <a:xfrm>
            <a:off x="685800" y="484632"/>
            <a:ext cx="7772400" cy="653703"/>
          </a:xfrm>
        </p:spPr>
        <p:txBody>
          <a:bodyPr>
            <a:normAutofit/>
          </a:bodyPr>
          <a:lstStyle/>
          <a:p>
            <a:r>
              <a:rPr lang="en-US" dirty="0"/>
              <a:t>Market research (3cs analysis)</a:t>
            </a:r>
          </a:p>
        </p:txBody>
      </p:sp>
      <p:sp>
        <p:nvSpPr>
          <p:cNvPr id="3" name="Content Placeholder 2">
            <a:extLst>
              <a:ext uri="{FF2B5EF4-FFF2-40B4-BE49-F238E27FC236}">
                <a16:creationId xmlns:a16="http://schemas.microsoft.com/office/drawing/2014/main" id="{B92EDB1E-A223-98D8-D10F-2BCD76A32DFA}"/>
              </a:ext>
            </a:extLst>
          </p:cNvPr>
          <p:cNvSpPr>
            <a:spLocks noGrp="1"/>
          </p:cNvSpPr>
          <p:nvPr>
            <p:ph idx="1"/>
          </p:nvPr>
        </p:nvSpPr>
        <p:spPr>
          <a:xfrm>
            <a:off x="139959" y="1828800"/>
            <a:ext cx="8882743" cy="4343400"/>
          </a:xfrm>
        </p:spPr>
        <p:txBody>
          <a:bodyPr>
            <a:normAutofit fontScale="92500" lnSpcReduction="10000"/>
          </a:bodyPr>
          <a:lstStyle/>
          <a:p>
            <a:r>
              <a:rPr lang="en-US" sz="2400" dirty="0"/>
              <a:t>Marketing research is a systematic and objective study of problems pertaining to the marketing of goods and services.  Research is the only </a:t>
            </a:r>
            <a:r>
              <a:rPr lang="en-US" sz="2200" dirty="0"/>
              <a:t>tool</a:t>
            </a:r>
            <a:r>
              <a:rPr lang="en-US" sz="2400" dirty="0"/>
              <a:t> an organization has to keep in contact with its external operating environment.</a:t>
            </a:r>
          </a:p>
          <a:p>
            <a:r>
              <a:rPr lang="en-US" sz="2400" dirty="0"/>
              <a:t>Kotler (1999) defines marketing research as systematic problem analysis, model-building and fact-finding for the purpose of improved decision-making and control in the marketing of goods and services‘. </a:t>
            </a:r>
          </a:p>
          <a:p>
            <a:r>
              <a:rPr lang="en-US" sz="2400" dirty="0"/>
              <a:t> The American Marketing Association (AMA) defines it as the systematic gathering, recording and analyzing of data relating to the marketing of goods and services‘. </a:t>
            </a:r>
          </a:p>
          <a:p>
            <a:pPr marL="0" indent="0">
              <a:buNone/>
            </a:pPr>
            <a:endParaRPr lang="en-US" dirty="0"/>
          </a:p>
        </p:txBody>
      </p:sp>
    </p:spTree>
    <p:extLst>
      <p:ext uri="{BB962C8B-B14F-4D97-AF65-F5344CB8AC3E}">
        <p14:creationId xmlns:p14="http://schemas.microsoft.com/office/powerpoint/2010/main" val="3353090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4C2C7-A25A-2D54-A7B2-037B72811B7D}"/>
              </a:ext>
            </a:extLst>
          </p:cNvPr>
          <p:cNvSpPr>
            <a:spLocks noGrp="1"/>
          </p:cNvSpPr>
          <p:nvPr>
            <p:ph type="title"/>
          </p:nvPr>
        </p:nvSpPr>
        <p:spPr>
          <a:xfrm>
            <a:off x="685800" y="484632"/>
            <a:ext cx="7772400" cy="653703"/>
          </a:xfrm>
        </p:spPr>
        <p:txBody>
          <a:bodyPr>
            <a:normAutofit fontScale="90000"/>
          </a:bodyPr>
          <a:lstStyle/>
          <a:p>
            <a:r>
              <a:rPr lang="en-US" dirty="0"/>
              <a:t>Market research (3cs analysis) Cont.</a:t>
            </a:r>
          </a:p>
        </p:txBody>
      </p:sp>
      <p:sp>
        <p:nvSpPr>
          <p:cNvPr id="3" name="Content Placeholder 2">
            <a:extLst>
              <a:ext uri="{FF2B5EF4-FFF2-40B4-BE49-F238E27FC236}">
                <a16:creationId xmlns:a16="http://schemas.microsoft.com/office/drawing/2014/main" id="{AE774C33-7390-750D-6B77-1CD2955A42B5}"/>
              </a:ext>
            </a:extLst>
          </p:cNvPr>
          <p:cNvSpPr>
            <a:spLocks noGrp="1"/>
          </p:cNvSpPr>
          <p:nvPr>
            <p:ph idx="1"/>
          </p:nvPr>
        </p:nvSpPr>
        <p:spPr>
          <a:xfrm>
            <a:off x="214604" y="1828800"/>
            <a:ext cx="8808098" cy="4343400"/>
          </a:xfrm>
        </p:spPr>
        <p:txBody>
          <a:bodyPr>
            <a:normAutofit/>
          </a:bodyPr>
          <a:lstStyle/>
          <a:p>
            <a:r>
              <a:rPr lang="en-US" sz="2800" dirty="0"/>
              <a:t>Marketing research often focuses on understanding:</a:t>
            </a:r>
          </a:p>
          <a:p>
            <a:r>
              <a:rPr lang="en-US" sz="2800" dirty="0"/>
              <a:t> the “Customer” (purchasers, consumers, influencers), </a:t>
            </a:r>
          </a:p>
          <a:p>
            <a:r>
              <a:rPr lang="en-US" sz="2800" dirty="0"/>
              <a:t> the “Company” (product design, promotion, pricing, placement, service, sales), and </a:t>
            </a:r>
          </a:p>
          <a:p>
            <a:r>
              <a:rPr lang="en-US" sz="2800" dirty="0"/>
              <a:t>can also be expanded toward the environment to include “Competitors” (and how their market offerings interact in the market environment).</a:t>
            </a:r>
          </a:p>
          <a:p>
            <a:endParaRPr lang="en-US" dirty="0"/>
          </a:p>
        </p:txBody>
      </p:sp>
    </p:spTree>
    <p:extLst>
      <p:ext uri="{BB962C8B-B14F-4D97-AF65-F5344CB8AC3E}">
        <p14:creationId xmlns:p14="http://schemas.microsoft.com/office/powerpoint/2010/main" val="354723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4B420-5F1E-C55C-FBA9-DED4DBBB6A38}"/>
              </a:ext>
            </a:extLst>
          </p:cNvPr>
          <p:cNvSpPr>
            <a:spLocks noGrp="1"/>
          </p:cNvSpPr>
          <p:nvPr>
            <p:ph type="title"/>
          </p:nvPr>
        </p:nvSpPr>
        <p:spPr>
          <a:xfrm>
            <a:off x="685800" y="484632"/>
            <a:ext cx="7772400" cy="858976"/>
          </a:xfrm>
        </p:spPr>
        <p:txBody>
          <a:bodyPr/>
          <a:lstStyle/>
          <a:p>
            <a:r>
              <a:rPr lang="en-US" dirty="0"/>
              <a:t>      3c analysis </a:t>
            </a:r>
          </a:p>
        </p:txBody>
      </p:sp>
      <p:sp>
        <p:nvSpPr>
          <p:cNvPr id="3" name="Content Placeholder 2">
            <a:extLst>
              <a:ext uri="{FF2B5EF4-FFF2-40B4-BE49-F238E27FC236}">
                <a16:creationId xmlns:a16="http://schemas.microsoft.com/office/drawing/2014/main" id="{AFE87F65-F319-F71B-11D0-081686776308}"/>
              </a:ext>
            </a:extLst>
          </p:cNvPr>
          <p:cNvSpPr>
            <a:spLocks noGrp="1"/>
          </p:cNvSpPr>
          <p:nvPr>
            <p:ph idx="1"/>
          </p:nvPr>
        </p:nvSpPr>
        <p:spPr>
          <a:xfrm>
            <a:off x="139959" y="1800808"/>
            <a:ext cx="8836089" cy="4301412"/>
          </a:xfrm>
        </p:spPr>
        <p:txBody>
          <a:bodyPr>
            <a:normAutofit fontScale="85000" lnSpcReduction="10000"/>
          </a:bodyPr>
          <a:lstStyle/>
          <a:p>
            <a:pPr marL="0" marR="0" fontAlgn="base">
              <a:lnSpc>
                <a:spcPct val="150000"/>
              </a:lnSpc>
              <a:spcBef>
                <a:spcPts val="0"/>
              </a:spcBef>
              <a:spcAft>
                <a:spcPts val="0"/>
              </a:spcAft>
            </a:pPr>
            <a:r>
              <a:rPr lang="en-US" sz="2400" b="1" dirty="0">
                <a:solidFill>
                  <a:srgbClr val="000000"/>
                </a:solidFill>
                <a:effectLst/>
                <a:latin typeface="Open Sans" panose="020B0606030504020204" pitchFamily="34" charset="0"/>
                <a:ea typeface="Times New Roman" panose="02020603050405020304" pitchFamily="18" charset="0"/>
                <a:cs typeface="Times New Roman" panose="02020603050405020304" pitchFamily="18" charset="0"/>
              </a:rPr>
              <a:t>The 3C analysis business model</a:t>
            </a:r>
            <a:r>
              <a:rPr lang="en-US" sz="2400" dirty="0">
                <a:solidFill>
                  <a:srgbClr val="000000"/>
                </a:solidFill>
                <a:effectLst/>
                <a:latin typeface="Open Sans" panose="020B0606030504020204" pitchFamily="34" charset="0"/>
                <a:ea typeface="Times New Roman" panose="02020603050405020304" pitchFamily="18" charset="0"/>
                <a:cs typeface="Times New Roman" panose="02020603050405020304" pitchFamily="18" charset="0"/>
              </a:rPr>
              <a:t> was originally created by Kenichi Ohmae, a Japanese management consultant and academic.</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pPr>
            <a:r>
              <a:rPr lang="en-US" sz="2400" dirty="0">
                <a:solidFill>
                  <a:srgbClr val="000000"/>
                </a:solidFill>
                <a:effectLst/>
                <a:latin typeface="Open Sans" panose="020B0606030504020204" pitchFamily="34" charset="0"/>
                <a:ea typeface="Times New Roman" panose="02020603050405020304" pitchFamily="18" charset="0"/>
              </a:rPr>
              <a:t>It has been used as a strategic marketing model for many years and is often used in web marketing today.</a:t>
            </a:r>
          </a:p>
          <a:p>
            <a:pPr>
              <a:lnSpc>
                <a:spcPct val="150000"/>
              </a:lnSpc>
            </a:pPr>
            <a:r>
              <a:rPr lang="en-US" sz="2400" dirty="0">
                <a:solidFill>
                  <a:srgbClr val="000000"/>
                </a:solidFill>
                <a:effectLst/>
                <a:latin typeface="Open Sans" panose="020B0606030504020204" pitchFamily="34" charset="0"/>
                <a:ea typeface="Times New Roman" panose="02020603050405020304" pitchFamily="18" charset="0"/>
              </a:rPr>
              <a:t>This method help focus your analysis on the 3C’s or strategic triangle: </a:t>
            </a:r>
            <a:r>
              <a:rPr lang="en-US" sz="2400" b="1" dirty="0">
                <a:solidFill>
                  <a:srgbClr val="000000"/>
                </a:solidFill>
                <a:effectLst/>
                <a:latin typeface="Open Sans" panose="020B0606030504020204" pitchFamily="34" charset="0"/>
                <a:ea typeface="Times New Roman" panose="02020603050405020304" pitchFamily="18" charset="0"/>
              </a:rPr>
              <a:t>the customers, the competitors</a:t>
            </a:r>
            <a:r>
              <a:rPr lang="en-US" sz="2400" dirty="0">
                <a:solidFill>
                  <a:srgbClr val="000000"/>
                </a:solidFill>
                <a:effectLst/>
                <a:latin typeface="Open Sans" panose="020B0606030504020204" pitchFamily="34" charset="0"/>
                <a:ea typeface="Times New Roman" panose="02020603050405020304" pitchFamily="18" charset="0"/>
              </a:rPr>
              <a:t> and </a:t>
            </a:r>
            <a:r>
              <a:rPr lang="en-US" sz="2400" b="1" dirty="0">
                <a:solidFill>
                  <a:srgbClr val="000000"/>
                </a:solidFill>
                <a:effectLst/>
                <a:latin typeface="Open Sans" panose="020B0606030504020204" pitchFamily="34" charset="0"/>
                <a:ea typeface="Times New Roman" panose="02020603050405020304" pitchFamily="18" charset="0"/>
              </a:rPr>
              <a:t>the corporation</a:t>
            </a:r>
            <a:r>
              <a:rPr lang="en-US" sz="2400" dirty="0">
                <a:solidFill>
                  <a:srgbClr val="000000"/>
                </a:solidFill>
                <a:effectLst/>
                <a:latin typeface="Open Sans" panose="020B0606030504020204" pitchFamily="34" charset="0"/>
                <a:ea typeface="Times New Roman" panose="02020603050405020304" pitchFamily="18" charset="0"/>
              </a:rPr>
              <a:t>. By analyzing these three elements, you will be able to find the key success factor (KSF) and create a viable marketing strategy.</a:t>
            </a:r>
            <a:endParaRPr lang="en-US" sz="2800" dirty="0"/>
          </a:p>
        </p:txBody>
      </p:sp>
    </p:spTree>
    <p:extLst>
      <p:ext uri="{BB962C8B-B14F-4D97-AF65-F5344CB8AC3E}">
        <p14:creationId xmlns:p14="http://schemas.microsoft.com/office/powerpoint/2010/main" val="37638878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E35A2-F897-65BB-BEC4-45D75451AA36}"/>
              </a:ext>
            </a:extLst>
          </p:cNvPr>
          <p:cNvSpPr>
            <a:spLocks noGrp="1"/>
          </p:cNvSpPr>
          <p:nvPr>
            <p:ph type="title"/>
          </p:nvPr>
        </p:nvSpPr>
        <p:spPr>
          <a:xfrm>
            <a:off x="685800" y="484632"/>
            <a:ext cx="7772400" cy="616380"/>
          </a:xfrm>
        </p:spPr>
        <p:txBody>
          <a:bodyPr>
            <a:normAutofit/>
          </a:bodyPr>
          <a:lstStyle/>
          <a:p>
            <a:r>
              <a:rPr lang="en-US" dirty="0"/>
              <a:t>      customers</a:t>
            </a:r>
          </a:p>
        </p:txBody>
      </p:sp>
      <p:sp>
        <p:nvSpPr>
          <p:cNvPr id="3" name="Content Placeholder 2">
            <a:extLst>
              <a:ext uri="{FF2B5EF4-FFF2-40B4-BE49-F238E27FC236}">
                <a16:creationId xmlns:a16="http://schemas.microsoft.com/office/drawing/2014/main" id="{A03B8B0C-5FB7-7413-5400-FD295491B0BB}"/>
              </a:ext>
            </a:extLst>
          </p:cNvPr>
          <p:cNvSpPr>
            <a:spLocks noGrp="1"/>
          </p:cNvSpPr>
          <p:nvPr>
            <p:ph idx="1"/>
          </p:nvPr>
        </p:nvSpPr>
        <p:spPr>
          <a:xfrm>
            <a:off x="167951" y="1894114"/>
            <a:ext cx="8733453" cy="4278085"/>
          </a:xfrm>
        </p:spPr>
        <p:txBody>
          <a:bodyPr>
            <a:normAutofit fontScale="92500" lnSpcReduction="10000"/>
          </a:bodyPr>
          <a:lstStyle/>
          <a:p>
            <a:r>
              <a:rPr lang="en-US" sz="2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For Ohmae, customer-based strategies are the most important: “a corporation’s foremost concern ought to be the interest of its customers rather than that of its shareholders.” </a:t>
            </a:r>
          </a:p>
          <a:p>
            <a:r>
              <a:rPr lang="en-US" sz="2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As a startup that is starved for funding, you may think your investors come first. And until you </a:t>
            </a:r>
            <a:r>
              <a:rPr lang="en-US" sz="2400" u="sng" dirty="0">
                <a:effectLst/>
                <a:latin typeface="Arial" panose="020B0604020202020204" pitchFamily="34" charset="0"/>
                <a:ea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launch</a:t>
            </a:r>
            <a:r>
              <a:rPr lang="en-US" sz="2400" dirty="0">
                <a:effectLst/>
                <a:latin typeface="Arial" panose="020B0604020202020204" pitchFamily="34" charset="0"/>
                <a:ea typeface="Times New Roman" panose="02020603050405020304" pitchFamily="18" charset="0"/>
                <a:cs typeface="Times New Roman" panose="02020603050405020304" pitchFamily="18" charset="0"/>
              </a:rPr>
              <a:t>,</a:t>
            </a:r>
            <a:r>
              <a:rPr lang="en-US" sz="2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that may be the case. </a:t>
            </a:r>
          </a:p>
          <a:p>
            <a:r>
              <a:rPr lang="en-US" sz="2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But even your investors want to know how you are going to compete and who you want to serve. Once you launch, customers will take centre stage. </a:t>
            </a:r>
          </a:p>
          <a:p>
            <a:r>
              <a:rPr lang="en-US" sz="2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The wisdom here is, if you have happy customers, you will have happy investors.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870929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77B8B-1702-0A17-6198-D029319FD6AB}"/>
              </a:ext>
            </a:extLst>
          </p:cNvPr>
          <p:cNvSpPr>
            <a:spLocks noGrp="1"/>
          </p:cNvSpPr>
          <p:nvPr>
            <p:ph type="title"/>
          </p:nvPr>
        </p:nvSpPr>
        <p:spPr>
          <a:xfrm>
            <a:off x="685800" y="484632"/>
            <a:ext cx="7772400" cy="663033"/>
          </a:xfrm>
        </p:spPr>
        <p:txBody>
          <a:bodyPr>
            <a:normAutofit/>
          </a:bodyPr>
          <a:lstStyle/>
          <a:p>
            <a:r>
              <a:rPr lang="en-US" dirty="0"/>
              <a:t>      Customer analysis</a:t>
            </a:r>
          </a:p>
        </p:txBody>
      </p:sp>
      <p:sp>
        <p:nvSpPr>
          <p:cNvPr id="3" name="Content Placeholder 2">
            <a:extLst>
              <a:ext uri="{FF2B5EF4-FFF2-40B4-BE49-F238E27FC236}">
                <a16:creationId xmlns:a16="http://schemas.microsoft.com/office/drawing/2014/main" id="{43BCD5DB-ABED-35DA-8115-CB7054B561F0}"/>
              </a:ext>
            </a:extLst>
          </p:cNvPr>
          <p:cNvSpPr>
            <a:spLocks noGrp="1"/>
          </p:cNvSpPr>
          <p:nvPr>
            <p:ph idx="1"/>
          </p:nvPr>
        </p:nvSpPr>
        <p:spPr>
          <a:xfrm>
            <a:off x="149291" y="1828800"/>
            <a:ext cx="8864080" cy="4343400"/>
          </a:xfrm>
        </p:spPr>
        <p:txBody>
          <a:bodyPr>
            <a:normAutofit fontScale="92500" lnSpcReduction="10000"/>
          </a:bodyPr>
          <a:lstStyle/>
          <a:p>
            <a:r>
              <a:rPr lang="en-US" sz="2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With that as a starting point, you need to </a:t>
            </a:r>
            <a:r>
              <a:rPr lang="en-US" sz="2400" u="sng" dirty="0">
                <a:effectLst/>
                <a:latin typeface="Arial" panose="020B0604020202020204" pitchFamily="34" charset="0"/>
                <a:ea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define</a:t>
            </a:r>
            <a:r>
              <a:rPr lang="en-US" sz="2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who your customers are and what their unmet needs are? </a:t>
            </a:r>
          </a:p>
          <a:p>
            <a:r>
              <a:rPr lang="en-US" sz="2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The mistake most startup make is to start with the product or service in a “build-it-and-they-will-come” frame of mind. </a:t>
            </a:r>
          </a:p>
          <a:p>
            <a:r>
              <a:rPr lang="en-US" sz="2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This is the equivalent of a solution looking for a problem. </a:t>
            </a:r>
          </a:p>
          <a:p>
            <a:r>
              <a:rPr lang="en-US" sz="2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It’s better to start with an understanding of the problem and </a:t>
            </a:r>
            <a:r>
              <a:rPr lang="en-US" sz="2400" dirty="0">
                <a:effectLst/>
                <a:latin typeface="Arial" panose="020B0604020202020204" pitchFamily="34" charset="0"/>
                <a:ea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then work</a:t>
            </a:r>
            <a:r>
              <a:rPr lang="en-US" sz="2400" dirty="0">
                <a:effectLst/>
                <a:latin typeface="Arial" panose="020B0604020202020204" pitchFamily="34" charset="0"/>
                <a:ea typeface="Times New Roman" panose="02020603050405020304" pitchFamily="18" charset="0"/>
                <a:cs typeface="Times New Roman" panose="02020603050405020304" pitchFamily="18" charset="0"/>
              </a:rPr>
              <a:t> </a:t>
            </a:r>
            <a:r>
              <a:rPr lang="en-US" sz="2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on the product. </a:t>
            </a:r>
          </a:p>
          <a:p>
            <a:r>
              <a:rPr lang="en-US" sz="2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And the only way you are going to gain that understanding is through customer analysis (</a:t>
            </a:r>
            <a:r>
              <a:rPr lang="en-US" sz="24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interac</a:t>
            </a:r>
            <a:r>
              <a:rPr lang="en-US" sz="2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tion or conversation with customers or potential customers).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1705717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9FA0D-CD47-7AE2-EC51-92EEDC79D52C}"/>
              </a:ext>
            </a:extLst>
          </p:cNvPr>
          <p:cNvSpPr>
            <a:spLocks noGrp="1"/>
          </p:cNvSpPr>
          <p:nvPr>
            <p:ph type="title"/>
          </p:nvPr>
        </p:nvSpPr>
        <p:spPr>
          <a:xfrm>
            <a:off x="685800" y="484632"/>
            <a:ext cx="7772400" cy="700356"/>
          </a:xfrm>
        </p:spPr>
        <p:txBody>
          <a:bodyPr/>
          <a:lstStyle/>
          <a:p>
            <a:r>
              <a:rPr lang="en-US" dirty="0"/>
              <a:t>      Customer analysis</a:t>
            </a:r>
          </a:p>
        </p:txBody>
      </p:sp>
      <p:sp>
        <p:nvSpPr>
          <p:cNvPr id="3" name="Content Placeholder 2">
            <a:extLst>
              <a:ext uri="{FF2B5EF4-FFF2-40B4-BE49-F238E27FC236}">
                <a16:creationId xmlns:a16="http://schemas.microsoft.com/office/drawing/2014/main" id="{805A413A-4530-5B22-53A7-2D0EA1333AE7}"/>
              </a:ext>
            </a:extLst>
          </p:cNvPr>
          <p:cNvSpPr>
            <a:spLocks noGrp="1"/>
          </p:cNvSpPr>
          <p:nvPr>
            <p:ph idx="1"/>
          </p:nvPr>
        </p:nvSpPr>
        <p:spPr>
          <a:xfrm>
            <a:off x="74645" y="1847461"/>
            <a:ext cx="8845419" cy="4324739"/>
          </a:xfrm>
        </p:spPr>
        <p:txBody>
          <a:bodyPr>
            <a:normAutofit fontScale="92500" lnSpcReduction="20000"/>
          </a:bodyPr>
          <a:lstStyle/>
          <a:p>
            <a:r>
              <a:rPr lang="en-US" sz="2200" dirty="0">
                <a:effectLst/>
                <a:latin typeface="Arial" panose="020B0604020202020204" pitchFamily="34" charset="0"/>
                <a:ea typeface="Times New Roman" panose="02020603050405020304" pitchFamily="18" charset="0"/>
                <a:cs typeface="Times New Roman" panose="02020603050405020304" pitchFamily="18" charset="0"/>
              </a:rPr>
              <a:t>Once you have those conversations with customers, you are better equipped to </a:t>
            </a:r>
            <a:r>
              <a:rPr lang="en-US" dirty="0">
                <a:effectLst/>
                <a:latin typeface="Arial" panose="020B0604020202020204" pitchFamily="34" charset="0"/>
                <a:ea typeface="Times New Roman" panose="02020603050405020304" pitchFamily="18" charset="0"/>
                <a:cs typeface="Times New Roman" panose="02020603050405020304" pitchFamily="18" charset="0"/>
              </a:rPr>
              <a:t>shape an offer and a </a:t>
            </a:r>
            <a:r>
              <a:rPr lang="en-US" u="sng" dirty="0">
                <a:effectLst/>
                <a:latin typeface="Arial" panose="020B0604020202020204" pitchFamily="34" charset="0"/>
                <a:ea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value proposition</a:t>
            </a:r>
            <a:r>
              <a:rPr lang="en-US" dirty="0">
                <a:effectLst/>
                <a:latin typeface="Arial" panose="020B0604020202020204" pitchFamily="34" charset="0"/>
                <a:ea typeface="Times New Roman" panose="02020603050405020304" pitchFamily="18" charset="0"/>
                <a:cs typeface="Times New Roman" panose="02020603050405020304" pitchFamily="18" charset="0"/>
              </a:rPr>
              <a:t> in response to customers’ real unmet needs, not just what you think they need. </a:t>
            </a:r>
          </a:p>
          <a:p>
            <a:r>
              <a:rPr lang="en-US" dirty="0">
                <a:effectLst/>
                <a:latin typeface="Arial" panose="020B0604020202020204" pitchFamily="34" charset="0"/>
                <a:ea typeface="Times New Roman" panose="02020603050405020304" pitchFamily="18" charset="0"/>
                <a:cs typeface="Times New Roman" panose="02020603050405020304" pitchFamily="18" charset="0"/>
              </a:rPr>
              <a:t>This knowledge can be used to inform </a:t>
            </a:r>
            <a:r>
              <a:rPr lang="en-US" u="sng" dirty="0">
                <a:effectLst/>
                <a:latin typeface="Arial" panose="020B0604020202020204" pitchFamily="34" charset="0"/>
                <a:ea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product development</a:t>
            </a:r>
            <a:r>
              <a:rPr lang="en-US" dirty="0">
                <a:effectLst/>
                <a:latin typeface="Arial" panose="020B0604020202020204" pitchFamily="34" charset="0"/>
                <a:ea typeface="Times New Roman" panose="02020603050405020304" pitchFamily="18" charset="0"/>
                <a:cs typeface="Times New Roman" panose="02020603050405020304" pitchFamily="18" charset="0"/>
              </a:rPr>
              <a:t>, marketing, messaging, </a:t>
            </a:r>
            <a:r>
              <a:rPr lang="en-US" u="sng" dirty="0">
                <a:effectLst/>
                <a:latin typeface="Arial" panose="020B0604020202020204" pitchFamily="34" charset="0"/>
                <a:ea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customer experience</a:t>
            </a:r>
            <a:r>
              <a:rPr lang="en-US" dirty="0">
                <a:effectLst/>
                <a:latin typeface="Arial" panose="020B0604020202020204" pitchFamily="34" charset="0"/>
                <a:ea typeface="Times New Roman" panose="02020603050405020304" pitchFamily="18" charset="0"/>
                <a:cs typeface="Times New Roman" panose="02020603050405020304" pitchFamily="18" charset="0"/>
              </a:rPr>
              <a:t> design and brand </a:t>
            </a:r>
            <a:r>
              <a:rPr lang="en-US" u="sng" dirty="0">
                <a:effectLst/>
                <a:latin typeface="Arial" panose="020B0604020202020204" pitchFamily="34" charset="0"/>
                <a:ea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positioning</a:t>
            </a:r>
            <a:r>
              <a:rPr lang="en-US"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t>
            </a:r>
          </a:p>
          <a:p>
            <a:r>
              <a:rPr lang="en-US" dirty="0">
                <a:solidFill>
                  <a:srgbClr val="000000"/>
                </a:solidFill>
                <a:latin typeface="Arial" panose="020B0604020202020204" pitchFamily="34" charset="0"/>
                <a:ea typeface="Calibri" panose="020F0502020204030204" pitchFamily="34" charset="0"/>
                <a:cs typeface="Times New Roman" panose="02020603050405020304" pitchFamily="18" charset="0"/>
              </a:rPr>
              <a:t>Listen to your potential customers, it will uncovers unmet and unarticulated needs that don’t give themselves up too easily. And these needs become fuel for product development and brand making. Steps for customer conversation:</a:t>
            </a:r>
          </a:p>
          <a:p>
            <a:r>
              <a:rPr lang="en-US"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Step1</a:t>
            </a:r>
            <a:r>
              <a:rPr lang="en-US"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a:t>
            </a:r>
            <a:r>
              <a:rPr lang="en-US" b="1" i="1" dirty="0">
                <a:solidFill>
                  <a:srgbClr val="000000"/>
                </a:solidFill>
                <a:latin typeface="Arial" panose="020B0604020202020204" pitchFamily="34" charset="0"/>
                <a:ea typeface="Calibri" panose="020F0502020204030204" pitchFamily="34" charset="0"/>
                <a:cs typeface="Times New Roman" panose="02020603050405020304" pitchFamily="18" charset="0"/>
              </a:rPr>
              <a:t>I</a:t>
            </a:r>
            <a:r>
              <a:rPr lang="en-US" b="1" i="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dentify a potential customer </a:t>
            </a:r>
            <a:r>
              <a:rPr lang="en-US"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If you are a B2B, you actually have two customers i.e</a:t>
            </a:r>
            <a:r>
              <a:rPr lang="en-US" dirty="0">
                <a:solidFill>
                  <a:srgbClr val="000000"/>
                </a:solidFill>
                <a:latin typeface="Arial" panose="020B0604020202020204" pitchFamily="34" charset="0"/>
                <a:ea typeface="Calibri" panose="020F0502020204030204" pitchFamily="34" charset="0"/>
                <a:cs typeface="Times New Roman" panose="02020603050405020304" pitchFamily="18" charset="0"/>
              </a:rPr>
              <a:t>. The business buyer and the end-user. For example, if your product is for use in the healthcare space, is your buyer a procurement executive in a large healthcare organization?</a:t>
            </a:r>
            <a:r>
              <a:rPr lang="en-US"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Is it a doctor? Some other kind of HCP? All three? Etc.</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7934279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F5DD4-018F-ABFF-38CB-E89AE14D1FE5}"/>
              </a:ext>
            </a:extLst>
          </p:cNvPr>
          <p:cNvSpPr>
            <a:spLocks noGrp="1"/>
          </p:cNvSpPr>
          <p:nvPr>
            <p:ph type="title"/>
          </p:nvPr>
        </p:nvSpPr>
        <p:spPr>
          <a:xfrm>
            <a:off x="685800" y="484632"/>
            <a:ext cx="7772400" cy="635041"/>
          </a:xfrm>
        </p:spPr>
        <p:txBody>
          <a:bodyPr>
            <a:normAutofit/>
          </a:bodyPr>
          <a:lstStyle/>
          <a:p>
            <a:r>
              <a:rPr lang="en-US" dirty="0"/>
              <a:t>      Customer analysis</a:t>
            </a:r>
          </a:p>
        </p:txBody>
      </p:sp>
      <p:sp>
        <p:nvSpPr>
          <p:cNvPr id="3" name="Content Placeholder 2">
            <a:extLst>
              <a:ext uri="{FF2B5EF4-FFF2-40B4-BE49-F238E27FC236}">
                <a16:creationId xmlns:a16="http://schemas.microsoft.com/office/drawing/2014/main" id="{C2A2E46A-10A7-8E4D-CD56-8A1F7814BE16}"/>
              </a:ext>
            </a:extLst>
          </p:cNvPr>
          <p:cNvSpPr>
            <a:spLocks noGrp="1"/>
          </p:cNvSpPr>
          <p:nvPr>
            <p:ph idx="1"/>
          </p:nvPr>
        </p:nvSpPr>
        <p:spPr>
          <a:xfrm>
            <a:off x="685800" y="1847461"/>
            <a:ext cx="7772400" cy="4324739"/>
          </a:xfrm>
        </p:spPr>
        <p:txBody>
          <a:bodyPr/>
          <a:lstStyle/>
          <a:p>
            <a:r>
              <a:rPr lang="en-US" b="1" dirty="0"/>
              <a:t>Step2: </a:t>
            </a:r>
            <a:r>
              <a:rPr lang="en-US" b="1" i="1" dirty="0"/>
              <a:t>Formulate Questions </a:t>
            </a:r>
            <a:r>
              <a:rPr lang="en-US" dirty="0"/>
              <a:t>– your second task is to develop a list of questions for your buyer/potential buyer.</a:t>
            </a:r>
          </a:p>
          <a:p>
            <a:endParaRPr lang="en-US" dirty="0"/>
          </a:p>
        </p:txBody>
      </p:sp>
      <p:graphicFrame>
        <p:nvGraphicFramePr>
          <p:cNvPr id="4" name="Table 4">
            <a:extLst>
              <a:ext uri="{FF2B5EF4-FFF2-40B4-BE49-F238E27FC236}">
                <a16:creationId xmlns:a16="http://schemas.microsoft.com/office/drawing/2014/main" id="{4CE129BE-9621-876C-A89B-14FE9CACBF70}"/>
              </a:ext>
            </a:extLst>
          </p:cNvPr>
          <p:cNvGraphicFramePr>
            <a:graphicFrameLocks noGrp="1"/>
          </p:cNvGraphicFramePr>
          <p:nvPr>
            <p:extLst>
              <p:ext uri="{D42A27DB-BD31-4B8C-83A1-F6EECF244321}">
                <p14:modId xmlns:p14="http://schemas.microsoft.com/office/powerpoint/2010/main" val="3012081835"/>
              </p:ext>
            </p:extLst>
          </p:nvPr>
        </p:nvGraphicFramePr>
        <p:xfrm>
          <a:off x="685800" y="2677886"/>
          <a:ext cx="7917024" cy="3883310"/>
        </p:xfrm>
        <a:graphic>
          <a:graphicData uri="http://schemas.openxmlformats.org/drawingml/2006/table">
            <a:tbl>
              <a:tblPr firstRow="1" bandRow="1">
                <a:tableStyleId>{073A0DAA-6AF3-43AB-8588-CEC1D06C72B9}</a:tableStyleId>
              </a:tblPr>
              <a:tblGrid>
                <a:gridCol w="3958512">
                  <a:extLst>
                    <a:ext uri="{9D8B030D-6E8A-4147-A177-3AD203B41FA5}">
                      <a16:colId xmlns:a16="http://schemas.microsoft.com/office/drawing/2014/main" val="3716245131"/>
                    </a:ext>
                  </a:extLst>
                </a:gridCol>
                <a:gridCol w="3958512">
                  <a:extLst>
                    <a:ext uri="{9D8B030D-6E8A-4147-A177-3AD203B41FA5}">
                      <a16:colId xmlns:a16="http://schemas.microsoft.com/office/drawing/2014/main" val="3847525239"/>
                    </a:ext>
                  </a:extLst>
                </a:gridCol>
              </a:tblGrid>
              <a:tr h="347089">
                <a:tc>
                  <a:txBody>
                    <a:bodyPr/>
                    <a:lstStyle/>
                    <a:p>
                      <a:r>
                        <a:rPr lang="en-US" dirty="0"/>
                        <a:t>Name</a:t>
                      </a:r>
                    </a:p>
                  </a:txBody>
                  <a:tcPr/>
                </a:tc>
                <a:tc>
                  <a:txBody>
                    <a:bodyPr/>
                    <a:lstStyle/>
                    <a:p>
                      <a:endParaRPr lang="en-US"/>
                    </a:p>
                  </a:txBody>
                  <a:tcPr/>
                </a:tc>
                <a:extLst>
                  <a:ext uri="{0D108BD9-81ED-4DB2-BD59-A6C34878D82A}">
                    <a16:rowId xmlns:a16="http://schemas.microsoft.com/office/drawing/2014/main" val="2973422234"/>
                  </a:ext>
                </a:extLst>
              </a:tr>
              <a:tr h="382294">
                <a:tc>
                  <a:txBody>
                    <a:bodyPr/>
                    <a:lstStyle/>
                    <a:p>
                      <a:r>
                        <a:rPr lang="en-US" sz="1800" dirty="0"/>
                        <a:t>Organization</a:t>
                      </a:r>
                    </a:p>
                  </a:txBody>
                  <a:tcPr/>
                </a:tc>
                <a:tc>
                  <a:txBody>
                    <a:bodyPr/>
                    <a:lstStyle/>
                    <a:p>
                      <a:endParaRPr lang="en-US"/>
                    </a:p>
                  </a:txBody>
                  <a:tcPr/>
                </a:tc>
                <a:extLst>
                  <a:ext uri="{0D108BD9-81ED-4DB2-BD59-A6C34878D82A}">
                    <a16:rowId xmlns:a16="http://schemas.microsoft.com/office/drawing/2014/main" val="350401087"/>
                  </a:ext>
                </a:extLst>
              </a:tr>
              <a:tr h="382294">
                <a:tc>
                  <a:txBody>
                    <a:bodyPr/>
                    <a:lstStyle/>
                    <a:p>
                      <a:r>
                        <a:rPr lang="en-US" sz="1800" dirty="0"/>
                        <a:t>Describe your role</a:t>
                      </a:r>
                    </a:p>
                  </a:txBody>
                  <a:tcPr/>
                </a:tc>
                <a:tc>
                  <a:txBody>
                    <a:bodyPr/>
                    <a:lstStyle/>
                    <a:p>
                      <a:endParaRPr lang="en-US"/>
                    </a:p>
                  </a:txBody>
                  <a:tcPr/>
                </a:tc>
                <a:extLst>
                  <a:ext uri="{0D108BD9-81ED-4DB2-BD59-A6C34878D82A}">
                    <a16:rowId xmlns:a16="http://schemas.microsoft.com/office/drawing/2014/main" val="2411535693"/>
                  </a:ext>
                </a:extLst>
              </a:tr>
              <a:tr h="382294">
                <a:tc>
                  <a:txBody>
                    <a:bodyPr/>
                    <a:lstStyle/>
                    <a:p>
                      <a:r>
                        <a:rPr lang="en-US" sz="1800" dirty="0"/>
                        <a:t>What is your biggest challenge?</a:t>
                      </a:r>
                    </a:p>
                  </a:txBody>
                  <a:tcPr/>
                </a:tc>
                <a:tc>
                  <a:txBody>
                    <a:bodyPr/>
                    <a:lstStyle/>
                    <a:p>
                      <a:endParaRPr lang="en-US" dirty="0"/>
                    </a:p>
                  </a:txBody>
                  <a:tcPr/>
                </a:tc>
                <a:extLst>
                  <a:ext uri="{0D108BD9-81ED-4DB2-BD59-A6C34878D82A}">
                    <a16:rowId xmlns:a16="http://schemas.microsoft.com/office/drawing/2014/main" val="3410880890"/>
                  </a:ext>
                </a:extLst>
              </a:tr>
              <a:tr h="669015">
                <a:tc>
                  <a:txBody>
                    <a:bodyPr/>
                    <a:lstStyle/>
                    <a:p>
                      <a:r>
                        <a:rPr lang="en-US" sz="1800" dirty="0"/>
                        <a:t>How are you currently addressing that challenge?</a:t>
                      </a:r>
                    </a:p>
                  </a:txBody>
                  <a:tcPr/>
                </a:tc>
                <a:tc>
                  <a:txBody>
                    <a:bodyPr/>
                    <a:lstStyle/>
                    <a:p>
                      <a:endParaRPr lang="en-US"/>
                    </a:p>
                  </a:txBody>
                  <a:tcPr/>
                </a:tc>
                <a:extLst>
                  <a:ext uri="{0D108BD9-81ED-4DB2-BD59-A6C34878D82A}">
                    <a16:rowId xmlns:a16="http://schemas.microsoft.com/office/drawing/2014/main" val="366023023"/>
                  </a:ext>
                </a:extLst>
              </a:tr>
              <a:tr h="382294">
                <a:tc>
                  <a:txBody>
                    <a:bodyPr/>
                    <a:lstStyle/>
                    <a:p>
                      <a:r>
                        <a:rPr lang="en-US" sz="1800" dirty="0"/>
                        <a:t>How is that going?</a:t>
                      </a:r>
                    </a:p>
                  </a:txBody>
                  <a:tcPr/>
                </a:tc>
                <a:tc>
                  <a:txBody>
                    <a:bodyPr/>
                    <a:lstStyle/>
                    <a:p>
                      <a:endParaRPr lang="en-US"/>
                    </a:p>
                  </a:txBody>
                  <a:tcPr/>
                </a:tc>
                <a:extLst>
                  <a:ext uri="{0D108BD9-81ED-4DB2-BD59-A6C34878D82A}">
                    <a16:rowId xmlns:a16="http://schemas.microsoft.com/office/drawing/2014/main" val="3578000544"/>
                  </a:ext>
                </a:extLst>
              </a:tr>
              <a:tr h="669015">
                <a:tc>
                  <a:txBody>
                    <a:bodyPr/>
                    <a:lstStyle/>
                    <a:p>
                      <a:r>
                        <a:rPr lang="en-US" sz="1800" dirty="0"/>
                        <a:t>What would make it easier for you to meet this challenge?</a:t>
                      </a:r>
                    </a:p>
                  </a:txBody>
                  <a:tcPr/>
                </a:tc>
                <a:tc>
                  <a:txBody>
                    <a:bodyPr/>
                    <a:lstStyle/>
                    <a:p>
                      <a:endParaRPr lang="en-US"/>
                    </a:p>
                  </a:txBody>
                  <a:tcPr/>
                </a:tc>
                <a:extLst>
                  <a:ext uri="{0D108BD9-81ED-4DB2-BD59-A6C34878D82A}">
                    <a16:rowId xmlns:a16="http://schemas.microsoft.com/office/drawing/2014/main" val="1956359294"/>
                  </a:ext>
                </a:extLst>
              </a:tr>
              <a:tr h="669015">
                <a:tc>
                  <a:txBody>
                    <a:bodyPr/>
                    <a:lstStyle/>
                    <a:p>
                      <a:r>
                        <a:rPr lang="en-US" sz="1800" dirty="0"/>
                        <a:t>What would make it easier or better for your customer?</a:t>
                      </a:r>
                    </a:p>
                  </a:txBody>
                  <a:tcPr/>
                </a:tc>
                <a:tc>
                  <a:txBody>
                    <a:bodyPr/>
                    <a:lstStyle/>
                    <a:p>
                      <a:endParaRPr lang="en-US" dirty="0"/>
                    </a:p>
                  </a:txBody>
                  <a:tcPr/>
                </a:tc>
                <a:extLst>
                  <a:ext uri="{0D108BD9-81ED-4DB2-BD59-A6C34878D82A}">
                    <a16:rowId xmlns:a16="http://schemas.microsoft.com/office/drawing/2014/main" val="3486505034"/>
                  </a:ext>
                </a:extLst>
              </a:tr>
            </a:tbl>
          </a:graphicData>
        </a:graphic>
      </p:graphicFrame>
    </p:spTree>
    <p:extLst>
      <p:ext uri="{BB962C8B-B14F-4D97-AF65-F5344CB8AC3E}">
        <p14:creationId xmlns:p14="http://schemas.microsoft.com/office/powerpoint/2010/main" val="8875906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77F40-C420-9627-C2D3-D050BAACF967}"/>
              </a:ext>
            </a:extLst>
          </p:cNvPr>
          <p:cNvSpPr>
            <a:spLocks noGrp="1"/>
          </p:cNvSpPr>
          <p:nvPr>
            <p:ph type="title"/>
          </p:nvPr>
        </p:nvSpPr>
        <p:spPr>
          <a:xfrm>
            <a:off x="685800" y="484632"/>
            <a:ext cx="7772400" cy="569727"/>
          </a:xfrm>
        </p:spPr>
        <p:txBody>
          <a:bodyPr>
            <a:normAutofit/>
          </a:bodyPr>
          <a:lstStyle/>
          <a:p>
            <a:r>
              <a:rPr lang="en-US" dirty="0"/>
              <a:t>      Customer analysis</a:t>
            </a:r>
          </a:p>
        </p:txBody>
      </p:sp>
      <p:sp>
        <p:nvSpPr>
          <p:cNvPr id="3" name="Content Placeholder 2">
            <a:extLst>
              <a:ext uri="{FF2B5EF4-FFF2-40B4-BE49-F238E27FC236}">
                <a16:creationId xmlns:a16="http://schemas.microsoft.com/office/drawing/2014/main" id="{C502BA7C-7EE6-E45E-398F-56F2178E2620}"/>
              </a:ext>
            </a:extLst>
          </p:cNvPr>
          <p:cNvSpPr>
            <a:spLocks noGrp="1"/>
          </p:cNvSpPr>
          <p:nvPr>
            <p:ph idx="1"/>
          </p:nvPr>
        </p:nvSpPr>
        <p:spPr>
          <a:xfrm>
            <a:off x="167951" y="1838131"/>
            <a:ext cx="8742783" cy="4334069"/>
          </a:xfrm>
        </p:spPr>
        <p:txBody>
          <a:bodyPr>
            <a:normAutofit fontScale="92500"/>
          </a:bodyPr>
          <a:lstStyle/>
          <a:p>
            <a:r>
              <a:rPr lang="en-US" b="1" dirty="0"/>
              <a:t>Step3: </a:t>
            </a:r>
            <a:r>
              <a:rPr lang="en-US" b="1" i="1" dirty="0"/>
              <a:t>Conduct Interviews </a:t>
            </a:r>
            <a:r>
              <a:rPr lang="en-US" dirty="0"/>
              <a:t>– it is absolutely necessary to this face to face so that you can observe body language, emotional state of the customer and listen for subtext.</a:t>
            </a:r>
          </a:p>
          <a:p>
            <a:r>
              <a:rPr lang="en-US" dirty="0"/>
              <a:t>Be sure to record the conversation. Video is ideal, but audio will suffice, if necessary.</a:t>
            </a:r>
          </a:p>
          <a:p>
            <a:r>
              <a:rPr lang="en-US" b="1" dirty="0"/>
              <a:t>Step4: </a:t>
            </a:r>
            <a:r>
              <a:rPr lang="en-US" b="1" i="1" dirty="0"/>
              <a:t>Repeat</a:t>
            </a:r>
            <a:r>
              <a:rPr lang="en-US" b="1" dirty="0"/>
              <a:t> </a:t>
            </a:r>
            <a:r>
              <a:rPr lang="en-US" dirty="0"/>
              <a:t>– Ideally, you have to conduct 10 to 12 of these in depth interviews, depending on the variety of players affected.</a:t>
            </a:r>
          </a:p>
          <a:p>
            <a:r>
              <a:rPr lang="en-US" dirty="0"/>
              <a:t>In a healthcare scenario, for example, you have to speak to buyers, healthcare personnel and patients to get a robust 360-degree view of the situation.</a:t>
            </a:r>
          </a:p>
          <a:p>
            <a:r>
              <a:rPr lang="en-US" dirty="0"/>
              <a:t>If you cannot conduct the interviews yourself, seek the aid of an expert   </a:t>
            </a:r>
          </a:p>
          <a:p>
            <a:r>
              <a:rPr lang="en-US" b="1" dirty="0"/>
              <a:t>Step5: </a:t>
            </a:r>
            <a:r>
              <a:rPr lang="en-US" b="1" i="1" dirty="0"/>
              <a:t>Report</a:t>
            </a:r>
            <a:r>
              <a:rPr lang="en-US" b="1" dirty="0"/>
              <a:t> </a:t>
            </a:r>
            <a:r>
              <a:rPr lang="en-US" dirty="0"/>
              <a:t>– Chart your findings in whatever format is most useful.</a:t>
            </a:r>
          </a:p>
        </p:txBody>
      </p:sp>
    </p:spTree>
    <p:extLst>
      <p:ext uri="{BB962C8B-B14F-4D97-AF65-F5344CB8AC3E}">
        <p14:creationId xmlns:p14="http://schemas.microsoft.com/office/powerpoint/2010/main" val="33250182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CCA67-9B6B-5214-FF76-18FC8088D4C1}"/>
              </a:ext>
            </a:extLst>
          </p:cNvPr>
          <p:cNvSpPr>
            <a:spLocks noGrp="1"/>
          </p:cNvSpPr>
          <p:nvPr>
            <p:ph type="title"/>
          </p:nvPr>
        </p:nvSpPr>
        <p:spPr>
          <a:xfrm>
            <a:off x="685800" y="484632"/>
            <a:ext cx="7772400" cy="681695"/>
          </a:xfrm>
        </p:spPr>
        <p:txBody>
          <a:bodyPr/>
          <a:lstStyle/>
          <a:p>
            <a:r>
              <a:rPr lang="en-US" dirty="0"/>
              <a:t>      Company analysis</a:t>
            </a:r>
          </a:p>
        </p:txBody>
      </p:sp>
      <p:sp>
        <p:nvSpPr>
          <p:cNvPr id="3" name="Content Placeholder 2">
            <a:extLst>
              <a:ext uri="{FF2B5EF4-FFF2-40B4-BE49-F238E27FC236}">
                <a16:creationId xmlns:a16="http://schemas.microsoft.com/office/drawing/2014/main" id="{DC62F36C-D800-07FC-7B0A-3B78979C699D}"/>
              </a:ext>
            </a:extLst>
          </p:cNvPr>
          <p:cNvSpPr>
            <a:spLocks noGrp="1"/>
          </p:cNvSpPr>
          <p:nvPr>
            <p:ph idx="1"/>
          </p:nvPr>
        </p:nvSpPr>
        <p:spPr>
          <a:xfrm>
            <a:off x="74645" y="1856792"/>
            <a:ext cx="8938725" cy="4315408"/>
          </a:xfrm>
        </p:spPr>
        <p:txBody>
          <a:bodyPr>
            <a:normAutofit fontScale="92500"/>
          </a:bodyPr>
          <a:lstStyle/>
          <a:p>
            <a:r>
              <a:rPr lang="en-US" sz="1800" dirty="0">
                <a:effectLst/>
                <a:latin typeface="Arial" panose="020B0604020202020204" pitchFamily="34" charset="0"/>
                <a:ea typeface="Times New Roman" panose="02020603050405020304" pitchFamily="18" charset="0"/>
                <a:cs typeface="Times New Roman" panose="02020603050405020304" pitchFamily="18" charset="0"/>
              </a:rPr>
              <a:t>This is really about </a:t>
            </a:r>
            <a:r>
              <a:rPr lang="en-US" sz="1800" u="sng" dirty="0">
                <a:effectLst/>
                <a:latin typeface="Arial" panose="020B0604020202020204" pitchFamily="34" charset="0"/>
                <a:ea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defining your strengths</a:t>
            </a:r>
            <a:r>
              <a:rPr lang="en-US" sz="1800" u="sng" dirty="0">
                <a:effectLst/>
                <a:latin typeface="Arial" panose="020B0604020202020204" pitchFamily="34" charset="0"/>
                <a:ea typeface="Times New Roman" panose="02020603050405020304" pitchFamily="18" charset="0"/>
                <a:cs typeface="Times New Roman" panose="02020603050405020304" pitchFamily="18" charset="0"/>
              </a:rPr>
              <a:t> and weaknesses</a:t>
            </a:r>
            <a:r>
              <a:rPr lang="en-US" sz="1800" dirty="0">
                <a:effectLst/>
                <a:latin typeface="Arial" panose="020B0604020202020204" pitchFamily="34" charset="0"/>
                <a:ea typeface="Times New Roman" panose="02020603050405020304" pitchFamily="18" charset="0"/>
                <a:cs typeface="Times New Roman" panose="02020603050405020304" pitchFamily="18" charset="0"/>
              </a:rPr>
              <a:t> as an enterprise. </a:t>
            </a:r>
          </a:p>
          <a:p>
            <a:r>
              <a:rPr lang="en-US" sz="1800" dirty="0">
                <a:effectLst/>
                <a:latin typeface="Arial" panose="020B0604020202020204" pitchFamily="34" charset="0"/>
                <a:ea typeface="Times New Roman" panose="02020603050405020304" pitchFamily="18" charset="0"/>
                <a:cs typeface="Times New Roman" panose="02020603050405020304" pitchFamily="18" charset="0"/>
              </a:rPr>
              <a:t>Are you conducting your business with a focus on delivering operational efficiency and price leadership (like Dell)? </a:t>
            </a:r>
          </a:p>
          <a:p>
            <a:r>
              <a:rPr lang="en-US" sz="1800" dirty="0">
                <a:effectLst/>
                <a:latin typeface="Arial" panose="020B0604020202020204" pitchFamily="34" charset="0"/>
                <a:ea typeface="Times New Roman" panose="02020603050405020304" pitchFamily="18" charset="0"/>
                <a:cs typeface="Times New Roman" panose="02020603050405020304" pitchFamily="18" charset="0"/>
              </a:rPr>
              <a:t>Are you a service-oriented culture with a passion for putting customers first (like Zappos)? </a:t>
            </a:r>
          </a:p>
          <a:p>
            <a:r>
              <a:rPr lang="en-US" sz="1800" dirty="0">
                <a:effectLst/>
                <a:latin typeface="Arial" panose="020B0604020202020204" pitchFamily="34" charset="0"/>
                <a:ea typeface="Times New Roman" panose="02020603050405020304" pitchFamily="18" charset="0"/>
                <a:cs typeface="Times New Roman" panose="02020603050405020304" pitchFamily="18" charset="0"/>
              </a:rPr>
              <a:t>Or are you an innovative culture obsessed with product leadership (like Apple)? </a:t>
            </a:r>
          </a:p>
          <a:p>
            <a:r>
              <a:rPr lang="en-US" sz="1800" dirty="0">
                <a:effectLst/>
                <a:latin typeface="Arial" panose="020B0604020202020204" pitchFamily="34" charset="0"/>
                <a:ea typeface="Times New Roman" panose="02020603050405020304" pitchFamily="18" charset="0"/>
                <a:cs typeface="Times New Roman" panose="02020603050405020304" pitchFamily="18" charset="0"/>
              </a:rPr>
              <a:t>Most companies are some combination </a:t>
            </a:r>
            <a:r>
              <a:rPr lang="en-US"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of all three, but to be strategic, you need to lead with just one. </a:t>
            </a:r>
          </a:p>
          <a:p>
            <a:r>
              <a:rPr lang="en-US"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This is the essence of Treacy and Wiersema’s Value Disciplines model. </a:t>
            </a:r>
            <a:r>
              <a:rPr lang="en-US" sz="18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(which consist of 3 different values: Product leadership, Operational excellence and Customer intimacy)</a:t>
            </a:r>
            <a:endParaRPr lang="en-US"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p>
            <a:r>
              <a:rPr lang="en-US"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Once you have made that decision, you have a key ingredient of your brand positioning.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8974877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F5F24-B1DC-3B36-0C2A-3DC6334CDF3D}"/>
              </a:ext>
            </a:extLst>
          </p:cNvPr>
          <p:cNvSpPr>
            <a:spLocks noGrp="1"/>
          </p:cNvSpPr>
          <p:nvPr>
            <p:ph type="title"/>
          </p:nvPr>
        </p:nvSpPr>
        <p:spPr>
          <a:xfrm>
            <a:off x="685800" y="484632"/>
            <a:ext cx="7772400" cy="719017"/>
          </a:xfrm>
        </p:spPr>
        <p:txBody>
          <a:bodyPr/>
          <a:lstStyle/>
          <a:p>
            <a:r>
              <a:rPr lang="en-US" dirty="0"/>
              <a:t>      Company analysis</a:t>
            </a:r>
          </a:p>
        </p:txBody>
      </p:sp>
      <p:sp>
        <p:nvSpPr>
          <p:cNvPr id="3" name="Content Placeholder 2">
            <a:extLst>
              <a:ext uri="{FF2B5EF4-FFF2-40B4-BE49-F238E27FC236}">
                <a16:creationId xmlns:a16="http://schemas.microsoft.com/office/drawing/2014/main" id="{104419A9-FBF2-CE43-A651-0BE1D8F1579E}"/>
              </a:ext>
            </a:extLst>
          </p:cNvPr>
          <p:cNvSpPr>
            <a:spLocks noGrp="1"/>
          </p:cNvSpPr>
          <p:nvPr>
            <p:ph idx="1"/>
          </p:nvPr>
        </p:nvSpPr>
        <p:spPr>
          <a:xfrm>
            <a:off x="685800" y="1828800"/>
            <a:ext cx="7772400" cy="4343400"/>
          </a:xfrm>
        </p:spPr>
        <p:txBody>
          <a:bodyPr>
            <a:normAutofit fontScale="92500" lnSpcReduction="20000"/>
          </a:bodyPr>
          <a:lstStyle/>
          <a:p>
            <a:r>
              <a:rPr lang="en-US" sz="2400" dirty="0"/>
              <a:t>The 3 value disciplines makes your choice very easy at the highest level.</a:t>
            </a:r>
          </a:p>
          <a:p>
            <a:pPr>
              <a:buFont typeface="Wingdings" panose="05000000000000000000" pitchFamily="2" charset="2"/>
              <a:buChar char="Ø"/>
            </a:pPr>
            <a:r>
              <a:rPr lang="en-US" sz="2400" dirty="0"/>
              <a:t>Operational efficiency: focus on reducing costs so you can compete on price</a:t>
            </a:r>
          </a:p>
          <a:p>
            <a:pPr>
              <a:buFont typeface="Wingdings" panose="05000000000000000000" pitchFamily="2" charset="2"/>
              <a:buChar char="Ø"/>
            </a:pPr>
            <a:r>
              <a:rPr lang="en-US" sz="2400" dirty="0"/>
              <a:t>Product leadership: focus on product innovation and speed to market</a:t>
            </a:r>
          </a:p>
          <a:p>
            <a:pPr>
              <a:buFont typeface="Wingdings" panose="05000000000000000000" pitchFamily="2" charset="2"/>
              <a:buChar char="Ø"/>
            </a:pPr>
            <a:r>
              <a:rPr lang="en-US" sz="2400" dirty="0"/>
              <a:t>Customer intimacy: focus on customer relationships and unmatched service</a:t>
            </a:r>
          </a:p>
          <a:p>
            <a:r>
              <a:rPr lang="en-US" sz="2400" dirty="0"/>
              <a:t>You need to look at your enterprise through  each lens and ask yourself which one you are best suited – as a company and a culture to prioritize.</a:t>
            </a:r>
          </a:p>
        </p:txBody>
      </p:sp>
    </p:spTree>
    <p:extLst>
      <p:ext uri="{BB962C8B-B14F-4D97-AF65-F5344CB8AC3E}">
        <p14:creationId xmlns:p14="http://schemas.microsoft.com/office/powerpoint/2010/main" val="36976251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16E0D-6580-3B37-B553-6E9491E1FDFC}"/>
              </a:ext>
            </a:extLst>
          </p:cNvPr>
          <p:cNvSpPr>
            <a:spLocks noGrp="1"/>
          </p:cNvSpPr>
          <p:nvPr>
            <p:ph type="title"/>
          </p:nvPr>
        </p:nvSpPr>
        <p:spPr>
          <a:xfrm>
            <a:off x="685800" y="484632"/>
            <a:ext cx="7772400" cy="607050"/>
          </a:xfrm>
        </p:spPr>
        <p:txBody>
          <a:bodyPr>
            <a:normAutofit/>
          </a:bodyPr>
          <a:lstStyle/>
          <a:p>
            <a:r>
              <a:rPr lang="en-US" dirty="0"/>
              <a:t>      Company analysis    </a:t>
            </a:r>
          </a:p>
        </p:txBody>
      </p:sp>
      <p:sp>
        <p:nvSpPr>
          <p:cNvPr id="3" name="Content Placeholder 2">
            <a:extLst>
              <a:ext uri="{FF2B5EF4-FFF2-40B4-BE49-F238E27FC236}">
                <a16:creationId xmlns:a16="http://schemas.microsoft.com/office/drawing/2014/main" id="{D5C3EB1F-F2FE-A34D-465F-29E10F203E29}"/>
              </a:ext>
            </a:extLst>
          </p:cNvPr>
          <p:cNvSpPr>
            <a:spLocks noGrp="1"/>
          </p:cNvSpPr>
          <p:nvPr>
            <p:ph idx="1"/>
          </p:nvPr>
        </p:nvSpPr>
        <p:spPr>
          <a:xfrm>
            <a:off x="167951" y="1838131"/>
            <a:ext cx="8976049" cy="4334069"/>
          </a:xfrm>
        </p:spPr>
        <p:txBody>
          <a:bodyPr>
            <a:normAutofit fontScale="92500"/>
          </a:bodyPr>
          <a:lstStyle/>
          <a:p>
            <a:r>
              <a:rPr lang="en-US" sz="2400" dirty="0"/>
              <a:t>For example, if operational efficiency is your focus, you will not spend as much time or money on the other options, because cost-cutting takes precedence. Cost is the most important driver of your success (think Dell).</a:t>
            </a:r>
          </a:p>
          <a:p>
            <a:r>
              <a:rPr lang="en-US" sz="2400" dirty="0"/>
              <a:t>If product leadership is your focus, you need to invest the major part of your time and money on product innovation. Customer service and operational efficiency will be less of a priority (think Apple).</a:t>
            </a:r>
          </a:p>
          <a:p>
            <a:r>
              <a:rPr lang="en-US" sz="2400" dirty="0"/>
              <a:t>If customer intimacy is your focus, you will invest time and money in getting to know your customers so well that you can anticipate their needs and have mechanism in place to deal with them (think Zappos).</a:t>
            </a:r>
          </a:p>
        </p:txBody>
      </p:sp>
    </p:spTree>
    <p:extLst>
      <p:ext uri="{BB962C8B-B14F-4D97-AF65-F5344CB8AC3E}">
        <p14:creationId xmlns:p14="http://schemas.microsoft.com/office/powerpoint/2010/main" val="19869453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41046-D16F-7680-323A-24A1ECED63C5}"/>
              </a:ext>
            </a:extLst>
          </p:cNvPr>
          <p:cNvSpPr>
            <a:spLocks noGrp="1"/>
          </p:cNvSpPr>
          <p:nvPr>
            <p:ph type="title"/>
          </p:nvPr>
        </p:nvSpPr>
        <p:spPr>
          <a:xfrm>
            <a:off x="685800" y="484632"/>
            <a:ext cx="7772400" cy="747009"/>
          </a:xfrm>
        </p:spPr>
        <p:txBody>
          <a:bodyPr/>
          <a:lstStyle/>
          <a:p>
            <a:r>
              <a:rPr lang="en-US" dirty="0"/>
              <a:t>      Company analysis</a:t>
            </a:r>
          </a:p>
        </p:txBody>
      </p:sp>
      <p:sp>
        <p:nvSpPr>
          <p:cNvPr id="3" name="Content Placeholder 2">
            <a:extLst>
              <a:ext uri="{FF2B5EF4-FFF2-40B4-BE49-F238E27FC236}">
                <a16:creationId xmlns:a16="http://schemas.microsoft.com/office/drawing/2014/main" id="{8C151E62-3FFB-6438-9F98-ADC169F57468}"/>
              </a:ext>
            </a:extLst>
          </p:cNvPr>
          <p:cNvSpPr>
            <a:spLocks noGrp="1"/>
          </p:cNvSpPr>
          <p:nvPr>
            <p:ph idx="1"/>
          </p:nvPr>
        </p:nvSpPr>
        <p:spPr>
          <a:xfrm>
            <a:off x="685800" y="1819469"/>
            <a:ext cx="7772400" cy="4352731"/>
          </a:xfrm>
        </p:spPr>
        <p:txBody>
          <a:bodyPr/>
          <a:lstStyle/>
          <a:p>
            <a:r>
              <a:rPr lang="en-US" sz="2400" dirty="0"/>
              <a:t>Which one you choose will guide how you are positioned against your competitors.</a:t>
            </a:r>
          </a:p>
          <a:p>
            <a:endParaRPr lang="en-US" dirty="0"/>
          </a:p>
          <a:p>
            <a:endParaRPr lang="en-US" dirty="0"/>
          </a:p>
        </p:txBody>
      </p:sp>
      <p:graphicFrame>
        <p:nvGraphicFramePr>
          <p:cNvPr id="4" name="Table 4">
            <a:extLst>
              <a:ext uri="{FF2B5EF4-FFF2-40B4-BE49-F238E27FC236}">
                <a16:creationId xmlns:a16="http://schemas.microsoft.com/office/drawing/2014/main" id="{5715982C-BEC6-C011-AC9D-86B4B8E81890}"/>
              </a:ext>
            </a:extLst>
          </p:cNvPr>
          <p:cNvGraphicFramePr>
            <a:graphicFrameLocks noGrp="1"/>
          </p:cNvGraphicFramePr>
          <p:nvPr>
            <p:extLst>
              <p:ext uri="{D42A27DB-BD31-4B8C-83A1-F6EECF244321}">
                <p14:modId xmlns:p14="http://schemas.microsoft.com/office/powerpoint/2010/main" val="3688280078"/>
              </p:ext>
            </p:extLst>
          </p:nvPr>
        </p:nvGraphicFramePr>
        <p:xfrm>
          <a:off x="401216" y="3135086"/>
          <a:ext cx="8444205" cy="2961381"/>
        </p:xfrm>
        <a:graphic>
          <a:graphicData uri="http://schemas.openxmlformats.org/drawingml/2006/table">
            <a:tbl>
              <a:tblPr firstRow="1" bandRow="1">
                <a:tableStyleId>{073A0DAA-6AF3-43AB-8588-CEC1D06C72B9}</a:tableStyleId>
              </a:tblPr>
              <a:tblGrid>
                <a:gridCol w="1875453">
                  <a:extLst>
                    <a:ext uri="{9D8B030D-6E8A-4147-A177-3AD203B41FA5}">
                      <a16:colId xmlns:a16="http://schemas.microsoft.com/office/drawing/2014/main" val="1188867967"/>
                    </a:ext>
                  </a:extLst>
                </a:gridCol>
                <a:gridCol w="2332653">
                  <a:extLst>
                    <a:ext uri="{9D8B030D-6E8A-4147-A177-3AD203B41FA5}">
                      <a16:colId xmlns:a16="http://schemas.microsoft.com/office/drawing/2014/main" val="2661107449"/>
                    </a:ext>
                  </a:extLst>
                </a:gridCol>
                <a:gridCol w="2062066">
                  <a:extLst>
                    <a:ext uri="{9D8B030D-6E8A-4147-A177-3AD203B41FA5}">
                      <a16:colId xmlns:a16="http://schemas.microsoft.com/office/drawing/2014/main" val="985636672"/>
                    </a:ext>
                  </a:extLst>
                </a:gridCol>
                <a:gridCol w="2174033">
                  <a:extLst>
                    <a:ext uri="{9D8B030D-6E8A-4147-A177-3AD203B41FA5}">
                      <a16:colId xmlns:a16="http://schemas.microsoft.com/office/drawing/2014/main" val="3630572050"/>
                    </a:ext>
                  </a:extLst>
                </a:gridCol>
              </a:tblGrid>
              <a:tr h="753447">
                <a:tc>
                  <a:txBody>
                    <a:bodyPr/>
                    <a:lstStyle/>
                    <a:p>
                      <a:r>
                        <a:rPr lang="en-US" sz="2000" dirty="0"/>
                        <a:t>VALUE DISCIPLINE</a:t>
                      </a:r>
                    </a:p>
                  </a:txBody>
                  <a:tcPr/>
                </a:tc>
                <a:tc>
                  <a:txBody>
                    <a:bodyPr/>
                    <a:lstStyle/>
                    <a:p>
                      <a:r>
                        <a:rPr lang="en-US" sz="2000" dirty="0"/>
                        <a:t>OPERATIONAL FOCUS</a:t>
                      </a:r>
                    </a:p>
                  </a:txBody>
                  <a:tcPr/>
                </a:tc>
                <a:tc>
                  <a:txBody>
                    <a:bodyPr/>
                    <a:lstStyle/>
                    <a:p>
                      <a:r>
                        <a:rPr lang="en-US" sz="2000" dirty="0"/>
                        <a:t>COMPETITIVE FOCUS</a:t>
                      </a:r>
                    </a:p>
                  </a:txBody>
                  <a:tcPr/>
                </a:tc>
                <a:tc>
                  <a:txBody>
                    <a:bodyPr/>
                    <a:lstStyle/>
                    <a:p>
                      <a:r>
                        <a:rPr lang="en-US" sz="2000" dirty="0"/>
                        <a:t>POSITIONING</a:t>
                      </a:r>
                    </a:p>
                  </a:txBody>
                  <a:tcPr/>
                </a:tc>
                <a:extLst>
                  <a:ext uri="{0D108BD9-81ED-4DB2-BD59-A6C34878D82A}">
                    <a16:rowId xmlns:a16="http://schemas.microsoft.com/office/drawing/2014/main" val="3723834264"/>
                  </a:ext>
                </a:extLst>
              </a:tr>
              <a:tr h="753447">
                <a:tc>
                  <a:txBody>
                    <a:bodyPr/>
                    <a:lstStyle/>
                    <a:p>
                      <a:r>
                        <a:rPr lang="en-US" sz="2000" dirty="0"/>
                        <a:t>OPERATIONAL EFFICIENCY</a:t>
                      </a:r>
                    </a:p>
                  </a:txBody>
                  <a:tcPr/>
                </a:tc>
                <a:tc>
                  <a:txBody>
                    <a:bodyPr/>
                    <a:lstStyle/>
                    <a:p>
                      <a:r>
                        <a:rPr lang="en-US" sz="2000" dirty="0"/>
                        <a:t>Cost control</a:t>
                      </a:r>
                    </a:p>
                  </a:txBody>
                  <a:tcPr/>
                </a:tc>
                <a:tc>
                  <a:txBody>
                    <a:bodyPr/>
                    <a:lstStyle/>
                    <a:p>
                      <a:r>
                        <a:rPr lang="en-US" sz="2000" dirty="0"/>
                        <a:t>Pricing </a:t>
                      </a:r>
                    </a:p>
                  </a:txBody>
                  <a:tcPr/>
                </a:tc>
                <a:tc>
                  <a:txBody>
                    <a:bodyPr/>
                    <a:lstStyle/>
                    <a:p>
                      <a:r>
                        <a:rPr lang="en-US" sz="2000" dirty="0"/>
                        <a:t>Cost leader</a:t>
                      </a:r>
                    </a:p>
                  </a:txBody>
                  <a:tcPr/>
                </a:tc>
                <a:extLst>
                  <a:ext uri="{0D108BD9-81ED-4DB2-BD59-A6C34878D82A}">
                    <a16:rowId xmlns:a16="http://schemas.microsoft.com/office/drawing/2014/main" val="4278411291"/>
                  </a:ext>
                </a:extLst>
              </a:tr>
              <a:tr h="753447">
                <a:tc>
                  <a:txBody>
                    <a:bodyPr/>
                    <a:lstStyle/>
                    <a:p>
                      <a:r>
                        <a:rPr lang="en-US" sz="2000" dirty="0"/>
                        <a:t>PRODUCT LEADERSHIP</a:t>
                      </a:r>
                    </a:p>
                  </a:txBody>
                  <a:tcPr/>
                </a:tc>
                <a:tc>
                  <a:txBody>
                    <a:bodyPr/>
                    <a:lstStyle/>
                    <a:p>
                      <a:r>
                        <a:rPr lang="en-US" sz="2000" dirty="0"/>
                        <a:t>Product innovation</a:t>
                      </a:r>
                    </a:p>
                  </a:txBody>
                  <a:tcPr/>
                </a:tc>
                <a:tc>
                  <a:txBody>
                    <a:bodyPr/>
                    <a:lstStyle/>
                    <a:p>
                      <a:r>
                        <a:rPr lang="en-US" sz="2000" dirty="0"/>
                        <a:t>Product quality</a:t>
                      </a:r>
                    </a:p>
                  </a:txBody>
                  <a:tcPr/>
                </a:tc>
                <a:tc>
                  <a:txBody>
                    <a:bodyPr/>
                    <a:lstStyle/>
                    <a:p>
                      <a:r>
                        <a:rPr lang="en-US" sz="2000" dirty="0"/>
                        <a:t>Product leader</a:t>
                      </a:r>
                    </a:p>
                  </a:txBody>
                  <a:tcPr/>
                </a:tc>
                <a:extLst>
                  <a:ext uri="{0D108BD9-81ED-4DB2-BD59-A6C34878D82A}">
                    <a16:rowId xmlns:a16="http://schemas.microsoft.com/office/drawing/2014/main" val="1985279132"/>
                  </a:ext>
                </a:extLst>
              </a:tr>
              <a:tr h="436206">
                <a:tc>
                  <a:txBody>
                    <a:bodyPr/>
                    <a:lstStyle/>
                    <a:p>
                      <a:r>
                        <a:rPr lang="en-US" sz="2000" dirty="0"/>
                        <a:t>CUSTOMER INTIMACY</a:t>
                      </a:r>
                    </a:p>
                  </a:txBody>
                  <a:tcPr/>
                </a:tc>
                <a:tc>
                  <a:txBody>
                    <a:bodyPr/>
                    <a:lstStyle/>
                    <a:p>
                      <a:r>
                        <a:rPr lang="en-US" sz="2000" dirty="0"/>
                        <a:t>Customer insight</a:t>
                      </a:r>
                    </a:p>
                  </a:txBody>
                  <a:tcPr/>
                </a:tc>
                <a:tc>
                  <a:txBody>
                    <a:bodyPr/>
                    <a:lstStyle/>
                    <a:p>
                      <a:r>
                        <a:rPr lang="en-US" sz="2000" dirty="0"/>
                        <a:t>Service quality</a:t>
                      </a:r>
                    </a:p>
                  </a:txBody>
                  <a:tcPr/>
                </a:tc>
                <a:tc>
                  <a:txBody>
                    <a:bodyPr/>
                    <a:lstStyle/>
                    <a:p>
                      <a:r>
                        <a:rPr lang="en-US" sz="2000" dirty="0"/>
                        <a:t>Service leader</a:t>
                      </a:r>
                    </a:p>
                  </a:txBody>
                  <a:tcPr/>
                </a:tc>
                <a:extLst>
                  <a:ext uri="{0D108BD9-81ED-4DB2-BD59-A6C34878D82A}">
                    <a16:rowId xmlns:a16="http://schemas.microsoft.com/office/drawing/2014/main" val="337889259"/>
                  </a:ext>
                </a:extLst>
              </a:tr>
            </a:tbl>
          </a:graphicData>
        </a:graphic>
      </p:graphicFrame>
    </p:spTree>
    <p:extLst>
      <p:ext uri="{BB962C8B-B14F-4D97-AF65-F5344CB8AC3E}">
        <p14:creationId xmlns:p14="http://schemas.microsoft.com/office/powerpoint/2010/main" val="40263080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F1B44-45FF-3D4C-8833-15B6A20E63A5}"/>
              </a:ext>
            </a:extLst>
          </p:cNvPr>
          <p:cNvSpPr>
            <a:spLocks noGrp="1"/>
          </p:cNvSpPr>
          <p:nvPr>
            <p:ph type="title"/>
          </p:nvPr>
        </p:nvSpPr>
        <p:spPr>
          <a:xfrm>
            <a:off x="685800" y="484632"/>
            <a:ext cx="7772400" cy="849646"/>
          </a:xfrm>
        </p:spPr>
        <p:txBody>
          <a:bodyPr/>
          <a:lstStyle/>
          <a:p>
            <a:r>
              <a:rPr lang="en-US" dirty="0"/>
              <a:t>     Competitors analysis</a:t>
            </a:r>
          </a:p>
        </p:txBody>
      </p:sp>
      <p:sp>
        <p:nvSpPr>
          <p:cNvPr id="3" name="Content Placeholder 2">
            <a:extLst>
              <a:ext uri="{FF2B5EF4-FFF2-40B4-BE49-F238E27FC236}">
                <a16:creationId xmlns:a16="http://schemas.microsoft.com/office/drawing/2014/main" id="{39E66740-3711-51EA-965B-300CD5A68195}"/>
              </a:ext>
            </a:extLst>
          </p:cNvPr>
          <p:cNvSpPr>
            <a:spLocks noGrp="1"/>
          </p:cNvSpPr>
          <p:nvPr>
            <p:ph idx="1"/>
          </p:nvPr>
        </p:nvSpPr>
        <p:spPr>
          <a:xfrm>
            <a:off x="685800" y="1828800"/>
            <a:ext cx="7772400" cy="4343400"/>
          </a:xfrm>
        </p:spPr>
        <p:txBody>
          <a:bodyPr>
            <a:normAutofit fontScale="92500" lnSpcReduction="10000"/>
          </a:bodyPr>
          <a:lstStyle/>
          <a:p>
            <a:r>
              <a:rPr lang="en-US" dirty="0"/>
              <a:t>Competitive analysis involves identifying your direct and indirect competitors using research to reveal their strengths and weaknesses in relation to your own.</a:t>
            </a:r>
          </a:p>
          <a:p>
            <a:r>
              <a:rPr lang="en-US" dirty="0"/>
              <a:t>Direct competitors market the same product to the same audience as you, while indirect competitors market the same product to different audience.</a:t>
            </a:r>
          </a:p>
          <a:p>
            <a:r>
              <a:rPr lang="en-US" b="1" i="1" dirty="0"/>
              <a:t>Five Steps to Competitors Analysis:</a:t>
            </a:r>
          </a:p>
          <a:p>
            <a:r>
              <a:rPr lang="en-US" dirty="0" err="1"/>
              <a:t>i</a:t>
            </a:r>
            <a:r>
              <a:rPr lang="en-US" dirty="0"/>
              <a:t>. </a:t>
            </a:r>
            <a:r>
              <a:rPr lang="en-US" i="1" dirty="0">
                <a:solidFill>
                  <a:schemeClr val="accent1"/>
                </a:solidFill>
              </a:rPr>
              <a:t>Identify your competitors </a:t>
            </a:r>
            <a:r>
              <a:rPr lang="en-US" dirty="0"/>
              <a:t>– </a:t>
            </a:r>
            <a:r>
              <a:rPr lang="en-US" b="0" i="0" dirty="0">
                <a:solidFill>
                  <a:srgbClr val="000000"/>
                </a:solidFill>
                <a:effectLst/>
                <a:latin typeface="Times New Roman" panose="02020603050405020304" pitchFamily="18" charset="0"/>
              </a:rPr>
              <a:t>You can’t position your enterprise, product or service without understanding what you are up against in the marketplace. </a:t>
            </a:r>
          </a:p>
          <a:p>
            <a:r>
              <a:rPr lang="en-US" dirty="0">
                <a:solidFill>
                  <a:srgbClr val="000000"/>
                </a:solidFill>
                <a:latin typeface="Times New Roman" panose="02020603050405020304" pitchFamily="18" charset="0"/>
              </a:rPr>
              <a:t>Who are your primary competitors? Your secondary ones? And who is in that</a:t>
            </a:r>
            <a:r>
              <a:rPr lang="en-US" dirty="0"/>
              <a:t> third group, the one that may not be on your horizon now but is nibbling around the edges of your customer base?</a:t>
            </a:r>
          </a:p>
        </p:txBody>
      </p:sp>
    </p:spTree>
    <p:extLst>
      <p:ext uri="{BB962C8B-B14F-4D97-AF65-F5344CB8AC3E}">
        <p14:creationId xmlns:p14="http://schemas.microsoft.com/office/powerpoint/2010/main" val="9128836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5C498-0BF9-F9E7-3CF4-C5F71FA3D8E5}"/>
              </a:ext>
            </a:extLst>
          </p:cNvPr>
          <p:cNvSpPr>
            <a:spLocks noGrp="1"/>
          </p:cNvSpPr>
          <p:nvPr>
            <p:ph type="title"/>
          </p:nvPr>
        </p:nvSpPr>
        <p:spPr>
          <a:xfrm>
            <a:off x="685800" y="484632"/>
            <a:ext cx="7772400" cy="812323"/>
          </a:xfrm>
        </p:spPr>
        <p:txBody>
          <a:bodyPr>
            <a:normAutofit/>
          </a:bodyPr>
          <a:lstStyle/>
          <a:p>
            <a:r>
              <a:rPr lang="en-US" sz="3600" dirty="0"/>
              <a:t>     Competitors analysis</a:t>
            </a:r>
          </a:p>
        </p:txBody>
      </p:sp>
      <p:sp>
        <p:nvSpPr>
          <p:cNvPr id="3" name="Content Placeholder 2">
            <a:extLst>
              <a:ext uri="{FF2B5EF4-FFF2-40B4-BE49-F238E27FC236}">
                <a16:creationId xmlns:a16="http://schemas.microsoft.com/office/drawing/2014/main" id="{2F49777A-FA46-4768-4D18-F553E3A6FF8A}"/>
              </a:ext>
            </a:extLst>
          </p:cNvPr>
          <p:cNvSpPr>
            <a:spLocks noGrp="1"/>
          </p:cNvSpPr>
          <p:nvPr>
            <p:ph idx="1"/>
          </p:nvPr>
        </p:nvSpPr>
        <p:spPr>
          <a:xfrm>
            <a:off x="685800" y="1940767"/>
            <a:ext cx="7772400" cy="4231433"/>
          </a:xfrm>
        </p:spPr>
        <p:txBody>
          <a:bodyPr>
            <a:normAutofit lnSpcReduction="10000"/>
          </a:bodyPr>
          <a:lstStyle/>
          <a:p>
            <a:r>
              <a:rPr lang="en-US" dirty="0"/>
              <a:t>ii. </a:t>
            </a:r>
            <a:r>
              <a:rPr lang="en-US" sz="2400" i="1" dirty="0">
                <a:solidFill>
                  <a:schemeClr val="accent1"/>
                </a:solidFill>
              </a:rPr>
              <a:t>Audit their Content </a:t>
            </a:r>
            <a:r>
              <a:rPr lang="en-US" sz="2400" dirty="0"/>
              <a:t>– determine what content creation are they focusing on, and what opportunities have they left open?</a:t>
            </a:r>
          </a:p>
          <a:p>
            <a:r>
              <a:rPr lang="en-US" sz="2400" dirty="0"/>
              <a:t>How engaging is the content? How up-to-date it is? How often and where is new content added? What are the gaps that your business could bridge?</a:t>
            </a:r>
          </a:p>
          <a:p>
            <a:r>
              <a:rPr lang="en-US" sz="2400" dirty="0"/>
              <a:t>iii </a:t>
            </a:r>
            <a:r>
              <a:rPr lang="en-US" sz="2400" i="1" dirty="0">
                <a:solidFill>
                  <a:schemeClr val="accent1"/>
                </a:solidFill>
              </a:rPr>
              <a:t>Examine Their Website and Analyze Their SEO Content Focus </a:t>
            </a:r>
            <a:r>
              <a:rPr lang="en-US" sz="2400" dirty="0"/>
              <a:t>– get a feel of how customers might use your competitors website? </a:t>
            </a:r>
          </a:p>
        </p:txBody>
      </p:sp>
    </p:spTree>
    <p:extLst>
      <p:ext uri="{BB962C8B-B14F-4D97-AF65-F5344CB8AC3E}">
        <p14:creationId xmlns:p14="http://schemas.microsoft.com/office/powerpoint/2010/main" val="26317448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711FB-EFB8-0F7C-FD07-CE9F9C7813B5}"/>
              </a:ext>
            </a:extLst>
          </p:cNvPr>
          <p:cNvSpPr>
            <a:spLocks noGrp="1"/>
          </p:cNvSpPr>
          <p:nvPr>
            <p:ph type="title"/>
          </p:nvPr>
        </p:nvSpPr>
        <p:spPr>
          <a:xfrm>
            <a:off x="685800" y="484632"/>
            <a:ext cx="7772400" cy="579058"/>
          </a:xfrm>
        </p:spPr>
        <p:txBody>
          <a:bodyPr>
            <a:normAutofit fontScale="90000"/>
          </a:bodyPr>
          <a:lstStyle/>
          <a:p>
            <a:r>
              <a:rPr lang="en-US" sz="4400" b="1" kern="0" spc="-50" dirty="0">
                <a:effectLst/>
                <a:latin typeface="Arial MT"/>
                <a:ea typeface="Arial MT"/>
                <a:cs typeface="Arial MT"/>
              </a:rPr>
              <a:t>    Competitive</a:t>
            </a:r>
            <a:r>
              <a:rPr lang="en-US" sz="4400" b="1" kern="0" spc="-255" dirty="0">
                <a:effectLst/>
                <a:latin typeface="Arial MT"/>
                <a:ea typeface="Arial MT"/>
                <a:cs typeface="Arial MT"/>
              </a:rPr>
              <a:t> </a:t>
            </a:r>
            <a:r>
              <a:rPr lang="en-US" sz="4400" b="1" kern="0" spc="-45" dirty="0">
                <a:effectLst/>
                <a:latin typeface="Arial MT"/>
                <a:ea typeface="Arial MT"/>
                <a:cs typeface="Arial MT"/>
              </a:rPr>
              <a:t>Factors</a:t>
            </a:r>
            <a:br>
              <a:rPr lang="en-US" sz="4400" b="1" kern="0" dirty="0">
                <a:effectLst/>
                <a:latin typeface="Arial MT"/>
                <a:ea typeface="Arial MT"/>
                <a:cs typeface="Arial MT"/>
              </a:rPr>
            </a:br>
            <a:endParaRPr lang="en-US" dirty="0"/>
          </a:p>
        </p:txBody>
      </p:sp>
      <p:sp>
        <p:nvSpPr>
          <p:cNvPr id="3" name="Content Placeholder 2">
            <a:extLst>
              <a:ext uri="{FF2B5EF4-FFF2-40B4-BE49-F238E27FC236}">
                <a16:creationId xmlns:a16="http://schemas.microsoft.com/office/drawing/2014/main" id="{BB9D05B1-97E1-9210-B3B9-AC5550EE03E0}"/>
              </a:ext>
            </a:extLst>
          </p:cNvPr>
          <p:cNvSpPr>
            <a:spLocks noGrp="1"/>
          </p:cNvSpPr>
          <p:nvPr>
            <p:ph idx="1"/>
          </p:nvPr>
        </p:nvSpPr>
        <p:spPr>
          <a:xfrm>
            <a:off x="685800" y="1968758"/>
            <a:ext cx="7772400" cy="4203441"/>
          </a:xfrm>
        </p:spPr>
        <p:txBody>
          <a:bodyPr/>
          <a:lstStyle/>
          <a:p>
            <a:pPr marL="320040" marR="1995805" indent="0">
              <a:spcBef>
                <a:spcPts val="3540"/>
              </a:spcBef>
              <a:spcAft>
                <a:spcPts val="0"/>
              </a:spcAft>
              <a:buNone/>
            </a:pPr>
            <a:endParaRPr lang="en-US" sz="1800" dirty="0">
              <a:effectLst/>
              <a:latin typeface="Arial MT"/>
              <a:ea typeface="Arial MT"/>
              <a:cs typeface="Arial MT"/>
            </a:endParaRPr>
          </a:p>
          <a:p>
            <a:pPr marL="0" marR="0">
              <a:spcBef>
                <a:spcPts val="30"/>
              </a:spcBef>
              <a:spcAft>
                <a:spcPts val="0"/>
              </a:spcAft>
            </a:pPr>
            <a:r>
              <a:rPr lang="en-US" sz="2800" dirty="0">
                <a:effectLst/>
                <a:latin typeface="Arial MT"/>
                <a:ea typeface="Arial MT"/>
                <a:cs typeface="Arial MT"/>
              </a:rPr>
              <a:t> What makes a customer choose one solution over another?</a:t>
            </a:r>
          </a:p>
          <a:p>
            <a:pPr marL="548640" marR="0">
              <a:lnSpc>
                <a:spcPts val="3745"/>
              </a:lnSpc>
              <a:spcBef>
                <a:spcPts val="0"/>
              </a:spcBef>
              <a:spcAft>
                <a:spcPts val="0"/>
              </a:spcAft>
            </a:pPr>
            <a:r>
              <a:rPr lang="en-US" sz="2800" spc="-15" dirty="0">
                <a:effectLst/>
                <a:latin typeface="Arial MT"/>
                <a:ea typeface="Arial MT"/>
                <a:cs typeface="Arial MT"/>
              </a:rPr>
              <a:t>Price</a:t>
            </a:r>
            <a:r>
              <a:rPr lang="en-US" sz="2800" spc="-210" dirty="0">
                <a:effectLst/>
                <a:latin typeface="Arial MT"/>
                <a:ea typeface="Arial MT"/>
                <a:cs typeface="Arial MT"/>
              </a:rPr>
              <a:t> </a:t>
            </a:r>
            <a:r>
              <a:rPr lang="en-US" sz="2800" spc="-15" dirty="0">
                <a:effectLst/>
                <a:latin typeface="Arial MT"/>
                <a:ea typeface="Arial MT"/>
                <a:cs typeface="Arial MT"/>
              </a:rPr>
              <a:t>–</a:t>
            </a:r>
            <a:r>
              <a:rPr lang="en-US" sz="2800" spc="-210" dirty="0">
                <a:effectLst/>
                <a:latin typeface="Arial MT"/>
                <a:ea typeface="Arial MT"/>
                <a:cs typeface="Arial MT"/>
              </a:rPr>
              <a:t> </a:t>
            </a:r>
            <a:r>
              <a:rPr lang="en-US" sz="2800" spc="-15" dirty="0">
                <a:effectLst/>
                <a:latin typeface="Arial MT"/>
                <a:ea typeface="Arial MT"/>
                <a:cs typeface="Arial MT"/>
              </a:rPr>
              <a:t>cheaper</a:t>
            </a:r>
            <a:endParaRPr lang="en-US" sz="2800" dirty="0">
              <a:effectLst/>
              <a:latin typeface="Arial MT"/>
              <a:ea typeface="Arial MT"/>
              <a:cs typeface="Arial MT"/>
            </a:endParaRPr>
          </a:p>
          <a:p>
            <a:pPr marL="548640" marR="0">
              <a:lnSpc>
                <a:spcPts val="3800"/>
              </a:lnSpc>
              <a:spcBef>
                <a:spcPts val="10"/>
              </a:spcBef>
              <a:spcAft>
                <a:spcPts val="0"/>
              </a:spcAft>
            </a:pPr>
            <a:r>
              <a:rPr lang="en-US" sz="2800" spc="-35" dirty="0">
                <a:effectLst/>
                <a:latin typeface="Arial MT"/>
                <a:ea typeface="Arial MT"/>
                <a:cs typeface="Arial MT"/>
              </a:rPr>
              <a:t>Service – faster, personalized, </a:t>
            </a:r>
            <a:r>
              <a:rPr lang="en-US" sz="2800" spc="-30" dirty="0">
                <a:effectLst/>
                <a:latin typeface="Arial MT"/>
                <a:ea typeface="Arial MT"/>
                <a:cs typeface="Arial MT"/>
              </a:rPr>
              <a:t>convenient</a:t>
            </a:r>
            <a:r>
              <a:rPr lang="en-US" sz="2800" spc="-905" dirty="0">
                <a:effectLst/>
                <a:latin typeface="Arial MT"/>
                <a:ea typeface="Arial MT"/>
                <a:cs typeface="Arial MT"/>
              </a:rPr>
              <a:t> </a:t>
            </a:r>
          </a:p>
          <a:p>
            <a:pPr marL="548640" marR="0">
              <a:lnSpc>
                <a:spcPts val="3800"/>
              </a:lnSpc>
              <a:spcBef>
                <a:spcPts val="10"/>
              </a:spcBef>
              <a:spcAft>
                <a:spcPts val="0"/>
              </a:spcAft>
            </a:pPr>
            <a:r>
              <a:rPr lang="en-US" sz="2800" spc="-20" dirty="0">
                <a:effectLst/>
                <a:latin typeface="Arial MT"/>
                <a:ea typeface="Arial MT"/>
                <a:cs typeface="Arial MT"/>
              </a:rPr>
              <a:t>Quality</a:t>
            </a:r>
            <a:r>
              <a:rPr lang="en-US" sz="2800" spc="565" dirty="0">
                <a:effectLst/>
                <a:latin typeface="Arial MT"/>
                <a:ea typeface="Arial MT"/>
                <a:cs typeface="Arial MT"/>
              </a:rPr>
              <a:t> </a:t>
            </a:r>
            <a:r>
              <a:rPr lang="en-US" sz="2800" spc="-20" dirty="0">
                <a:effectLst/>
                <a:latin typeface="Arial MT"/>
                <a:ea typeface="Arial MT"/>
                <a:cs typeface="Arial MT"/>
              </a:rPr>
              <a:t>-</a:t>
            </a:r>
            <a:r>
              <a:rPr lang="en-US" sz="2800" spc="-190" dirty="0">
                <a:effectLst/>
                <a:latin typeface="Arial MT"/>
                <a:ea typeface="Arial MT"/>
                <a:cs typeface="Arial MT"/>
              </a:rPr>
              <a:t> </a:t>
            </a:r>
            <a:r>
              <a:rPr lang="en-US" sz="2800" spc="-20" dirty="0">
                <a:effectLst/>
                <a:latin typeface="Arial MT"/>
                <a:ea typeface="Arial MT"/>
                <a:cs typeface="Arial MT"/>
              </a:rPr>
              <a:t>lasts</a:t>
            </a:r>
            <a:r>
              <a:rPr lang="en-US" sz="2800" spc="-210" dirty="0">
                <a:effectLst/>
                <a:latin typeface="Arial MT"/>
                <a:ea typeface="Arial MT"/>
                <a:cs typeface="Arial MT"/>
              </a:rPr>
              <a:t> </a:t>
            </a:r>
            <a:r>
              <a:rPr lang="en-US" sz="2800" spc="-20" dirty="0">
                <a:effectLst/>
                <a:latin typeface="Arial MT"/>
                <a:ea typeface="Arial MT"/>
                <a:cs typeface="Arial MT"/>
              </a:rPr>
              <a:t>longer,</a:t>
            </a:r>
            <a:r>
              <a:rPr lang="en-US" sz="2800" spc="-180" dirty="0">
                <a:effectLst/>
                <a:latin typeface="Arial MT"/>
                <a:ea typeface="Arial MT"/>
                <a:cs typeface="Arial MT"/>
              </a:rPr>
              <a:t> </a:t>
            </a:r>
            <a:r>
              <a:rPr lang="en-US" sz="2800" spc="-15" dirty="0">
                <a:effectLst/>
                <a:latin typeface="Arial MT"/>
                <a:ea typeface="Arial MT"/>
                <a:cs typeface="Arial MT"/>
              </a:rPr>
              <a:t>stylish,</a:t>
            </a:r>
            <a:r>
              <a:rPr lang="en-US" sz="2800" spc="-185" dirty="0">
                <a:effectLst/>
                <a:latin typeface="Arial MT"/>
                <a:ea typeface="Arial MT"/>
                <a:cs typeface="Arial MT"/>
              </a:rPr>
              <a:t> </a:t>
            </a:r>
            <a:r>
              <a:rPr lang="en-US" sz="2800" spc="-15" dirty="0">
                <a:effectLst/>
                <a:latin typeface="Arial MT"/>
                <a:ea typeface="Arial MT"/>
                <a:cs typeface="Arial MT"/>
              </a:rPr>
              <a:t>tastes</a:t>
            </a:r>
            <a:r>
              <a:rPr lang="en-US" sz="2800" spc="-210" dirty="0">
                <a:effectLst/>
                <a:latin typeface="Arial MT"/>
                <a:ea typeface="Arial MT"/>
                <a:cs typeface="Arial MT"/>
              </a:rPr>
              <a:t> </a:t>
            </a:r>
            <a:r>
              <a:rPr lang="en-US" sz="2800" spc="-15" dirty="0">
                <a:effectLst/>
                <a:latin typeface="Arial MT"/>
                <a:ea typeface="Arial MT"/>
                <a:cs typeface="Arial MT"/>
              </a:rPr>
              <a:t>better</a:t>
            </a:r>
          </a:p>
          <a:p>
            <a:pPr marL="548640" marR="0">
              <a:lnSpc>
                <a:spcPts val="3800"/>
              </a:lnSpc>
              <a:spcBef>
                <a:spcPts val="10"/>
              </a:spcBef>
              <a:spcAft>
                <a:spcPts val="0"/>
              </a:spcAft>
            </a:pPr>
            <a:r>
              <a:rPr lang="en-US" sz="2800" spc="-15" dirty="0">
                <a:solidFill>
                  <a:schemeClr val="accent1"/>
                </a:solidFill>
                <a:latin typeface="Arial MT"/>
                <a:ea typeface="Arial MT"/>
                <a:cs typeface="Arial MT"/>
              </a:rPr>
              <a:t>At most, you can only compete on 2 out of 3</a:t>
            </a:r>
            <a:endParaRPr lang="en-US" sz="2800" dirty="0">
              <a:solidFill>
                <a:schemeClr val="accent1"/>
              </a:solidFill>
              <a:effectLst/>
              <a:latin typeface="Arial MT"/>
              <a:ea typeface="Arial MT"/>
              <a:cs typeface="Arial MT"/>
            </a:endParaRPr>
          </a:p>
          <a:p>
            <a:pPr marL="0" marR="0">
              <a:spcBef>
                <a:spcPts val="25"/>
              </a:spcBef>
              <a:spcAft>
                <a:spcPts val="0"/>
              </a:spcAft>
            </a:pPr>
            <a:r>
              <a:rPr lang="en-US" sz="1800" dirty="0">
                <a:effectLst/>
                <a:latin typeface="Arial MT"/>
                <a:ea typeface="Arial MT"/>
                <a:cs typeface="Arial MT"/>
              </a:rPr>
              <a:t> </a:t>
            </a:r>
          </a:p>
          <a:p>
            <a:pPr marL="1344295" marR="1561465" indent="0">
              <a:lnSpc>
                <a:spcPct val="97000"/>
              </a:lnSpc>
              <a:spcBef>
                <a:spcPts val="0"/>
              </a:spcBef>
              <a:spcAft>
                <a:spcPts val="0"/>
              </a:spcAft>
              <a:buNone/>
            </a:pPr>
            <a:r>
              <a:rPr lang="en-US" sz="1800" b="1" dirty="0">
                <a:solidFill>
                  <a:srgbClr val="C00000"/>
                </a:solidFill>
                <a:latin typeface="Arial" panose="020B0604020202020204" pitchFamily="34" charset="0"/>
                <a:ea typeface="Arial MT"/>
                <a:cs typeface="Arial MT"/>
              </a:rPr>
              <a:t> </a:t>
            </a:r>
            <a:endParaRPr lang="en-US" sz="1800" dirty="0">
              <a:effectLst/>
              <a:latin typeface="Arial MT"/>
              <a:ea typeface="Arial MT"/>
              <a:cs typeface="Arial MT"/>
            </a:endParaRPr>
          </a:p>
          <a:p>
            <a:endParaRPr lang="en-US" dirty="0"/>
          </a:p>
        </p:txBody>
      </p:sp>
    </p:spTree>
    <p:extLst>
      <p:ext uri="{BB962C8B-B14F-4D97-AF65-F5344CB8AC3E}">
        <p14:creationId xmlns:p14="http://schemas.microsoft.com/office/powerpoint/2010/main" val="28714661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12F8B-D676-4850-5A1B-DDEC21AAE197}"/>
              </a:ext>
            </a:extLst>
          </p:cNvPr>
          <p:cNvSpPr>
            <a:spLocks noGrp="1"/>
          </p:cNvSpPr>
          <p:nvPr>
            <p:ph type="title"/>
          </p:nvPr>
        </p:nvSpPr>
        <p:spPr>
          <a:xfrm>
            <a:off x="685800" y="484633"/>
            <a:ext cx="7772400" cy="1008266"/>
          </a:xfrm>
        </p:spPr>
        <p:txBody>
          <a:bodyPr>
            <a:normAutofit fontScale="90000"/>
          </a:bodyPr>
          <a:lstStyle/>
          <a:p>
            <a:r>
              <a:rPr lang="en-US" sz="2700" b="1" kern="0" dirty="0">
                <a:effectLst/>
                <a:latin typeface="Arial MT"/>
                <a:ea typeface="Arial MT"/>
                <a:cs typeface="Arial MT"/>
              </a:rPr>
              <a:t>Where</a:t>
            </a:r>
            <a:r>
              <a:rPr lang="en-US" sz="2700" b="1" kern="0" spc="-295" dirty="0">
                <a:effectLst/>
                <a:latin typeface="Arial MT"/>
                <a:ea typeface="Arial MT"/>
                <a:cs typeface="Arial MT"/>
              </a:rPr>
              <a:t> </a:t>
            </a:r>
            <a:r>
              <a:rPr lang="en-US" sz="2700" b="1" kern="0" dirty="0">
                <a:effectLst/>
                <a:latin typeface="Arial MT"/>
                <a:ea typeface="Arial MT"/>
                <a:cs typeface="Arial MT"/>
              </a:rPr>
              <a:t>do</a:t>
            </a:r>
            <a:r>
              <a:rPr lang="en-US" sz="2700" b="1" kern="0" spc="-295" dirty="0">
                <a:effectLst/>
                <a:latin typeface="Arial MT"/>
                <a:ea typeface="Arial MT"/>
                <a:cs typeface="Arial MT"/>
              </a:rPr>
              <a:t> </a:t>
            </a:r>
            <a:r>
              <a:rPr lang="en-US" sz="2700" b="1" kern="0" dirty="0">
                <a:effectLst/>
                <a:latin typeface="Arial MT"/>
                <a:ea typeface="Arial MT"/>
                <a:cs typeface="Arial MT"/>
              </a:rPr>
              <a:t>you</a:t>
            </a:r>
            <a:r>
              <a:rPr lang="en-US" sz="2700" b="1" kern="0" spc="-295" dirty="0">
                <a:effectLst/>
                <a:latin typeface="Arial MT"/>
                <a:ea typeface="Arial MT"/>
                <a:cs typeface="Arial MT"/>
              </a:rPr>
              <a:t> </a:t>
            </a:r>
            <a:r>
              <a:rPr lang="en-US" sz="2700" b="1" kern="0" dirty="0">
                <a:effectLst/>
                <a:latin typeface="Arial MT"/>
                <a:ea typeface="Arial MT"/>
                <a:cs typeface="Arial MT"/>
              </a:rPr>
              <a:t>find</a:t>
            </a:r>
            <a:r>
              <a:rPr lang="en-US" sz="2700" b="1" kern="0" spc="-295" dirty="0">
                <a:effectLst/>
                <a:latin typeface="Arial MT"/>
                <a:ea typeface="Arial MT"/>
                <a:cs typeface="Arial MT"/>
              </a:rPr>
              <a:t> competitors  </a:t>
            </a:r>
            <a:r>
              <a:rPr lang="en-US" sz="2700" b="1" kern="0" dirty="0">
                <a:effectLst/>
                <a:latin typeface="Arial MT"/>
                <a:ea typeface="Arial MT"/>
                <a:cs typeface="Arial MT"/>
              </a:rPr>
              <a:t>information</a:t>
            </a:r>
            <a:br>
              <a:rPr lang="en-US" sz="4400" b="1" kern="0" dirty="0">
                <a:effectLst/>
                <a:latin typeface="Arial MT"/>
                <a:ea typeface="Arial MT"/>
                <a:cs typeface="Arial MT"/>
              </a:rPr>
            </a:br>
            <a:endParaRPr lang="en-US" dirty="0"/>
          </a:p>
        </p:txBody>
      </p:sp>
      <p:sp>
        <p:nvSpPr>
          <p:cNvPr id="3" name="Content Placeholder 2">
            <a:extLst>
              <a:ext uri="{FF2B5EF4-FFF2-40B4-BE49-F238E27FC236}">
                <a16:creationId xmlns:a16="http://schemas.microsoft.com/office/drawing/2014/main" id="{8D63FF6D-077A-8B22-9006-C0A4AC1186B9}"/>
              </a:ext>
            </a:extLst>
          </p:cNvPr>
          <p:cNvSpPr>
            <a:spLocks noGrp="1"/>
          </p:cNvSpPr>
          <p:nvPr>
            <p:ph idx="1"/>
          </p:nvPr>
        </p:nvSpPr>
        <p:spPr>
          <a:xfrm>
            <a:off x="685800" y="1884784"/>
            <a:ext cx="7772400" cy="4287416"/>
          </a:xfrm>
        </p:spPr>
        <p:txBody>
          <a:bodyPr/>
          <a:lstStyle/>
          <a:p>
            <a:pPr marL="342900" marR="0" lvl="0" indent="-342900">
              <a:spcBef>
                <a:spcPts val="3540"/>
              </a:spcBef>
              <a:spcAft>
                <a:spcPts val="0"/>
              </a:spcAft>
              <a:buSzPts val="3300"/>
              <a:buFont typeface="Arial MT"/>
              <a:buAutoNum type="arabicPeriod"/>
              <a:tabLst>
                <a:tab pos="1062990" algn="l"/>
              </a:tabLst>
            </a:pPr>
            <a:r>
              <a:rPr lang="en-US" sz="2400" spc="-40" dirty="0">
                <a:effectLst/>
                <a:latin typeface="Arial MT"/>
                <a:ea typeface="Arial MT"/>
                <a:cs typeface="Arial MT"/>
              </a:rPr>
              <a:t>Customer</a:t>
            </a:r>
            <a:r>
              <a:rPr lang="en-US" sz="2400" spc="-180" dirty="0">
                <a:effectLst/>
                <a:latin typeface="Arial MT"/>
                <a:ea typeface="Arial MT"/>
                <a:cs typeface="Arial MT"/>
              </a:rPr>
              <a:t> </a:t>
            </a:r>
            <a:r>
              <a:rPr lang="en-US" sz="2400" spc="-35" dirty="0">
                <a:effectLst/>
                <a:latin typeface="Arial MT"/>
                <a:ea typeface="Arial MT"/>
                <a:cs typeface="Arial MT"/>
              </a:rPr>
              <a:t>Discovery</a:t>
            </a:r>
            <a:r>
              <a:rPr lang="en-US" sz="2400" spc="-190" dirty="0">
                <a:effectLst/>
                <a:latin typeface="Arial MT"/>
                <a:ea typeface="Arial MT"/>
                <a:cs typeface="Arial MT"/>
              </a:rPr>
              <a:t> </a:t>
            </a:r>
            <a:r>
              <a:rPr lang="en-US" sz="2400" spc="-35" dirty="0">
                <a:effectLst/>
                <a:latin typeface="Arial MT"/>
                <a:ea typeface="Arial MT"/>
                <a:cs typeface="Arial MT"/>
              </a:rPr>
              <a:t>interviews</a:t>
            </a:r>
            <a:endParaRPr lang="en-US" sz="2400" spc="-80" dirty="0">
              <a:effectLst/>
              <a:latin typeface="Arial MT"/>
              <a:ea typeface="Arial MT"/>
              <a:cs typeface="Arial MT"/>
            </a:endParaRPr>
          </a:p>
          <a:p>
            <a:pPr marL="342900" marR="0" lvl="0" indent="-342900">
              <a:lnSpc>
                <a:spcPts val="3745"/>
              </a:lnSpc>
              <a:spcBef>
                <a:spcPts val="5"/>
              </a:spcBef>
              <a:spcAft>
                <a:spcPts val="0"/>
              </a:spcAft>
              <a:buSzPts val="3300"/>
              <a:buFont typeface="Arial MT"/>
              <a:buAutoNum type="arabicPeriod"/>
              <a:tabLst>
                <a:tab pos="1062990" algn="l"/>
              </a:tabLst>
            </a:pPr>
            <a:r>
              <a:rPr lang="en-US" sz="2400" spc="-35" dirty="0">
                <a:effectLst/>
                <a:latin typeface="Arial MT"/>
                <a:ea typeface="Arial MT"/>
                <a:cs typeface="Arial MT"/>
              </a:rPr>
              <a:t>Competitors’</a:t>
            </a:r>
            <a:r>
              <a:rPr lang="en-US" sz="2400" spc="-180" dirty="0">
                <a:effectLst/>
                <a:latin typeface="Arial MT"/>
                <a:ea typeface="Arial MT"/>
                <a:cs typeface="Arial MT"/>
              </a:rPr>
              <a:t> </a:t>
            </a:r>
            <a:r>
              <a:rPr lang="en-US" sz="2400" spc="-30" dirty="0">
                <a:effectLst/>
                <a:latin typeface="Arial MT"/>
                <a:ea typeface="Arial MT"/>
                <a:cs typeface="Arial MT"/>
              </a:rPr>
              <a:t>Advertising</a:t>
            </a:r>
            <a:endParaRPr lang="en-US" sz="2400" spc="-80" dirty="0">
              <a:effectLst/>
              <a:latin typeface="Arial MT"/>
              <a:ea typeface="Arial MT"/>
              <a:cs typeface="Arial MT"/>
            </a:endParaRPr>
          </a:p>
          <a:p>
            <a:pPr marL="342900" marR="0" lvl="0" indent="-342900">
              <a:lnSpc>
                <a:spcPts val="3745"/>
              </a:lnSpc>
              <a:spcBef>
                <a:spcPts val="0"/>
              </a:spcBef>
              <a:spcAft>
                <a:spcPts val="0"/>
              </a:spcAft>
              <a:buSzPts val="3300"/>
              <a:buFont typeface="Arial MT"/>
              <a:buAutoNum type="arabicPeriod"/>
              <a:tabLst>
                <a:tab pos="1062990" algn="l"/>
              </a:tabLst>
            </a:pPr>
            <a:r>
              <a:rPr lang="en-US" sz="2400" spc="-35" dirty="0">
                <a:effectLst/>
                <a:latin typeface="Arial MT"/>
                <a:ea typeface="Arial MT"/>
                <a:cs typeface="Arial MT"/>
              </a:rPr>
              <a:t>Competitors’</a:t>
            </a:r>
            <a:r>
              <a:rPr lang="en-US" sz="2400" spc="-160" dirty="0">
                <a:effectLst/>
                <a:latin typeface="Arial MT"/>
                <a:ea typeface="Arial MT"/>
                <a:cs typeface="Arial MT"/>
              </a:rPr>
              <a:t> </a:t>
            </a:r>
            <a:r>
              <a:rPr lang="en-US" sz="2400" spc="-30" dirty="0">
                <a:effectLst/>
                <a:latin typeface="Arial MT"/>
                <a:ea typeface="Arial MT"/>
                <a:cs typeface="Arial MT"/>
              </a:rPr>
              <a:t>Sales</a:t>
            </a:r>
            <a:r>
              <a:rPr lang="en-US" sz="2400" spc="-185" dirty="0">
                <a:effectLst/>
                <a:latin typeface="Arial MT"/>
                <a:ea typeface="Arial MT"/>
                <a:cs typeface="Arial MT"/>
              </a:rPr>
              <a:t> </a:t>
            </a:r>
            <a:r>
              <a:rPr lang="en-US" sz="2400" spc="-30" dirty="0">
                <a:effectLst/>
                <a:latin typeface="Arial MT"/>
                <a:ea typeface="Arial MT"/>
                <a:cs typeface="Arial MT"/>
              </a:rPr>
              <a:t>Brochure</a:t>
            </a:r>
            <a:endParaRPr lang="en-US" sz="2400" spc="-80" dirty="0">
              <a:effectLst/>
              <a:latin typeface="Arial MT"/>
              <a:ea typeface="Arial MT"/>
              <a:cs typeface="Arial MT"/>
            </a:endParaRPr>
          </a:p>
          <a:p>
            <a:pPr marL="342900" marR="0" lvl="0" indent="-342900">
              <a:lnSpc>
                <a:spcPts val="3745"/>
              </a:lnSpc>
              <a:spcBef>
                <a:spcPts val="405"/>
              </a:spcBef>
              <a:spcAft>
                <a:spcPts val="0"/>
              </a:spcAft>
              <a:buSzPts val="3300"/>
              <a:buFont typeface="Arial MT"/>
              <a:buAutoNum type="arabicPeriod"/>
              <a:tabLst>
                <a:tab pos="1062990" algn="l"/>
              </a:tabLst>
            </a:pPr>
            <a:r>
              <a:rPr lang="en-US" sz="2400" spc="-80" dirty="0">
                <a:effectLst/>
                <a:latin typeface="Arial MT"/>
                <a:ea typeface="Arial MT"/>
                <a:cs typeface="Arial MT"/>
              </a:rPr>
              <a:t>Newspapers/Magazines</a:t>
            </a:r>
          </a:p>
          <a:p>
            <a:pPr marL="342900" marR="0" lvl="0" indent="-342900">
              <a:lnSpc>
                <a:spcPts val="3745"/>
              </a:lnSpc>
              <a:spcBef>
                <a:spcPts val="0"/>
              </a:spcBef>
              <a:spcAft>
                <a:spcPts val="0"/>
              </a:spcAft>
              <a:buSzPts val="3300"/>
              <a:buFont typeface="Arial MT"/>
              <a:buAutoNum type="arabicPeriod"/>
              <a:tabLst>
                <a:tab pos="1062990" algn="l"/>
              </a:tabLst>
            </a:pPr>
            <a:r>
              <a:rPr lang="en-US" sz="2400" spc="-35" dirty="0">
                <a:effectLst/>
                <a:latin typeface="Arial MT"/>
                <a:ea typeface="Arial MT"/>
                <a:cs typeface="Arial MT"/>
              </a:rPr>
              <a:t>Competitors’</a:t>
            </a:r>
            <a:r>
              <a:rPr lang="en-US" sz="2400" spc="-145" dirty="0">
                <a:effectLst/>
                <a:latin typeface="Arial MT"/>
                <a:ea typeface="Arial MT"/>
                <a:cs typeface="Arial MT"/>
              </a:rPr>
              <a:t> </a:t>
            </a:r>
            <a:r>
              <a:rPr lang="en-US" sz="2400" spc="-35" dirty="0">
                <a:effectLst/>
                <a:latin typeface="Arial MT"/>
                <a:ea typeface="Arial MT"/>
                <a:cs typeface="Arial MT"/>
              </a:rPr>
              <a:t>or</a:t>
            </a:r>
            <a:r>
              <a:rPr lang="en-US" sz="2400" spc="-160" dirty="0">
                <a:effectLst/>
                <a:latin typeface="Arial MT"/>
                <a:ea typeface="Arial MT"/>
                <a:cs typeface="Arial MT"/>
              </a:rPr>
              <a:t> </a:t>
            </a:r>
            <a:r>
              <a:rPr lang="en-US" sz="2400" spc="-35" dirty="0">
                <a:effectLst/>
                <a:latin typeface="Arial MT"/>
                <a:ea typeface="Arial MT"/>
                <a:cs typeface="Arial MT"/>
              </a:rPr>
              <a:t>comparison</a:t>
            </a:r>
            <a:r>
              <a:rPr lang="en-US" sz="2400" spc="-190" dirty="0">
                <a:effectLst/>
                <a:latin typeface="Arial MT"/>
                <a:ea typeface="Arial MT"/>
                <a:cs typeface="Arial MT"/>
              </a:rPr>
              <a:t> </a:t>
            </a:r>
            <a:r>
              <a:rPr lang="en-US" sz="2400" spc="-35" dirty="0">
                <a:effectLst/>
                <a:latin typeface="Arial MT"/>
                <a:ea typeface="Arial MT"/>
                <a:cs typeface="Arial MT"/>
              </a:rPr>
              <a:t>Websites</a:t>
            </a:r>
            <a:endParaRPr lang="en-US" sz="2400" spc="-80" dirty="0">
              <a:effectLst/>
              <a:latin typeface="Arial MT"/>
              <a:ea typeface="Arial MT"/>
              <a:cs typeface="Arial MT"/>
            </a:endParaRPr>
          </a:p>
          <a:p>
            <a:pPr marL="342900" marR="0" lvl="0" indent="-342900">
              <a:lnSpc>
                <a:spcPts val="3745"/>
              </a:lnSpc>
              <a:spcBef>
                <a:spcPts val="5"/>
              </a:spcBef>
              <a:spcAft>
                <a:spcPts val="0"/>
              </a:spcAft>
              <a:buSzPts val="3300"/>
              <a:buFont typeface="Arial MT"/>
              <a:buAutoNum type="arabicPeriod"/>
              <a:tabLst>
                <a:tab pos="1062990" algn="l"/>
              </a:tabLst>
            </a:pPr>
            <a:r>
              <a:rPr lang="en-US" sz="2400" spc="-30" dirty="0">
                <a:effectLst/>
                <a:latin typeface="Arial MT"/>
                <a:ea typeface="Arial MT"/>
                <a:cs typeface="Arial MT"/>
              </a:rPr>
              <a:t>Online</a:t>
            </a:r>
            <a:r>
              <a:rPr lang="en-US" sz="2400" spc="-200" dirty="0">
                <a:effectLst/>
                <a:latin typeface="Arial MT"/>
                <a:ea typeface="Arial MT"/>
                <a:cs typeface="Arial MT"/>
              </a:rPr>
              <a:t> </a:t>
            </a:r>
            <a:r>
              <a:rPr lang="en-US" sz="2400" spc="-30" dirty="0">
                <a:effectLst/>
                <a:latin typeface="Arial MT"/>
                <a:ea typeface="Arial MT"/>
                <a:cs typeface="Arial MT"/>
              </a:rPr>
              <a:t>sites</a:t>
            </a:r>
            <a:r>
              <a:rPr lang="en-US" sz="2400" spc="-180" dirty="0">
                <a:effectLst/>
                <a:latin typeface="Arial MT"/>
                <a:ea typeface="Arial MT"/>
                <a:cs typeface="Arial MT"/>
              </a:rPr>
              <a:t> </a:t>
            </a:r>
            <a:r>
              <a:rPr lang="en-US" sz="2400" spc="-25" dirty="0">
                <a:effectLst/>
                <a:latin typeface="Arial MT"/>
                <a:ea typeface="Arial MT"/>
                <a:cs typeface="Arial MT"/>
              </a:rPr>
              <a:t>that</a:t>
            </a:r>
            <a:r>
              <a:rPr lang="en-US" sz="2400" spc="-160" dirty="0">
                <a:effectLst/>
                <a:latin typeface="Arial MT"/>
                <a:ea typeface="Arial MT"/>
                <a:cs typeface="Arial MT"/>
              </a:rPr>
              <a:t> </a:t>
            </a:r>
            <a:r>
              <a:rPr lang="en-US" sz="2400" spc="-25" dirty="0">
                <a:effectLst/>
                <a:latin typeface="Arial MT"/>
                <a:ea typeface="Arial MT"/>
                <a:cs typeface="Arial MT"/>
              </a:rPr>
              <a:t>rate</a:t>
            </a:r>
            <a:r>
              <a:rPr lang="en-US" sz="2400" spc="-200" dirty="0">
                <a:effectLst/>
                <a:latin typeface="Arial MT"/>
                <a:ea typeface="Arial MT"/>
                <a:cs typeface="Arial MT"/>
              </a:rPr>
              <a:t> </a:t>
            </a:r>
            <a:r>
              <a:rPr lang="en-US" sz="2400" spc="-25" dirty="0">
                <a:effectLst/>
                <a:latin typeface="Arial MT"/>
                <a:ea typeface="Arial MT"/>
                <a:cs typeface="Arial MT"/>
              </a:rPr>
              <a:t>products/services</a:t>
            </a:r>
          </a:p>
          <a:p>
            <a:pPr marL="342900" marR="0" lvl="0" indent="-342900">
              <a:lnSpc>
                <a:spcPts val="3745"/>
              </a:lnSpc>
              <a:spcBef>
                <a:spcPts val="5"/>
              </a:spcBef>
              <a:spcAft>
                <a:spcPts val="0"/>
              </a:spcAft>
              <a:buSzPts val="3300"/>
              <a:buFont typeface="Arial MT"/>
              <a:buAutoNum type="arabicPeriod"/>
              <a:tabLst>
                <a:tab pos="1062990" algn="l"/>
              </a:tabLst>
            </a:pPr>
            <a:r>
              <a:rPr lang="en-US" sz="2400" spc="-25" dirty="0">
                <a:latin typeface="Arial MT"/>
                <a:ea typeface="Arial MT"/>
                <a:cs typeface="Arial MT"/>
              </a:rPr>
              <a:t>Social Media Platform </a:t>
            </a:r>
            <a:endParaRPr lang="en-US" sz="2400" spc="-80" dirty="0">
              <a:effectLst/>
              <a:latin typeface="Arial MT"/>
              <a:ea typeface="Arial MT"/>
              <a:cs typeface="Arial MT"/>
            </a:endParaRPr>
          </a:p>
          <a:p>
            <a:pPr marL="342900" marR="0" lvl="0" indent="-342900">
              <a:lnSpc>
                <a:spcPts val="3745"/>
              </a:lnSpc>
              <a:spcBef>
                <a:spcPts val="0"/>
              </a:spcBef>
              <a:spcAft>
                <a:spcPts val="0"/>
              </a:spcAft>
              <a:buSzPts val="3300"/>
              <a:buFont typeface="Arial MT"/>
              <a:buAutoNum type="arabicPeriod"/>
              <a:tabLst>
                <a:tab pos="1062990" algn="l"/>
              </a:tabLst>
            </a:pPr>
            <a:r>
              <a:rPr lang="en-US" sz="2400" spc="-35" dirty="0">
                <a:effectLst/>
                <a:latin typeface="Arial MT"/>
                <a:ea typeface="Arial MT"/>
                <a:cs typeface="Arial MT"/>
              </a:rPr>
              <a:t>Your</a:t>
            </a:r>
            <a:r>
              <a:rPr lang="en-US" sz="2400" spc="-170" dirty="0">
                <a:effectLst/>
                <a:latin typeface="Arial MT"/>
                <a:ea typeface="Arial MT"/>
                <a:cs typeface="Arial MT"/>
              </a:rPr>
              <a:t> </a:t>
            </a:r>
            <a:r>
              <a:rPr lang="en-US" sz="2400" spc="-30" dirty="0">
                <a:effectLst/>
                <a:latin typeface="Arial MT"/>
                <a:ea typeface="Arial MT"/>
                <a:cs typeface="Arial MT"/>
              </a:rPr>
              <a:t>business</a:t>
            </a:r>
            <a:r>
              <a:rPr lang="en-US" sz="2400" spc="-180" dirty="0">
                <a:effectLst/>
                <a:latin typeface="Arial MT"/>
                <a:ea typeface="Arial MT"/>
                <a:cs typeface="Arial MT"/>
              </a:rPr>
              <a:t> </a:t>
            </a:r>
            <a:r>
              <a:rPr lang="en-US" sz="2400" spc="-30" dirty="0">
                <a:effectLst/>
                <a:latin typeface="Arial MT"/>
                <a:ea typeface="Arial MT"/>
                <a:cs typeface="Arial MT"/>
              </a:rPr>
              <a:t>and</a:t>
            </a:r>
            <a:r>
              <a:rPr lang="en-US" sz="2400" spc="-200" dirty="0">
                <a:effectLst/>
                <a:latin typeface="Arial MT"/>
                <a:ea typeface="Arial MT"/>
                <a:cs typeface="Arial MT"/>
              </a:rPr>
              <a:t> </a:t>
            </a:r>
            <a:r>
              <a:rPr lang="en-US" sz="2400" spc="-30" dirty="0">
                <a:effectLst/>
                <a:latin typeface="Arial MT"/>
                <a:ea typeface="Arial MT"/>
                <a:cs typeface="Arial MT"/>
              </a:rPr>
              <a:t>professional</a:t>
            </a:r>
            <a:r>
              <a:rPr lang="en-US" sz="2400" spc="-150" dirty="0">
                <a:effectLst/>
                <a:latin typeface="Arial MT"/>
                <a:ea typeface="Arial MT"/>
                <a:cs typeface="Arial MT"/>
              </a:rPr>
              <a:t> </a:t>
            </a:r>
            <a:r>
              <a:rPr lang="en-US" sz="2400" spc="-30" dirty="0">
                <a:effectLst/>
                <a:latin typeface="Arial MT"/>
                <a:ea typeface="Arial MT"/>
                <a:cs typeface="Arial MT"/>
              </a:rPr>
              <a:t>network</a:t>
            </a:r>
            <a:endParaRPr lang="en-US" sz="2400" spc="-80" dirty="0">
              <a:effectLst/>
              <a:latin typeface="Arial MT"/>
              <a:ea typeface="Arial MT"/>
              <a:cs typeface="Arial MT"/>
            </a:endParaRPr>
          </a:p>
          <a:p>
            <a:endParaRPr lang="en-US" dirty="0"/>
          </a:p>
        </p:txBody>
      </p:sp>
    </p:spTree>
    <p:extLst>
      <p:ext uri="{BB962C8B-B14F-4D97-AF65-F5344CB8AC3E}">
        <p14:creationId xmlns:p14="http://schemas.microsoft.com/office/powerpoint/2010/main" val="25103660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2BF47-112F-1002-1D5A-F0F6C1804A05}"/>
              </a:ext>
            </a:extLst>
          </p:cNvPr>
          <p:cNvSpPr>
            <a:spLocks noGrp="1"/>
          </p:cNvSpPr>
          <p:nvPr>
            <p:ph type="title"/>
          </p:nvPr>
        </p:nvSpPr>
        <p:spPr>
          <a:xfrm>
            <a:off x="783771" y="804520"/>
            <a:ext cx="7702420" cy="1049235"/>
          </a:xfrm>
        </p:spPr>
        <p:txBody>
          <a:bodyPr/>
          <a:lstStyle/>
          <a:p>
            <a:r>
              <a:rPr lang="en-US" dirty="0"/>
              <a:t>    Competitive analysis template</a:t>
            </a:r>
          </a:p>
        </p:txBody>
      </p:sp>
      <p:pic>
        <p:nvPicPr>
          <p:cNvPr id="4" name="image4.jpeg">
            <a:extLst>
              <a:ext uri="{FF2B5EF4-FFF2-40B4-BE49-F238E27FC236}">
                <a16:creationId xmlns:a16="http://schemas.microsoft.com/office/drawing/2014/main" id="{7E882BDA-6989-8582-8347-41589B465128}"/>
              </a:ext>
            </a:extLst>
          </p:cNvPr>
          <p:cNvPicPr>
            <a:picLocks noGrp="1" noChangeAspect="1"/>
          </p:cNvPicPr>
          <p:nvPr>
            <p:ph idx="1"/>
          </p:nvPr>
        </p:nvPicPr>
        <p:blipFill>
          <a:blip r:embed="rId2" cstate="print"/>
          <a:stretch>
            <a:fillRect/>
          </a:stretch>
        </p:blipFill>
        <p:spPr>
          <a:xfrm>
            <a:off x="783771" y="1853755"/>
            <a:ext cx="8089640" cy="6030167"/>
          </a:xfrm>
          <a:prstGeom prst="rect">
            <a:avLst/>
          </a:prstGeom>
        </p:spPr>
      </p:pic>
    </p:spTree>
    <p:extLst>
      <p:ext uri="{BB962C8B-B14F-4D97-AF65-F5344CB8AC3E}">
        <p14:creationId xmlns:p14="http://schemas.microsoft.com/office/powerpoint/2010/main" val="16624387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97554-4E3A-563D-736F-BEF6FF2FD891}"/>
              </a:ext>
            </a:extLst>
          </p:cNvPr>
          <p:cNvSpPr>
            <a:spLocks noGrp="1"/>
          </p:cNvSpPr>
          <p:nvPr>
            <p:ph type="title"/>
          </p:nvPr>
        </p:nvSpPr>
        <p:spPr>
          <a:xfrm>
            <a:off x="685800" y="484632"/>
            <a:ext cx="7772400" cy="672364"/>
          </a:xfrm>
        </p:spPr>
        <p:txBody>
          <a:bodyPr/>
          <a:lstStyle/>
          <a:p>
            <a:r>
              <a:rPr lang="en-US" dirty="0"/>
              <a:t>      Segmentation (</a:t>
            </a:r>
            <a:r>
              <a:rPr lang="en-US" dirty="0" err="1"/>
              <a:t>stp</a:t>
            </a:r>
            <a:r>
              <a:rPr lang="en-US" dirty="0"/>
              <a:t> analysis)</a:t>
            </a:r>
          </a:p>
        </p:txBody>
      </p:sp>
      <p:sp>
        <p:nvSpPr>
          <p:cNvPr id="3" name="Content Placeholder 2">
            <a:extLst>
              <a:ext uri="{FF2B5EF4-FFF2-40B4-BE49-F238E27FC236}">
                <a16:creationId xmlns:a16="http://schemas.microsoft.com/office/drawing/2014/main" id="{1606A729-4363-E6C4-5FAF-AE7709EA3E43}"/>
              </a:ext>
            </a:extLst>
          </p:cNvPr>
          <p:cNvSpPr>
            <a:spLocks noGrp="1"/>
          </p:cNvSpPr>
          <p:nvPr>
            <p:ph idx="1"/>
          </p:nvPr>
        </p:nvSpPr>
        <p:spPr>
          <a:xfrm>
            <a:off x="83977" y="1922106"/>
            <a:ext cx="8826758" cy="4250094"/>
          </a:xfrm>
        </p:spPr>
        <p:txBody>
          <a:bodyPr>
            <a:normAutofit fontScale="92500" lnSpcReduction="20000"/>
          </a:bodyPr>
          <a:lstStyle/>
          <a:p>
            <a:r>
              <a:rPr lang="en-US" sz="2200" b="1" dirty="0"/>
              <a:t>Definition of Segmentation</a:t>
            </a:r>
          </a:p>
          <a:p>
            <a:r>
              <a:rPr lang="en-US" sz="2200" dirty="0"/>
              <a:t>Process of dividing an heterogeneous consumer or business market into relatively homogeneous sub-groups of customers (market segments) with similar needs and wants.</a:t>
            </a:r>
          </a:p>
          <a:p>
            <a:r>
              <a:rPr lang="en-US" sz="2200" dirty="0"/>
              <a:t>Aggregation of prospective buyers into groups of segments that have common needs and respond similarly to a marketing action. </a:t>
            </a:r>
          </a:p>
          <a:p>
            <a:r>
              <a:rPr lang="en-US" sz="2200" dirty="0"/>
              <a:t>Market segmentation is a decision-making tool for the marketing manager in the crucial task of selecting a target market for a given product and designing an appropriate marketing mix (Tynan and Drayton 1987). </a:t>
            </a:r>
          </a:p>
          <a:p>
            <a:r>
              <a:rPr lang="en-US" sz="2200" dirty="0"/>
              <a:t>Market segmentation is essential for marketing success: the most successful firms drive their businesses based on segmentation (</a:t>
            </a:r>
            <a:r>
              <a:rPr lang="en-US" sz="2200" dirty="0" err="1"/>
              <a:t>Lilien</a:t>
            </a:r>
            <a:r>
              <a:rPr lang="en-US" sz="2200" dirty="0"/>
              <a:t> and </a:t>
            </a:r>
            <a:r>
              <a:rPr lang="en-US" sz="2200" dirty="0" err="1"/>
              <a:t>Rangaswamy</a:t>
            </a:r>
            <a:r>
              <a:rPr lang="en-US" sz="2200" dirty="0"/>
              <a:t> 2003). </a:t>
            </a:r>
          </a:p>
          <a:p>
            <a:endParaRPr lang="en-US" dirty="0"/>
          </a:p>
        </p:txBody>
      </p:sp>
    </p:spTree>
    <p:extLst>
      <p:ext uri="{BB962C8B-B14F-4D97-AF65-F5344CB8AC3E}">
        <p14:creationId xmlns:p14="http://schemas.microsoft.com/office/powerpoint/2010/main" val="34038075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53A82-0A5A-8D83-3B93-2FB76E55BB16}"/>
              </a:ext>
            </a:extLst>
          </p:cNvPr>
          <p:cNvSpPr>
            <a:spLocks noGrp="1"/>
          </p:cNvSpPr>
          <p:nvPr>
            <p:ph type="title"/>
          </p:nvPr>
        </p:nvSpPr>
        <p:spPr>
          <a:xfrm>
            <a:off x="685800" y="484632"/>
            <a:ext cx="7772400" cy="681695"/>
          </a:xfrm>
        </p:spPr>
        <p:txBody>
          <a:bodyPr>
            <a:normAutofit fontScale="90000"/>
          </a:bodyPr>
          <a:lstStyle/>
          <a:p>
            <a:r>
              <a:rPr lang="en-US" sz="3200" b="1" dirty="0"/>
              <a:t>    Definition of Segmentation</a:t>
            </a:r>
            <a:br>
              <a:rPr lang="en-US" sz="3200" b="1" dirty="0"/>
            </a:br>
            <a:endParaRPr lang="en-US" dirty="0"/>
          </a:p>
        </p:txBody>
      </p:sp>
      <p:sp>
        <p:nvSpPr>
          <p:cNvPr id="3" name="Content Placeholder 2">
            <a:extLst>
              <a:ext uri="{FF2B5EF4-FFF2-40B4-BE49-F238E27FC236}">
                <a16:creationId xmlns:a16="http://schemas.microsoft.com/office/drawing/2014/main" id="{E1078CCB-DA46-0BD5-2C5C-9659F386FD31}"/>
              </a:ext>
            </a:extLst>
          </p:cNvPr>
          <p:cNvSpPr>
            <a:spLocks noGrp="1"/>
          </p:cNvSpPr>
          <p:nvPr>
            <p:ph idx="1"/>
          </p:nvPr>
        </p:nvSpPr>
        <p:spPr>
          <a:xfrm>
            <a:off x="167951" y="1810139"/>
            <a:ext cx="8901403" cy="4362061"/>
          </a:xfrm>
        </p:spPr>
        <p:txBody>
          <a:bodyPr>
            <a:normAutofit fontScale="92500" lnSpcReduction="20000"/>
          </a:bodyPr>
          <a:lstStyle/>
          <a:p>
            <a:pPr>
              <a:lnSpc>
                <a:spcPct val="170000"/>
              </a:lnSpc>
            </a:pPr>
            <a:r>
              <a:rPr lang="en-US" b="1" dirty="0"/>
              <a:t>Market segmentation analysis </a:t>
            </a:r>
            <a:r>
              <a:rPr lang="en-US" dirty="0"/>
              <a:t>is the process of grouping consumers into naturally existing or artificially created segments of consumers who share similar product preferences or characteristics</a:t>
            </a:r>
          </a:p>
          <a:p>
            <a:r>
              <a:rPr lang="en-GB" dirty="0">
                <a:effectLst/>
                <a:latin typeface="+mj-lt"/>
                <a:ea typeface="Calibri" panose="020F0502020204030204" pitchFamily="34" charset="0"/>
              </a:rPr>
              <a:t>Market segmentation is a consumer-oriented process and can be applied to almost any type of market. </a:t>
            </a:r>
          </a:p>
          <a:p>
            <a:r>
              <a:rPr lang="en-GB" dirty="0">
                <a:effectLst/>
                <a:latin typeface="+mj-lt"/>
                <a:ea typeface="Calibri" panose="020F0502020204030204" pitchFamily="34" charset="0"/>
              </a:rPr>
              <a:t>In dividing or segmenting markets, researchers typically look for shared characteristics such as common needs, common interests, similar lifestyles or even similar demographic profiles. </a:t>
            </a:r>
          </a:p>
          <a:p>
            <a:r>
              <a:rPr lang="en-GB" dirty="0">
                <a:effectLst/>
                <a:latin typeface="+mj-lt"/>
                <a:ea typeface="Calibri" panose="020F0502020204030204" pitchFamily="34" charset="0"/>
              </a:rPr>
              <a:t>So, market segmentation assumes that different segments require different marketing programmes, as diverse customers are usually targeted through different offers, prices, promotions, distributions or some combination of marketing variables. </a:t>
            </a:r>
            <a:endParaRPr lang="en-US" sz="3200" dirty="0">
              <a:latin typeface="+mj-lt"/>
            </a:endParaRPr>
          </a:p>
        </p:txBody>
      </p:sp>
    </p:spTree>
    <p:extLst>
      <p:ext uri="{BB962C8B-B14F-4D97-AF65-F5344CB8AC3E}">
        <p14:creationId xmlns:p14="http://schemas.microsoft.com/office/powerpoint/2010/main" val="28788354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4641A-C7B3-CB89-A994-C703C94776E0}"/>
              </a:ext>
            </a:extLst>
          </p:cNvPr>
          <p:cNvSpPr>
            <a:spLocks noGrp="1"/>
          </p:cNvSpPr>
          <p:nvPr>
            <p:ph type="title"/>
          </p:nvPr>
        </p:nvSpPr>
        <p:spPr>
          <a:xfrm>
            <a:off x="685800" y="484632"/>
            <a:ext cx="7772400" cy="1073580"/>
          </a:xfrm>
        </p:spPr>
        <p:txBody>
          <a:bodyPr/>
          <a:lstStyle/>
          <a:p>
            <a:r>
              <a:rPr lang="en-US" dirty="0"/>
              <a:t>Purposes of Market Segmentation</a:t>
            </a:r>
          </a:p>
        </p:txBody>
      </p:sp>
      <p:sp>
        <p:nvSpPr>
          <p:cNvPr id="3" name="Content Placeholder 2">
            <a:extLst>
              <a:ext uri="{FF2B5EF4-FFF2-40B4-BE49-F238E27FC236}">
                <a16:creationId xmlns:a16="http://schemas.microsoft.com/office/drawing/2014/main" id="{C9034CC0-59BB-9BC3-0922-F33C99277A2D}"/>
              </a:ext>
            </a:extLst>
          </p:cNvPr>
          <p:cNvSpPr>
            <a:spLocks noGrp="1"/>
          </p:cNvSpPr>
          <p:nvPr>
            <p:ph idx="1"/>
          </p:nvPr>
        </p:nvSpPr>
        <p:spPr>
          <a:xfrm>
            <a:off x="685800" y="1884784"/>
            <a:ext cx="7772400" cy="4287416"/>
          </a:xfrm>
        </p:spPr>
        <p:txBody>
          <a:bodyPr>
            <a:normAutofit/>
          </a:bodyPr>
          <a:lstStyle/>
          <a:p>
            <a:r>
              <a:rPr lang="en-US" sz="2800" dirty="0"/>
              <a:t>Identify promising segments of the market that may be selected or targeted because of expected profit or growth performance.</a:t>
            </a:r>
          </a:p>
          <a:p>
            <a:r>
              <a:rPr lang="en-US" sz="2800" dirty="0"/>
              <a:t>Develop a better understanding of the needs and purchase motivations of customers in different segments of the market for more effective marketing of products or services</a:t>
            </a:r>
          </a:p>
        </p:txBody>
      </p:sp>
    </p:spTree>
    <p:extLst>
      <p:ext uri="{BB962C8B-B14F-4D97-AF65-F5344CB8AC3E}">
        <p14:creationId xmlns:p14="http://schemas.microsoft.com/office/powerpoint/2010/main" val="28808685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846CA-5601-0544-3E23-DD613923DD87}"/>
              </a:ext>
            </a:extLst>
          </p:cNvPr>
          <p:cNvSpPr>
            <a:spLocks noGrp="1"/>
          </p:cNvSpPr>
          <p:nvPr>
            <p:ph type="title"/>
          </p:nvPr>
        </p:nvSpPr>
        <p:spPr>
          <a:xfrm>
            <a:off x="685800" y="484632"/>
            <a:ext cx="7772400" cy="1138895"/>
          </a:xfrm>
        </p:spPr>
        <p:txBody>
          <a:bodyPr/>
          <a:lstStyle/>
          <a:p>
            <a:r>
              <a:rPr lang="en-US" dirty="0"/>
              <a:t>      Types of Segmentation</a:t>
            </a:r>
          </a:p>
        </p:txBody>
      </p:sp>
      <p:sp>
        <p:nvSpPr>
          <p:cNvPr id="3" name="Content Placeholder 2">
            <a:extLst>
              <a:ext uri="{FF2B5EF4-FFF2-40B4-BE49-F238E27FC236}">
                <a16:creationId xmlns:a16="http://schemas.microsoft.com/office/drawing/2014/main" id="{AE7A1D62-4BA3-28F7-C428-87A5137827C0}"/>
              </a:ext>
            </a:extLst>
          </p:cNvPr>
          <p:cNvSpPr>
            <a:spLocks noGrp="1"/>
          </p:cNvSpPr>
          <p:nvPr>
            <p:ph idx="1"/>
          </p:nvPr>
        </p:nvSpPr>
        <p:spPr>
          <a:xfrm>
            <a:off x="685800" y="1987420"/>
            <a:ext cx="7772400" cy="4184780"/>
          </a:xfrm>
        </p:spPr>
        <p:txBody>
          <a:bodyPr/>
          <a:lstStyle/>
          <a:p>
            <a:endParaRPr lang="en-US" dirty="0"/>
          </a:p>
          <a:p>
            <a:endParaRPr lang="en-US" dirty="0"/>
          </a:p>
          <a:p>
            <a:endParaRPr lang="en-US" dirty="0"/>
          </a:p>
          <a:p>
            <a:pPr marL="0" indent="0">
              <a:buNone/>
            </a:pPr>
            <a:r>
              <a:rPr lang="en-US" dirty="0"/>
              <a:t> </a:t>
            </a:r>
          </a:p>
          <a:p>
            <a:endParaRPr lang="en-US" dirty="0"/>
          </a:p>
        </p:txBody>
      </p:sp>
      <p:sp>
        <p:nvSpPr>
          <p:cNvPr id="4" name="Flowchart: Terminator 3">
            <a:extLst>
              <a:ext uri="{FF2B5EF4-FFF2-40B4-BE49-F238E27FC236}">
                <a16:creationId xmlns:a16="http://schemas.microsoft.com/office/drawing/2014/main" id="{AA552E58-1758-7FD2-508D-948DE8751EE5}"/>
              </a:ext>
            </a:extLst>
          </p:cNvPr>
          <p:cNvSpPr/>
          <p:nvPr/>
        </p:nvSpPr>
        <p:spPr>
          <a:xfrm>
            <a:off x="1679510" y="1987420"/>
            <a:ext cx="45719" cy="45719"/>
          </a:xfrm>
          <a:prstGeom prst="flowChartTermina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Diagram 5">
            <a:extLst>
              <a:ext uri="{FF2B5EF4-FFF2-40B4-BE49-F238E27FC236}">
                <a16:creationId xmlns:a16="http://schemas.microsoft.com/office/drawing/2014/main" id="{7439584B-65D4-C468-78BE-206C3E8B3329}"/>
              </a:ext>
            </a:extLst>
          </p:cNvPr>
          <p:cNvGraphicFramePr/>
          <p:nvPr>
            <p:extLst>
              <p:ext uri="{D42A27DB-BD31-4B8C-83A1-F6EECF244321}">
                <p14:modId xmlns:p14="http://schemas.microsoft.com/office/powerpoint/2010/main" val="1058059553"/>
              </p:ext>
            </p:extLst>
          </p:nvPr>
        </p:nvGraphicFramePr>
        <p:xfrm>
          <a:off x="1524000" y="2042470"/>
          <a:ext cx="6096000" cy="38374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138AD65D-648A-B684-BE0F-735CE83AF2DA}"/>
              </a:ext>
            </a:extLst>
          </p:cNvPr>
          <p:cNvSpPr txBox="1"/>
          <p:nvPr/>
        </p:nvSpPr>
        <p:spPr>
          <a:xfrm>
            <a:off x="2771192" y="2258008"/>
            <a:ext cx="524304" cy="369332"/>
          </a:xfrm>
          <a:prstGeom prst="rect">
            <a:avLst/>
          </a:prstGeom>
          <a:noFill/>
        </p:spPr>
        <p:txBody>
          <a:bodyPr wrap="square" rtlCol="0">
            <a:spAutoFit/>
          </a:bodyPr>
          <a:lstStyle/>
          <a:p>
            <a:r>
              <a:rPr lang="en-US" dirty="0"/>
              <a:t>1</a:t>
            </a:r>
          </a:p>
        </p:txBody>
      </p:sp>
      <p:sp>
        <p:nvSpPr>
          <p:cNvPr id="8" name="TextBox 7">
            <a:extLst>
              <a:ext uri="{FF2B5EF4-FFF2-40B4-BE49-F238E27FC236}">
                <a16:creationId xmlns:a16="http://schemas.microsoft.com/office/drawing/2014/main" id="{8E95454A-39BA-4E42-F828-0366DCFC5A1B}"/>
              </a:ext>
            </a:extLst>
          </p:cNvPr>
          <p:cNvSpPr txBox="1"/>
          <p:nvPr/>
        </p:nvSpPr>
        <p:spPr>
          <a:xfrm>
            <a:off x="2771193" y="4357396"/>
            <a:ext cx="372290" cy="369332"/>
          </a:xfrm>
          <a:prstGeom prst="rect">
            <a:avLst/>
          </a:prstGeom>
          <a:noFill/>
        </p:spPr>
        <p:txBody>
          <a:bodyPr wrap="square" rtlCol="0">
            <a:spAutoFit/>
          </a:bodyPr>
          <a:lstStyle/>
          <a:p>
            <a:r>
              <a:rPr lang="en-US" dirty="0"/>
              <a:t>2</a:t>
            </a:r>
          </a:p>
        </p:txBody>
      </p:sp>
    </p:spTree>
    <p:extLst>
      <p:ext uri="{BB962C8B-B14F-4D97-AF65-F5344CB8AC3E}">
        <p14:creationId xmlns:p14="http://schemas.microsoft.com/office/powerpoint/2010/main" val="25410094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FC0CC-94DB-DB62-B250-2A2351A2A36B}"/>
              </a:ext>
            </a:extLst>
          </p:cNvPr>
          <p:cNvSpPr>
            <a:spLocks noGrp="1"/>
          </p:cNvSpPr>
          <p:nvPr>
            <p:ph type="title"/>
          </p:nvPr>
        </p:nvSpPr>
        <p:spPr>
          <a:xfrm>
            <a:off x="685800" y="484632"/>
            <a:ext cx="7772400" cy="784331"/>
          </a:xfrm>
        </p:spPr>
        <p:txBody>
          <a:bodyPr/>
          <a:lstStyle/>
          <a:p>
            <a:r>
              <a:rPr lang="en-US" dirty="0"/>
              <a:t>     Bases for Segmentation (B2B) </a:t>
            </a:r>
          </a:p>
        </p:txBody>
      </p:sp>
      <p:sp>
        <p:nvSpPr>
          <p:cNvPr id="3" name="Content Placeholder 2">
            <a:extLst>
              <a:ext uri="{FF2B5EF4-FFF2-40B4-BE49-F238E27FC236}">
                <a16:creationId xmlns:a16="http://schemas.microsoft.com/office/drawing/2014/main" id="{735F835D-2F6A-EDAB-74FF-E96C7E516806}"/>
              </a:ext>
            </a:extLst>
          </p:cNvPr>
          <p:cNvSpPr>
            <a:spLocks noGrp="1"/>
          </p:cNvSpPr>
          <p:nvPr>
            <p:ph idx="1"/>
          </p:nvPr>
        </p:nvSpPr>
        <p:spPr>
          <a:xfrm>
            <a:off x="685800" y="1875454"/>
            <a:ext cx="7772400" cy="4086808"/>
          </a:xfrm>
        </p:spPr>
        <p:txBody>
          <a:bodyPr>
            <a:normAutofit fontScale="92500" lnSpcReduction="20000"/>
          </a:bodyPr>
          <a:lstStyle/>
          <a:p>
            <a:pPr>
              <a:lnSpc>
                <a:spcPct val="200000"/>
              </a:lnSpc>
              <a:buFont typeface="Wingdings" panose="05000000000000000000" pitchFamily="2" charset="2"/>
              <a:buChar char="v"/>
            </a:pPr>
            <a:r>
              <a:rPr lang="en-US" sz="2800" dirty="0"/>
              <a:t> Industry </a:t>
            </a:r>
          </a:p>
          <a:p>
            <a:pPr>
              <a:lnSpc>
                <a:spcPct val="200000"/>
              </a:lnSpc>
              <a:buFont typeface="Wingdings" panose="05000000000000000000" pitchFamily="2" charset="2"/>
              <a:buChar char="v"/>
            </a:pPr>
            <a:r>
              <a:rPr lang="en-US" sz="2800" dirty="0"/>
              <a:t> Business Size </a:t>
            </a:r>
          </a:p>
          <a:p>
            <a:pPr>
              <a:lnSpc>
                <a:spcPct val="200000"/>
              </a:lnSpc>
              <a:buFont typeface="Wingdings" panose="05000000000000000000" pitchFamily="2" charset="2"/>
              <a:buChar char="v"/>
            </a:pPr>
            <a:r>
              <a:rPr lang="en-US" sz="2800" dirty="0"/>
              <a:t> Business location </a:t>
            </a:r>
          </a:p>
          <a:p>
            <a:pPr>
              <a:lnSpc>
                <a:spcPct val="200000"/>
              </a:lnSpc>
              <a:buFont typeface="Wingdings" panose="05000000000000000000" pitchFamily="2" charset="2"/>
              <a:buChar char="v"/>
            </a:pPr>
            <a:r>
              <a:rPr lang="en-US" sz="2800" dirty="0"/>
              <a:t> Business technology </a:t>
            </a:r>
          </a:p>
          <a:p>
            <a:pPr>
              <a:lnSpc>
                <a:spcPct val="200000"/>
              </a:lnSpc>
              <a:buFont typeface="Wingdings" panose="05000000000000000000" pitchFamily="2" charset="2"/>
              <a:buChar char="v"/>
            </a:pPr>
            <a:r>
              <a:rPr lang="en-US" sz="2800" dirty="0"/>
              <a:t> Purchasing approach</a:t>
            </a:r>
          </a:p>
        </p:txBody>
      </p:sp>
    </p:spTree>
    <p:extLst>
      <p:ext uri="{BB962C8B-B14F-4D97-AF65-F5344CB8AC3E}">
        <p14:creationId xmlns:p14="http://schemas.microsoft.com/office/powerpoint/2010/main" val="8243563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77680-19B0-D685-3ADC-8383F8CF6923}"/>
              </a:ext>
            </a:extLst>
          </p:cNvPr>
          <p:cNvSpPr>
            <a:spLocks noGrp="1"/>
          </p:cNvSpPr>
          <p:nvPr>
            <p:ph type="title"/>
          </p:nvPr>
        </p:nvSpPr>
        <p:spPr>
          <a:xfrm>
            <a:off x="685800" y="484632"/>
            <a:ext cx="7772400" cy="840315"/>
          </a:xfrm>
        </p:spPr>
        <p:txBody>
          <a:bodyPr/>
          <a:lstStyle/>
          <a:p>
            <a:r>
              <a:rPr lang="en-US" dirty="0"/>
              <a:t>      Bases for Segmentation (B2C) </a:t>
            </a:r>
          </a:p>
        </p:txBody>
      </p:sp>
      <p:sp>
        <p:nvSpPr>
          <p:cNvPr id="3" name="Content Placeholder 2">
            <a:extLst>
              <a:ext uri="{FF2B5EF4-FFF2-40B4-BE49-F238E27FC236}">
                <a16:creationId xmlns:a16="http://schemas.microsoft.com/office/drawing/2014/main" id="{9F2D79B0-4471-5C49-3DEE-A1DF4E011935}"/>
              </a:ext>
            </a:extLst>
          </p:cNvPr>
          <p:cNvSpPr>
            <a:spLocks noGrp="1"/>
          </p:cNvSpPr>
          <p:nvPr>
            <p:ph idx="1"/>
          </p:nvPr>
        </p:nvSpPr>
        <p:spPr>
          <a:xfrm>
            <a:off x="685800" y="1324947"/>
            <a:ext cx="7772400" cy="4847253"/>
          </a:xfrm>
        </p:spPr>
        <p:txBody>
          <a:bodyPr/>
          <a:lstStyle/>
          <a:p>
            <a:endParaRPr lang="en-US" dirty="0"/>
          </a:p>
          <a:p>
            <a:endParaRPr lang="en-US" dirty="0"/>
          </a:p>
        </p:txBody>
      </p:sp>
      <p:graphicFrame>
        <p:nvGraphicFramePr>
          <p:cNvPr id="4" name="Diagram 3">
            <a:extLst>
              <a:ext uri="{FF2B5EF4-FFF2-40B4-BE49-F238E27FC236}">
                <a16:creationId xmlns:a16="http://schemas.microsoft.com/office/drawing/2014/main" id="{A0C54FCE-FEC9-3C22-AE43-E4A46B37541A}"/>
              </a:ext>
            </a:extLst>
          </p:cNvPr>
          <p:cNvGraphicFramePr/>
          <p:nvPr>
            <p:extLst>
              <p:ext uri="{D42A27DB-BD31-4B8C-83A1-F6EECF244321}">
                <p14:modId xmlns:p14="http://schemas.microsoft.com/office/powerpoint/2010/main" val="2831364932"/>
              </p:ext>
            </p:extLst>
          </p:nvPr>
        </p:nvGraphicFramePr>
        <p:xfrm>
          <a:off x="559837" y="1511558"/>
          <a:ext cx="8024326" cy="47399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Rounded Corners 4">
            <a:extLst>
              <a:ext uri="{FF2B5EF4-FFF2-40B4-BE49-F238E27FC236}">
                <a16:creationId xmlns:a16="http://schemas.microsoft.com/office/drawing/2014/main" id="{7F75B3D0-43F1-9FB1-3DA1-B7FB2BB29A4C}"/>
              </a:ext>
            </a:extLst>
          </p:cNvPr>
          <p:cNvSpPr/>
          <p:nvPr/>
        </p:nvSpPr>
        <p:spPr>
          <a:xfrm>
            <a:off x="5896947" y="2472613"/>
            <a:ext cx="2892490" cy="2817845"/>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Internal segment </a:t>
            </a:r>
            <a:r>
              <a:rPr lang="en-US" dirty="0">
                <a:solidFill>
                  <a:schemeClr val="bg1"/>
                </a:solidFill>
              </a:rPr>
              <a:t>homogeneity</a:t>
            </a:r>
            <a:r>
              <a:rPr lang="en-US" dirty="0"/>
              <a:t> </a:t>
            </a:r>
          </a:p>
          <a:p>
            <a:pPr algn="ctr"/>
            <a:endParaRPr lang="en-US" dirty="0"/>
          </a:p>
          <a:p>
            <a:pPr algn="ctr"/>
            <a:r>
              <a:rPr lang="en-US" dirty="0"/>
              <a:t> external segment heterogeneity</a:t>
            </a:r>
          </a:p>
        </p:txBody>
      </p:sp>
    </p:spTree>
    <p:extLst>
      <p:ext uri="{BB962C8B-B14F-4D97-AF65-F5344CB8AC3E}">
        <p14:creationId xmlns:p14="http://schemas.microsoft.com/office/powerpoint/2010/main" val="13797139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59880-E231-7D02-E871-BDB07DABFD2B}"/>
              </a:ext>
            </a:extLst>
          </p:cNvPr>
          <p:cNvSpPr>
            <a:spLocks noGrp="1"/>
          </p:cNvSpPr>
          <p:nvPr>
            <p:ph type="title"/>
          </p:nvPr>
        </p:nvSpPr>
        <p:spPr>
          <a:xfrm>
            <a:off x="685800" y="484632"/>
            <a:ext cx="7772400" cy="579058"/>
          </a:xfrm>
        </p:spPr>
        <p:txBody>
          <a:bodyPr>
            <a:normAutofit/>
          </a:bodyPr>
          <a:lstStyle/>
          <a:p>
            <a:r>
              <a:rPr lang="en-US" dirty="0"/>
              <a:t>      Demographic Segmentation</a:t>
            </a:r>
          </a:p>
        </p:txBody>
      </p:sp>
      <p:sp>
        <p:nvSpPr>
          <p:cNvPr id="4" name="Content Placeholder 3">
            <a:extLst>
              <a:ext uri="{FF2B5EF4-FFF2-40B4-BE49-F238E27FC236}">
                <a16:creationId xmlns:a16="http://schemas.microsoft.com/office/drawing/2014/main" id="{36831D08-125F-9A3D-EA65-E898EB649D03}"/>
              </a:ext>
            </a:extLst>
          </p:cNvPr>
          <p:cNvSpPr>
            <a:spLocks noGrp="1"/>
          </p:cNvSpPr>
          <p:nvPr>
            <p:ph idx="1"/>
          </p:nvPr>
        </p:nvSpPr>
        <p:spPr>
          <a:xfrm>
            <a:off x="1306285" y="1940766"/>
            <a:ext cx="6811347" cy="1488233"/>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2400" dirty="0"/>
              <a:t>Quantifiable population characteristics  </a:t>
            </a:r>
          </a:p>
        </p:txBody>
      </p:sp>
      <p:sp>
        <p:nvSpPr>
          <p:cNvPr id="6" name="Content Placeholder 3">
            <a:extLst>
              <a:ext uri="{FF2B5EF4-FFF2-40B4-BE49-F238E27FC236}">
                <a16:creationId xmlns:a16="http://schemas.microsoft.com/office/drawing/2014/main" id="{6BF4D711-667F-00CD-340A-BE0D5D0E3F97}"/>
              </a:ext>
            </a:extLst>
          </p:cNvPr>
          <p:cNvSpPr txBox="1">
            <a:spLocks/>
          </p:cNvSpPr>
          <p:nvPr/>
        </p:nvSpPr>
        <p:spPr>
          <a:xfrm>
            <a:off x="914400" y="3847321"/>
            <a:ext cx="7543800" cy="1488233"/>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lt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lt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lt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lt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lt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lt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lt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lt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lt1"/>
                </a:solidFill>
                <a:effectLst/>
                <a:latin typeface="+mn-lt"/>
                <a:ea typeface="+mn-ea"/>
                <a:cs typeface="+mn-cs"/>
              </a:defRPr>
            </a:lvl9pPr>
          </a:lstStyle>
          <a:p>
            <a:pPr marL="0" indent="0" algn="ctr">
              <a:buNone/>
            </a:pPr>
            <a:r>
              <a:rPr lang="en-US" sz="2400" dirty="0"/>
              <a:t>(e.g. age, gender, income, education, ethnicity, family size) </a:t>
            </a:r>
          </a:p>
        </p:txBody>
      </p:sp>
    </p:spTree>
    <p:extLst>
      <p:ext uri="{BB962C8B-B14F-4D97-AF65-F5344CB8AC3E}">
        <p14:creationId xmlns:p14="http://schemas.microsoft.com/office/powerpoint/2010/main" val="25161429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DB337-63FF-24FB-1B43-42BA06E342E2}"/>
              </a:ext>
            </a:extLst>
          </p:cNvPr>
          <p:cNvSpPr>
            <a:spLocks noGrp="1"/>
          </p:cNvSpPr>
          <p:nvPr>
            <p:ph type="title"/>
          </p:nvPr>
        </p:nvSpPr>
        <p:spPr>
          <a:xfrm>
            <a:off x="685800" y="484632"/>
            <a:ext cx="7772400" cy="858976"/>
          </a:xfrm>
        </p:spPr>
        <p:txBody>
          <a:bodyPr/>
          <a:lstStyle/>
          <a:p>
            <a:r>
              <a:rPr lang="en-US" dirty="0"/>
              <a:t>      Geographic Segmentation</a:t>
            </a:r>
          </a:p>
        </p:txBody>
      </p:sp>
      <p:sp>
        <p:nvSpPr>
          <p:cNvPr id="4" name="Content Placeholder 3">
            <a:extLst>
              <a:ext uri="{FF2B5EF4-FFF2-40B4-BE49-F238E27FC236}">
                <a16:creationId xmlns:a16="http://schemas.microsoft.com/office/drawing/2014/main" id="{81E8BE2B-4C04-AB07-B2C8-1F40AA9AD996}"/>
              </a:ext>
            </a:extLst>
          </p:cNvPr>
          <p:cNvSpPr>
            <a:spLocks noGrp="1"/>
          </p:cNvSpPr>
          <p:nvPr>
            <p:ph idx="1"/>
          </p:nvPr>
        </p:nvSpPr>
        <p:spPr>
          <a:xfrm>
            <a:off x="1240971" y="1884784"/>
            <a:ext cx="6913984" cy="1408922"/>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Physical location or region </a:t>
            </a:r>
          </a:p>
        </p:txBody>
      </p:sp>
      <p:sp>
        <p:nvSpPr>
          <p:cNvPr id="5" name="Rectangle: Rounded Corners 4">
            <a:extLst>
              <a:ext uri="{FF2B5EF4-FFF2-40B4-BE49-F238E27FC236}">
                <a16:creationId xmlns:a16="http://schemas.microsoft.com/office/drawing/2014/main" id="{B5FD12DE-1835-7316-5BD3-823DA7FBD0A0}"/>
              </a:ext>
            </a:extLst>
          </p:cNvPr>
          <p:cNvSpPr/>
          <p:nvPr/>
        </p:nvSpPr>
        <p:spPr>
          <a:xfrm>
            <a:off x="1091681" y="3769568"/>
            <a:ext cx="7249885" cy="1548881"/>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e.g. Africa; Nigeria; Taraba; urban; rural; remote </a:t>
            </a:r>
          </a:p>
        </p:txBody>
      </p:sp>
    </p:spTree>
    <p:extLst>
      <p:ext uri="{BB962C8B-B14F-4D97-AF65-F5344CB8AC3E}">
        <p14:creationId xmlns:p14="http://schemas.microsoft.com/office/powerpoint/2010/main" val="40624759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4BBBE-D82D-D9DB-7E64-68EB5BAEA132}"/>
              </a:ext>
            </a:extLst>
          </p:cNvPr>
          <p:cNvSpPr>
            <a:spLocks noGrp="1"/>
          </p:cNvSpPr>
          <p:nvPr>
            <p:ph type="title"/>
          </p:nvPr>
        </p:nvSpPr>
        <p:spPr>
          <a:xfrm>
            <a:off x="685800" y="484632"/>
            <a:ext cx="7772400" cy="793662"/>
          </a:xfrm>
        </p:spPr>
        <p:txBody>
          <a:bodyPr/>
          <a:lstStyle/>
          <a:p>
            <a:r>
              <a:rPr lang="en-US" dirty="0"/>
              <a:t>     Psychographics Segmentation</a:t>
            </a:r>
          </a:p>
        </p:txBody>
      </p:sp>
      <p:sp>
        <p:nvSpPr>
          <p:cNvPr id="4" name="Content Placeholder 3">
            <a:extLst>
              <a:ext uri="{FF2B5EF4-FFF2-40B4-BE49-F238E27FC236}">
                <a16:creationId xmlns:a16="http://schemas.microsoft.com/office/drawing/2014/main" id="{0EDB63AD-474E-55C2-E596-DACDEBF615CE}"/>
              </a:ext>
            </a:extLst>
          </p:cNvPr>
          <p:cNvSpPr>
            <a:spLocks noGrp="1"/>
          </p:cNvSpPr>
          <p:nvPr>
            <p:ph idx="1"/>
          </p:nvPr>
        </p:nvSpPr>
        <p:spPr>
          <a:xfrm>
            <a:off x="914399" y="1875452"/>
            <a:ext cx="7403841" cy="2099389"/>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Lifestyle, social or personality characteristics (activities, interests and opinions) </a:t>
            </a:r>
          </a:p>
          <a:p>
            <a:pPr algn="ctr"/>
            <a:r>
              <a:rPr lang="en-US" sz="2800" dirty="0"/>
              <a:t>Normally includes basic demographic descriptors</a:t>
            </a:r>
            <a:endParaRPr lang="en-US" sz="3200" dirty="0"/>
          </a:p>
        </p:txBody>
      </p:sp>
      <p:sp>
        <p:nvSpPr>
          <p:cNvPr id="5" name="Rectangle: Rounded Corners 4">
            <a:extLst>
              <a:ext uri="{FF2B5EF4-FFF2-40B4-BE49-F238E27FC236}">
                <a16:creationId xmlns:a16="http://schemas.microsoft.com/office/drawing/2014/main" id="{F5DAD08C-3AEB-B2D3-C22F-55FA76440DEF}"/>
              </a:ext>
            </a:extLst>
          </p:cNvPr>
          <p:cNvSpPr/>
          <p:nvPr/>
        </p:nvSpPr>
        <p:spPr>
          <a:xfrm>
            <a:off x="685800" y="4189445"/>
            <a:ext cx="7772400" cy="1866121"/>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e.g. Health conscious; style conscious; traditionalists; conservatives; young professional</a:t>
            </a:r>
          </a:p>
        </p:txBody>
      </p:sp>
    </p:spTree>
    <p:extLst>
      <p:ext uri="{BB962C8B-B14F-4D97-AF65-F5344CB8AC3E}">
        <p14:creationId xmlns:p14="http://schemas.microsoft.com/office/powerpoint/2010/main" val="8847625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80CE-F083-7600-EB4C-2EFA47896808}"/>
              </a:ext>
            </a:extLst>
          </p:cNvPr>
          <p:cNvSpPr>
            <a:spLocks noGrp="1"/>
          </p:cNvSpPr>
          <p:nvPr>
            <p:ph type="title"/>
          </p:nvPr>
        </p:nvSpPr>
        <p:spPr/>
        <p:txBody>
          <a:bodyPr/>
          <a:lstStyle/>
          <a:p>
            <a:r>
              <a:rPr lang="en-US" dirty="0"/>
              <a:t>Behavioral Segmentation</a:t>
            </a:r>
          </a:p>
        </p:txBody>
      </p:sp>
      <p:sp>
        <p:nvSpPr>
          <p:cNvPr id="4" name="Content Placeholder 3">
            <a:extLst>
              <a:ext uri="{FF2B5EF4-FFF2-40B4-BE49-F238E27FC236}">
                <a16:creationId xmlns:a16="http://schemas.microsoft.com/office/drawing/2014/main" id="{64DD4CBF-C874-3764-BE76-FC00025362A3}"/>
              </a:ext>
            </a:extLst>
          </p:cNvPr>
          <p:cNvSpPr>
            <a:spLocks noGrp="1"/>
          </p:cNvSpPr>
          <p:nvPr>
            <p:ph idx="1"/>
          </p:nvPr>
        </p:nvSpPr>
        <p:spPr>
          <a:xfrm>
            <a:off x="578596" y="1922820"/>
            <a:ext cx="8220075" cy="171612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sz="2400" dirty="0"/>
              <a:t>Purchasing, consumption or usage behavior (e.g. needs-based, benefit sought, usage occasion, purchase frequency, customer loyalty, buyer readiness)</a:t>
            </a:r>
          </a:p>
          <a:p>
            <a:pPr algn="ctr"/>
            <a:endParaRPr lang="en-US" sz="3200" dirty="0"/>
          </a:p>
        </p:txBody>
      </p:sp>
      <p:sp>
        <p:nvSpPr>
          <p:cNvPr id="5" name="Content Placeholder 3">
            <a:extLst>
              <a:ext uri="{FF2B5EF4-FFF2-40B4-BE49-F238E27FC236}">
                <a16:creationId xmlns:a16="http://schemas.microsoft.com/office/drawing/2014/main" id="{0C8F5BB0-FC84-A293-27A4-C9867376CA34}"/>
              </a:ext>
            </a:extLst>
          </p:cNvPr>
          <p:cNvSpPr txBox="1">
            <a:spLocks/>
          </p:cNvSpPr>
          <p:nvPr/>
        </p:nvSpPr>
        <p:spPr>
          <a:xfrm>
            <a:off x="802433" y="3829303"/>
            <a:ext cx="7772400" cy="2099389"/>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lt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lt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lt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lt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lt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lt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lt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lt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lt1"/>
                </a:solidFill>
                <a:effectLst/>
                <a:latin typeface="+mn-lt"/>
                <a:ea typeface="+mn-ea"/>
                <a:cs typeface="+mn-cs"/>
              </a:defRPr>
            </a:lvl9pPr>
          </a:lstStyle>
          <a:p>
            <a:pPr algn="ctr"/>
            <a:r>
              <a:rPr lang="en-US" sz="3200" dirty="0"/>
              <a:t>E.g. Early users. Early adopters, Opinion leaders, Price conscious, Quality conscious etc. </a:t>
            </a:r>
          </a:p>
        </p:txBody>
      </p:sp>
    </p:spTree>
    <p:extLst>
      <p:ext uri="{BB962C8B-B14F-4D97-AF65-F5344CB8AC3E}">
        <p14:creationId xmlns:p14="http://schemas.microsoft.com/office/powerpoint/2010/main" val="7857085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CEA06-F0AF-5D11-2D6A-0D7A90BF1908}"/>
              </a:ext>
            </a:extLst>
          </p:cNvPr>
          <p:cNvSpPr>
            <a:spLocks noGrp="1"/>
          </p:cNvSpPr>
          <p:nvPr>
            <p:ph type="title"/>
          </p:nvPr>
        </p:nvSpPr>
        <p:spPr>
          <a:xfrm>
            <a:off x="685800" y="139960"/>
            <a:ext cx="7772400" cy="914400"/>
          </a:xfrm>
        </p:spPr>
        <p:txBody>
          <a:bodyPr>
            <a:noAutofit/>
          </a:bodyPr>
          <a:lstStyle/>
          <a:p>
            <a:pPr algn="ctr"/>
            <a:r>
              <a:rPr lang="en-US" sz="3200" dirty="0"/>
              <a:t>Segmenting the Breakfast Cereal Market</a:t>
            </a:r>
          </a:p>
        </p:txBody>
      </p:sp>
      <p:graphicFrame>
        <p:nvGraphicFramePr>
          <p:cNvPr id="6" name="Content Placeholder 5">
            <a:extLst>
              <a:ext uri="{FF2B5EF4-FFF2-40B4-BE49-F238E27FC236}">
                <a16:creationId xmlns:a16="http://schemas.microsoft.com/office/drawing/2014/main" id="{3092E5F5-53DE-D376-634F-0782BD6CF49D}"/>
              </a:ext>
            </a:extLst>
          </p:cNvPr>
          <p:cNvGraphicFramePr>
            <a:graphicFrameLocks noGrp="1"/>
          </p:cNvGraphicFramePr>
          <p:nvPr>
            <p:ph idx="1"/>
            <p:extLst>
              <p:ext uri="{D42A27DB-BD31-4B8C-83A1-F6EECF244321}">
                <p14:modId xmlns:p14="http://schemas.microsoft.com/office/powerpoint/2010/main" val="827531313"/>
              </p:ext>
            </p:extLst>
          </p:nvPr>
        </p:nvGraphicFramePr>
        <p:xfrm>
          <a:off x="685799" y="1129004"/>
          <a:ext cx="8010331" cy="52443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435373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A852F-A826-971E-DE66-939118BB322B}"/>
              </a:ext>
            </a:extLst>
          </p:cNvPr>
          <p:cNvSpPr>
            <a:spLocks noGrp="1"/>
          </p:cNvSpPr>
          <p:nvPr>
            <p:ph type="title"/>
          </p:nvPr>
        </p:nvSpPr>
        <p:spPr>
          <a:xfrm>
            <a:off x="685800" y="484632"/>
            <a:ext cx="7772400" cy="691025"/>
          </a:xfrm>
        </p:spPr>
        <p:txBody>
          <a:bodyPr/>
          <a:lstStyle/>
          <a:p>
            <a:r>
              <a:rPr lang="en-US" dirty="0"/>
              <a:t>      Segmenting the Car Market</a:t>
            </a:r>
          </a:p>
        </p:txBody>
      </p:sp>
      <p:graphicFrame>
        <p:nvGraphicFramePr>
          <p:cNvPr id="4" name="Content Placeholder 3">
            <a:extLst>
              <a:ext uri="{FF2B5EF4-FFF2-40B4-BE49-F238E27FC236}">
                <a16:creationId xmlns:a16="http://schemas.microsoft.com/office/drawing/2014/main" id="{2D9406D6-BB33-0CC6-C168-9D5E9F9B2BD9}"/>
              </a:ext>
            </a:extLst>
          </p:cNvPr>
          <p:cNvGraphicFramePr>
            <a:graphicFrameLocks noGrp="1"/>
          </p:cNvGraphicFramePr>
          <p:nvPr>
            <p:ph idx="1"/>
            <p:extLst>
              <p:ext uri="{D42A27DB-BD31-4B8C-83A1-F6EECF244321}">
                <p14:modId xmlns:p14="http://schemas.microsoft.com/office/powerpoint/2010/main" val="3697250908"/>
              </p:ext>
            </p:extLst>
          </p:nvPr>
        </p:nvGraphicFramePr>
        <p:xfrm>
          <a:off x="685800" y="1175657"/>
          <a:ext cx="7772400" cy="54024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942295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EFC08-54C8-19F1-D0DF-9DFB8BA650EE}"/>
              </a:ext>
            </a:extLst>
          </p:cNvPr>
          <p:cNvSpPr>
            <a:spLocks noGrp="1"/>
          </p:cNvSpPr>
          <p:nvPr>
            <p:ph type="title"/>
          </p:nvPr>
        </p:nvSpPr>
        <p:spPr>
          <a:xfrm>
            <a:off x="685800" y="484632"/>
            <a:ext cx="7772400" cy="1194878"/>
          </a:xfrm>
        </p:spPr>
        <p:txBody>
          <a:bodyPr>
            <a:noAutofit/>
          </a:bodyPr>
          <a:lstStyle/>
          <a:p>
            <a:pPr algn="ctr"/>
            <a:r>
              <a:rPr lang="en-US" sz="3200" dirty="0"/>
              <a:t>Another example of product segmentation</a:t>
            </a:r>
            <a:br>
              <a:rPr lang="en-US" sz="3200" dirty="0"/>
            </a:br>
            <a:r>
              <a:rPr lang="en-US" sz="2000" dirty="0">
                <a:solidFill>
                  <a:schemeClr val="accent1"/>
                </a:solidFill>
              </a:rPr>
              <a:t>where will you place your product?</a:t>
            </a:r>
            <a:endParaRPr lang="en-US" sz="3200" dirty="0">
              <a:solidFill>
                <a:schemeClr val="accent1"/>
              </a:solidFill>
            </a:endParaRPr>
          </a:p>
        </p:txBody>
      </p:sp>
      <p:sp>
        <p:nvSpPr>
          <p:cNvPr id="3" name="Content Placeholder 2">
            <a:extLst>
              <a:ext uri="{FF2B5EF4-FFF2-40B4-BE49-F238E27FC236}">
                <a16:creationId xmlns:a16="http://schemas.microsoft.com/office/drawing/2014/main" id="{B7FB2746-9B2D-7DD4-C047-105D6074AB72}"/>
              </a:ext>
            </a:extLst>
          </p:cNvPr>
          <p:cNvSpPr>
            <a:spLocks noGrp="1"/>
          </p:cNvSpPr>
          <p:nvPr>
            <p:ph idx="1"/>
          </p:nvPr>
        </p:nvSpPr>
        <p:spPr>
          <a:xfrm>
            <a:off x="685800" y="1796143"/>
            <a:ext cx="7772400" cy="4376057"/>
          </a:xfrm>
        </p:spPr>
        <p:txBody>
          <a:bodyPr>
            <a:normAutofit fontScale="85000" lnSpcReduction="20000"/>
          </a:bodyPr>
          <a:lstStyle/>
          <a:p>
            <a:endParaRPr lang="en-US" dirty="0"/>
          </a:p>
          <a:p>
            <a:r>
              <a:rPr lang="en-US" dirty="0"/>
              <a:t>                                        Elegant </a:t>
            </a:r>
          </a:p>
          <a:p>
            <a:endParaRPr lang="en-US" dirty="0"/>
          </a:p>
          <a:p>
            <a:endParaRPr lang="en-US" dirty="0"/>
          </a:p>
          <a:p>
            <a:endParaRPr lang="en-US" dirty="0"/>
          </a:p>
          <a:p>
            <a:r>
              <a:rPr lang="en-US" dirty="0"/>
              <a:t>Dependable                                                                   Convenience </a:t>
            </a:r>
          </a:p>
          <a:p>
            <a:endParaRPr lang="en-US" dirty="0"/>
          </a:p>
          <a:p>
            <a:endParaRPr lang="en-US" dirty="0"/>
          </a:p>
          <a:p>
            <a:endParaRPr lang="en-US" dirty="0"/>
          </a:p>
          <a:p>
            <a:endParaRPr lang="en-US" dirty="0"/>
          </a:p>
          <a:p>
            <a:r>
              <a:rPr lang="en-US" dirty="0"/>
              <a:t>                                                          Affordable                    </a:t>
            </a:r>
          </a:p>
        </p:txBody>
      </p:sp>
      <p:cxnSp>
        <p:nvCxnSpPr>
          <p:cNvPr id="5" name="Straight Arrow Connector 4">
            <a:extLst>
              <a:ext uri="{FF2B5EF4-FFF2-40B4-BE49-F238E27FC236}">
                <a16:creationId xmlns:a16="http://schemas.microsoft.com/office/drawing/2014/main" id="{F65C6C41-211E-8862-65C4-08DAC33DB1F0}"/>
              </a:ext>
            </a:extLst>
          </p:cNvPr>
          <p:cNvCxnSpPr/>
          <p:nvPr/>
        </p:nvCxnSpPr>
        <p:spPr>
          <a:xfrm>
            <a:off x="1278293" y="3722914"/>
            <a:ext cx="6298163" cy="0"/>
          </a:xfrm>
          <a:prstGeom prst="straightConnector1">
            <a:avLst/>
          </a:prstGeom>
          <a:ln w="2857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A56011B5-3153-7948-AB3A-B58A62FF726A}"/>
              </a:ext>
            </a:extLst>
          </p:cNvPr>
          <p:cNvCxnSpPr/>
          <p:nvPr/>
        </p:nvCxnSpPr>
        <p:spPr>
          <a:xfrm>
            <a:off x="4455367" y="1796143"/>
            <a:ext cx="0" cy="4376057"/>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38289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08B0F-075D-8027-D296-9DB60A539A19}"/>
              </a:ext>
            </a:extLst>
          </p:cNvPr>
          <p:cNvSpPr>
            <a:spLocks noGrp="1"/>
          </p:cNvSpPr>
          <p:nvPr>
            <p:ph type="title"/>
          </p:nvPr>
        </p:nvSpPr>
        <p:spPr>
          <a:xfrm>
            <a:off x="685800" y="484632"/>
            <a:ext cx="7772400" cy="942952"/>
          </a:xfrm>
        </p:spPr>
        <p:txBody>
          <a:bodyPr>
            <a:normAutofit/>
          </a:bodyPr>
          <a:lstStyle/>
          <a:p>
            <a:r>
              <a:rPr lang="en-GB" sz="2200" b="1" dirty="0">
                <a:effectLst/>
                <a:latin typeface="Arial" panose="020B0604020202020204" pitchFamily="34" charset="0"/>
                <a:ea typeface="Times New Roman" panose="02020603050405020304" pitchFamily="18" charset="0"/>
              </a:rPr>
              <a:t>       Requirements for Effective Segmentation</a:t>
            </a:r>
            <a:br>
              <a:rPr lang="en-US" sz="4400" dirty="0">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1DD0922E-8A17-2ADF-3EE2-04B4B6BFDFE2}"/>
              </a:ext>
            </a:extLst>
          </p:cNvPr>
          <p:cNvSpPr>
            <a:spLocks noGrp="1"/>
          </p:cNvSpPr>
          <p:nvPr>
            <p:ph idx="1"/>
          </p:nvPr>
        </p:nvSpPr>
        <p:spPr>
          <a:xfrm>
            <a:off x="139959" y="1847460"/>
            <a:ext cx="8892073" cy="4324739"/>
          </a:xfrm>
        </p:spPr>
        <p:txBody>
          <a:bodyPr>
            <a:normAutofit lnSpcReduction="10000"/>
          </a:bodyPr>
          <a:lstStyle/>
          <a:p>
            <a:pPr marL="0" marR="0" algn="just">
              <a:lnSpc>
                <a:spcPct val="150000"/>
              </a:lnSpc>
            </a:pPr>
            <a:r>
              <a:rPr lang="en-GB" sz="2600" dirty="0">
                <a:effectLst/>
                <a:latin typeface="Times New Roman" panose="02020603050405020304" pitchFamily="18" charset="0"/>
                <a:ea typeface="Times New Roman" panose="02020603050405020304" pitchFamily="18" charset="0"/>
              </a:rPr>
              <a:t>The market segments must possess the following characteristics:</a:t>
            </a:r>
          </a:p>
          <a:p>
            <a:pPr marL="0" marR="0" indent="0" algn="just">
              <a:lnSpc>
                <a:spcPct val="150000"/>
              </a:lnSpc>
              <a:buNone/>
            </a:pPr>
            <a:r>
              <a:rPr lang="en-GB" sz="2600" dirty="0">
                <a:latin typeface="Times New Roman" panose="02020603050405020304" pitchFamily="18" charset="0"/>
                <a:ea typeface="Times New Roman" panose="02020603050405020304" pitchFamily="18" charset="0"/>
              </a:rPr>
              <a:t>1. </a:t>
            </a:r>
            <a:r>
              <a:rPr lang="en-GB" sz="2600" b="1" i="1" dirty="0">
                <a:effectLst/>
                <a:latin typeface="Times New Roman" panose="02020603050405020304" pitchFamily="18" charset="0"/>
                <a:ea typeface="Times New Roman" panose="02020603050405020304" pitchFamily="18" charset="0"/>
              </a:rPr>
              <a:t>Measurability: </a:t>
            </a:r>
            <a:r>
              <a:rPr lang="en-GB" sz="2600" dirty="0">
                <a:effectLst/>
                <a:latin typeface="Times New Roman" panose="02020603050405020304" pitchFamily="18" charset="0"/>
                <a:ea typeface="Times New Roman" panose="02020603050405020304" pitchFamily="18" charset="0"/>
              </a:rPr>
              <a:t>It must be possible to measure the size and purchasing power of the segment. </a:t>
            </a:r>
            <a:endParaRPr lang="en-US" sz="2600" dirty="0">
              <a:effectLst/>
              <a:latin typeface="Times New Roman" panose="02020603050405020304" pitchFamily="18" charset="0"/>
              <a:ea typeface="Times New Roman" panose="02020603050405020304" pitchFamily="18" charset="0"/>
            </a:endParaRPr>
          </a:p>
          <a:p>
            <a:pPr marL="0" marR="0" indent="0" algn="just">
              <a:lnSpc>
                <a:spcPct val="150000"/>
              </a:lnSpc>
              <a:buNone/>
            </a:pPr>
            <a:r>
              <a:rPr lang="en-GB" sz="2600" b="1" i="1" dirty="0">
                <a:effectLst/>
                <a:latin typeface="Times New Roman" panose="02020603050405020304" pitchFamily="18" charset="0"/>
                <a:ea typeface="Times New Roman" panose="02020603050405020304" pitchFamily="18" charset="0"/>
              </a:rPr>
              <a:t>2. Substantiality: </a:t>
            </a:r>
            <a:r>
              <a:rPr lang="en-GB" sz="2600" dirty="0">
                <a:effectLst/>
                <a:latin typeface="Times New Roman" panose="02020603050405020304" pitchFamily="18" charset="0"/>
                <a:ea typeface="Times New Roman" panose="02020603050405020304" pitchFamily="18" charset="0"/>
              </a:rPr>
              <a:t>This is the degree to which segments are profitable enough to be worth pursuing with ‘tailored’ marketing programmes. </a:t>
            </a:r>
            <a:endParaRPr lang="en-US" sz="2600" dirty="0">
              <a:effectLst/>
              <a:latin typeface="Times New Roman" panose="02020603050405020304" pitchFamily="18" charset="0"/>
              <a:ea typeface="Times New Roman" panose="02020603050405020304" pitchFamily="18" charset="0"/>
            </a:endParaRPr>
          </a:p>
          <a:p>
            <a:pPr marL="0" marR="0" algn="just">
              <a:lnSpc>
                <a:spcPct val="150000"/>
              </a:lnSpc>
            </a:pPr>
            <a:endParaRPr lang="en-US" sz="1800" dirty="0">
              <a:effectLst/>
              <a:latin typeface="Times New Roman" panose="02020603050405020304" pitchFamily="18" charset="0"/>
              <a:ea typeface="Times New Roman" panose="02020603050405020304" pitchFamily="18" charset="0"/>
            </a:endParaRPr>
          </a:p>
          <a:p>
            <a:endParaRPr lang="en-US" dirty="0"/>
          </a:p>
        </p:txBody>
      </p:sp>
    </p:spTree>
    <p:extLst>
      <p:ext uri="{BB962C8B-B14F-4D97-AF65-F5344CB8AC3E}">
        <p14:creationId xmlns:p14="http://schemas.microsoft.com/office/powerpoint/2010/main" val="10843696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2E64D-E4F3-9081-871E-D33A1218FDDD}"/>
              </a:ext>
            </a:extLst>
          </p:cNvPr>
          <p:cNvSpPr>
            <a:spLocks noGrp="1"/>
          </p:cNvSpPr>
          <p:nvPr>
            <p:ph type="title"/>
          </p:nvPr>
        </p:nvSpPr>
        <p:spPr>
          <a:xfrm>
            <a:off x="685800" y="484632"/>
            <a:ext cx="7772400" cy="653703"/>
          </a:xfrm>
        </p:spPr>
        <p:txBody>
          <a:bodyPr>
            <a:noAutofit/>
          </a:bodyPr>
          <a:lstStyle/>
          <a:p>
            <a:r>
              <a:rPr lang="en-GB" sz="2000" b="1" dirty="0">
                <a:effectLst/>
                <a:latin typeface="Arial" panose="020B0604020202020204" pitchFamily="34" charset="0"/>
                <a:ea typeface="Times New Roman" panose="02020603050405020304" pitchFamily="18" charset="0"/>
              </a:rPr>
              <a:t>     Requirements for Effective Segmentation cont.</a:t>
            </a:r>
            <a:endParaRPr lang="en-US" sz="2000" dirty="0"/>
          </a:p>
        </p:txBody>
      </p:sp>
      <p:sp>
        <p:nvSpPr>
          <p:cNvPr id="3" name="Content Placeholder 2">
            <a:extLst>
              <a:ext uri="{FF2B5EF4-FFF2-40B4-BE49-F238E27FC236}">
                <a16:creationId xmlns:a16="http://schemas.microsoft.com/office/drawing/2014/main" id="{5E157BEE-3A8C-A2A0-CC1F-BFC026B166F3}"/>
              </a:ext>
            </a:extLst>
          </p:cNvPr>
          <p:cNvSpPr>
            <a:spLocks noGrp="1"/>
          </p:cNvSpPr>
          <p:nvPr>
            <p:ph idx="1"/>
          </p:nvPr>
        </p:nvSpPr>
        <p:spPr>
          <a:xfrm>
            <a:off x="317241" y="1838130"/>
            <a:ext cx="8668139" cy="4278086"/>
          </a:xfrm>
        </p:spPr>
        <p:txBody>
          <a:bodyPr>
            <a:normAutofit fontScale="92500"/>
          </a:bodyPr>
          <a:lstStyle/>
          <a:p>
            <a:pPr marL="0" marR="0" indent="0" algn="just">
              <a:lnSpc>
                <a:spcPct val="150000"/>
              </a:lnSpc>
              <a:buNone/>
            </a:pPr>
            <a:r>
              <a:rPr lang="en-GB" sz="2400" b="1" i="1" dirty="0">
                <a:effectLst/>
                <a:latin typeface="Times New Roman" panose="02020603050405020304" pitchFamily="18" charset="0"/>
                <a:ea typeface="Times New Roman" panose="02020603050405020304" pitchFamily="18" charset="0"/>
              </a:rPr>
              <a:t>3 Accessibility: </a:t>
            </a:r>
            <a:r>
              <a:rPr lang="en-GB" sz="2400" dirty="0">
                <a:effectLst/>
                <a:latin typeface="Times New Roman" panose="02020603050405020304" pitchFamily="18" charset="0"/>
                <a:ea typeface="Times New Roman" panose="02020603050405020304" pitchFamily="18" charset="0"/>
              </a:rPr>
              <a:t>This refers to the degree to which one may reach and serve segments. For example, there is no point in conducting a heavy news paper advertising campaign for the business segment in Northern Nigeria.</a:t>
            </a:r>
            <a:endParaRPr lang="en-US" sz="2400" dirty="0">
              <a:effectLst/>
              <a:latin typeface="Times New Roman" panose="02020603050405020304" pitchFamily="18" charset="0"/>
              <a:ea typeface="Times New Roman" panose="02020603050405020304" pitchFamily="18" charset="0"/>
            </a:endParaRPr>
          </a:p>
          <a:p>
            <a:pPr marL="0" marR="0" indent="0" algn="just">
              <a:lnSpc>
                <a:spcPct val="150000"/>
              </a:lnSpc>
              <a:buNone/>
            </a:pPr>
            <a:r>
              <a:rPr lang="en-GB" sz="2400" b="1" i="1" dirty="0">
                <a:effectLst/>
                <a:latin typeface="Times New Roman" panose="02020603050405020304" pitchFamily="18" charset="0"/>
                <a:ea typeface="Times New Roman" panose="02020603050405020304" pitchFamily="18" charset="0"/>
              </a:rPr>
              <a:t>4 Actionability: </a:t>
            </a:r>
            <a:r>
              <a:rPr lang="en-GB" sz="2400" dirty="0">
                <a:effectLst/>
                <a:latin typeface="Times New Roman" panose="02020603050405020304" pitchFamily="18" charset="0"/>
                <a:ea typeface="Times New Roman" panose="02020603050405020304" pitchFamily="18" charset="0"/>
              </a:rPr>
              <a:t>This relates to the degree to which effective programmes can be redesigned to attract and serve relevant segments. For instance, a small airline could identify different market segments, but its human and financial resources may limit its ability to adequately develop separate marketing programmes.</a:t>
            </a:r>
            <a:endParaRPr lang="en-US" sz="2400" dirty="0">
              <a:effectLst/>
              <a:latin typeface="Times New Roman" panose="02020603050405020304" pitchFamily="18" charset="0"/>
              <a:ea typeface="Times New Roman" panose="02020603050405020304" pitchFamily="18" charset="0"/>
            </a:endParaRPr>
          </a:p>
          <a:p>
            <a:endParaRPr lang="en-US" dirty="0"/>
          </a:p>
        </p:txBody>
      </p:sp>
    </p:spTree>
    <p:extLst>
      <p:ext uri="{BB962C8B-B14F-4D97-AF65-F5344CB8AC3E}">
        <p14:creationId xmlns:p14="http://schemas.microsoft.com/office/powerpoint/2010/main" val="22769920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7A750-489F-C894-27F6-7D4C2C04DA4A}"/>
              </a:ext>
            </a:extLst>
          </p:cNvPr>
          <p:cNvSpPr>
            <a:spLocks noGrp="1"/>
          </p:cNvSpPr>
          <p:nvPr>
            <p:ph type="title"/>
          </p:nvPr>
        </p:nvSpPr>
        <p:spPr>
          <a:xfrm>
            <a:off x="685800" y="484632"/>
            <a:ext cx="7772400" cy="625711"/>
          </a:xfrm>
        </p:spPr>
        <p:txBody>
          <a:bodyPr>
            <a:normAutofit fontScale="90000"/>
          </a:bodyPr>
          <a:lstStyle/>
          <a:p>
            <a:r>
              <a:rPr lang="en-US" sz="3200" dirty="0"/>
              <a:t>  Criteria for Selecting Target Markets</a:t>
            </a:r>
          </a:p>
        </p:txBody>
      </p:sp>
      <p:sp>
        <p:nvSpPr>
          <p:cNvPr id="3" name="Content Placeholder 2">
            <a:extLst>
              <a:ext uri="{FF2B5EF4-FFF2-40B4-BE49-F238E27FC236}">
                <a16:creationId xmlns:a16="http://schemas.microsoft.com/office/drawing/2014/main" id="{F750A5D4-918D-54DB-6BBA-AC68CD6158FE}"/>
              </a:ext>
            </a:extLst>
          </p:cNvPr>
          <p:cNvSpPr>
            <a:spLocks noGrp="1"/>
          </p:cNvSpPr>
          <p:nvPr>
            <p:ph idx="1"/>
          </p:nvPr>
        </p:nvSpPr>
        <p:spPr>
          <a:xfrm>
            <a:off x="685800" y="1399592"/>
            <a:ext cx="7772400" cy="4772608"/>
          </a:xfrm>
        </p:spPr>
        <p:txBody>
          <a:bodyPr/>
          <a:lstStyle/>
          <a:p>
            <a:endParaRPr lang="en-US" dirty="0"/>
          </a:p>
          <a:p>
            <a:r>
              <a:rPr lang="en-US" sz="3200" dirty="0"/>
              <a:t>1. Segment size and growth </a:t>
            </a:r>
          </a:p>
          <a:p>
            <a:endParaRPr lang="en-US" sz="3200" dirty="0"/>
          </a:p>
          <a:p>
            <a:r>
              <a:rPr lang="en-US" sz="3200" dirty="0"/>
              <a:t>2. Segment structural attractiveness </a:t>
            </a:r>
          </a:p>
          <a:p>
            <a:endParaRPr lang="en-US" sz="3200" dirty="0"/>
          </a:p>
          <a:p>
            <a:r>
              <a:rPr lang="en-US" sz="3200" dirty="0"/>
              <a:t>3. Company objectives and resource</a:t>
            </a:r>
          </a:p>
        </p:txBody>
      </p:sp>
    </p:spTree>
    <p:extLst>
      <p:ext uri="{BB962C8B-B14F-4D97-AF65-F5344CB8AC3E}">
        <p14:creationId xmlns:p14="http://schemas.microsoft.com/office/powerpoint/2010/main" val="6710744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FBAD7-9C27-55AB-A797-170200826B8D}"/>
              </a:ext>
            </a:extLst>
          </p:cNvPr>
          <p:cNvSpPr>
            <a:spLocks noGrp="1"/>
          </p:cNvSpPr>
          <p:nvPr>
            <p:ph type="title"/>
          </p:nvPr>
        </p:nvSpPr>
        <p:spPr>
          <a:xfrm>
            <a:off x="685800" y="484632"/>
            <a:ext cx="7772400" cy="756339"/>
          </a:xfrm>
        </p:spPr>
        <p:txBody>
          <a:bodyPr/>
          <a:lstStyle/>
          <a:p>
            <a:r>
              <a:rPr lang="en-US" dirty="0"/>
              <a:t>Segment size and growth</a:t>
            </a:r>
          </a:p>
        </p:txBody>
      </p:sp>
      <p:sp>
        <p:nvSpPr>
          <p:cNvPr id="3" name="Content Placeholder 2">
            <a:extLst>
              <a:ext uri="{FF2B5EF4-FFF2-40B4-BE49-F238E27FC236}">
                <a16:creationId xmlns:a16="http://schemas.microsoft.com/office/drawing/2014/main" id="{EF68D470-045D-CCFB-9D3A-E1B1645DC71B}"/>
              </a:ext>
            </a:extLst>
          </p:cNvPr>
          <p:cNvSpPr>
            <a:spLocks noGrp="1"/>
          </p:cNvSpPr>
          <p:nvPr>
            <p:ph idx="1"/>
          </p:nvPr>
        </p:nvSpPr>
        <p:spPr>
          <a:xfrm>
            <a:off x="177283" y="1940767"/>
            <a:ext cx="8742782" cy="4231433"/>
          </a:xfrm>
        </p:spPr>
        <p:txBody>
          <a:bodyPr>
            <a:normAutofit fontScale="92500" lnSpcReduction="20000"/>
          </a:bodyPr>
          <a:lstStyle/>
          <a:p>
            <a:pPr>
              <a:lnSpc>
                <a:spcPct val="110000"/>
              </a:lnSpc>
              <a:buFont typeface="Wingdings" panose="05000000000000000000" pitchFamily="2" charset="2"/>
              <a:buChar char="v"/>
            </a:pPr>
            <a:r>
              <a:rPr lang="en-US" sz="2400" dirty="0"/>
              <a:t> How large is the market?</a:t>
            </a:r>
          </a:p>
          <a:p>
            <a:pPr marL="0" indent="0">
              <a:lnSpc>
                <a:spcPct val="110000"/>
              </a:lnSpc>
              <a:buNone/>
            </a:pPr>
            <a:r>
              <a:rPr lang="en-US" sz="2400" dirty="0"/>
              <a:t> </a:t>
            </a:r>
          </a:p>
          <a:p>
            <a:pPr>
              <a:lnSpc>
                <a:spcPct val="110000"/>
              </a:lnSpc>
              <a:buFont typeface="Wingdings" panose="05000000000000000000" pitchFamily="2" charset="2"/>
              <a:buChar char="v"/>
            </a:pPr>
            <a:r>
              <a:rPr lang="en-US" sz="2400" dirty="0"/>
              <a:t> Is the market segment large enough to be profitable?</a:t>
            </a:r>
          </a:p>
          <a:p>
            <a:pPr marL="0" indent="0">
              <a:lnSpc>
                <a:spcPct val="110000"/>
              </a:lnSpc>
              <a:buNone/>
            </a:pPr>
            <a:r>
              <a:rPr lang="en-US" sz="2400" dirty="0"/>
              <a:t> </a:t>
            </a:r>
          </a:p>
          <a:p>
            <a:pPr>
              <a:lnSpc>
                <a:spcPct val="110000"/>
              </a:lnSpc>
              <a:buFont typeface="Wingdings" panose="05000000000000000000" pitchFamily="2" charset="2"/>
              <a:buChar char="v"/>
            </a:pPr>
            <a:r>
              <a:rPr lang="en-US" sz="2400" dirty="0"/>
              <a:t> Is the market segment growing? </a:t>
            </a:r>
          </a:p>
          <a:p>
            <a:pPr marL="0" indent="0">
              <a:lnSpc>
                <a:spcPct val="110000"/>
              </a:lnSpc>
              <a:buNone/>
            </a:pPr>
            <a:endParaRPr lang="en-US" sz="2400" dirty="0"/>
          </a:p>
          <a:p>
            <a:pPr>
              <a:lnSpc>
                <a:spcPct val="110000"/>
              </a:lnSpc>
              <a:buFont typeface="Wingdings" panose="05000000000000000000" pitchFamily="2" charset="2"/>
              <a:buChar char="v"/>
            </a:pPr>
            <a:r>
              <a:rPr lang="en-US" sz="2400" dirty="0"/>
              <a:t> What are the indications that growth will be sustained in the long term? </a:t>
            </a:r>
          </a:p>
          <a:p>
            <a:pPr marL="0" indent="0">
              <a:lnSpc>
                <a:spcPct val="110000"/>
              </a:lnSpc>
              <a:buNone/>
            </a:pPr>
            <a:endParaRPr lang="en-US" sz="2400" dirty="0"/>
          </a:p>
          <a:p>
            <a:pPr>
              <a:lnSpc>
                <a:spcPct val="110000"/>
              </a:lnSpc>
              <a:buFont typeface="Wingdings" panose="05000000000000000000" pitchFamily="2" charset="2"/>
              <a:buChar char="v"/>
            </a:pPr>
            <a:r>
              <a:rPr lang="en-US" sz="2400" dirty="0"/>
              <a:t> Is the segment stable over time?</a:t>
            </a:r>
          </a:p>
        </p:txBody>
      </p:sp>
    </p:spTree>
    <p:extLst>
      <p:ext uri="{BB962C8B-B14F-4D97-AF65-F5344CB8AC3E}">
        <p14:creationId xmlns:p14="http://schemas.microsoft.com/office/powerpoint/2010/main" val="42921013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370E3-D274-FC3C-366E-1F895C71F450}"/>
              </a:ext>
            </a:extLst>
          </p:cNvPr>
          <p:cNvSpPr>
            <a:spLocks noGrp="1"/>
          </p:cNvSpPr>
          <p:nvPr>
            <p:ph type="title"/>
          </p:nvPr>
        </p:nvSpPr>
        <p:spPr>
          <a:xfrm>
            <a:off x="685800" y="484632"/>
            <a:ext cx="7772400" cy="858976"/>
          </a:xfrm>
        </p:spPr>
        <p:txBody>
          <a:bodyPr>
            <a:normAutofit fontScale="90000"/>
          </a:bodyPr>
          <a:lstStyle/>
          <a:p>
            <a:r>
              <a:rPr lang="en-US" sz="3200" dirty="0"/>
              <a:t>Segment structural attractiveness</a:t>
            </a:r>
          </a:p>
        </p:txBody>
      </p:sp>
      <p:sp>
        <p:nvSpPr>
          <p:cNvPr id="3" name="Content Placeholder 2">
            <a:extLst>
              <a:ext uri="{FF2B5EF4-FFF2-40B4-BE49-F238E27FC236}">
                <a16:creationId xmlns:a16="http://schemas.microsoft.com/office/drawing/2014/main" id="{F1DD4FBE-76FC-0F30-DB2E-70DF4FCFD33A}"/>
              </a:ext>
            </a:extLst>
          </p:cNvPr>
          <p:cNvSpPr>
            <a:spLocks noGrp="1"/>
          </p:cNvSpPr>
          <p:nvPr>
            <p:ph idx="1"/>
          </p:nvPr>
        </p:nvSpPr>
        <p:spPr>
          <a:xfrm>
            <a:off x="223935" y="1912776"/>
            <a:ext cx="8798767" cy="4259424"/>
          </a:xfrm>
        </p:spPr>
        <p:txBody>
          <a:bodyPr>
            <a:normAutofit/>
          </a:bodyPr>
          <a:lstStyle/>
          <a:p>
            <a:pPr>
              <a:buFont typeface="Wingdings" panose="05000000000000000000" pitchFamily="2" charset="2"/>
              <a:buChar char="v"/>
            </a:pPr>
            <a:r>
              <a:rPr lang="en-US" dirty="0"/>
              <a:t> </a:t>
            </a:r>
            <a:r>
              <a:rPr lang="en-US" sz="2400" dirty="0"/>
              <a:t>To what extent are competitors targeting this market segment? </a:t>
            </a:r>
          </a:p>
          <a:p>
            <a:pPr>
              <a:buFont typeface="Wingdings" panose="05000000000000000000" pitchFamily="2" charset="2"/>
              <a:buChar char="v"/>
            </a:pPr>
            <a:r>
              <a:rPr lang="en-US" sz="2400" dirty="0"/>
              <a:t> Do buyers have strong bargaining power? </a:t>
            </a:r>
          </a:p>
          <a:p>
            <a:pPr>
              <a:buFont typeface="Wingdings" panose="05000000000000000000" pitchFamily="2" charset="2"/>
              <a:buChar char="v"/>
            </a:pPr>
            <a:r>
              <a:rPr lang="en-US" sz="2400" dirty="0"/>
              <a:t> Are substitute products available? </a:t>
            </a:r>
          </a:p>
          <a:p>
            <a:pPr>
              <a:buFont typeface="Wingdings" panose="05000000000000000000" pitchFamily="2" charset="2"/>
              <a:buChar char="v"/>
            </a:pPr>
            <a:r>
              <a:rPr lang="en-US" sz="2400" dirty="0"/>
              <a:t> Can we develop a viable, differentiated position in the segment? </a:t>
            </a:r>
          </a:p>
          <a:p>
            <a:pPr>
              <a:buFont typeface="Wingdings" panose="05000000000000000000" pitchFamily="2" charset="2"/>
              <a:buChar char="v"/>
            </a:pPr>
            <a:r>
              <a:rPr lang="en-US" sz="2400" dirty="0"/>
              <a:t> How responsible are customers in the segment to the marketing program? </a:t>
            </a:r>
          </a:p>
          <a:p>
            <a:pPr>
              <a:buFont typeface="Wingdings" panose="05000000000000000000" pitchFamily="2" charset="2"/>
              <a:buChar char="v"/>
            </a:pPr>
            <a:r>
              <a:rPr lang="en-US" sz="2400" dirty="0"/>
              <a:t> Is this market segment reachable and accessible?</a:t>
            </a:r>
            <a:endParaRPr lang="en-US" dirty="0"/>
          </a:p>
        </p:txBody>
      </p:sp>
    </p:spTree>
    <p:extLst>
      <p:ext uri="{BB962C8B-B14F-4D97-AF65-F5344CB8AC3E}">
        <p14:creationId xmlns:p14="http://schemas.microsoft.com/office/powerpoint/2010/main" val="23576198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BB69F-3EC6-B1D3-9FEF-729773C9F854}"/>
              </a:ext>
            </a:extLst>
          </p:cNvPr>
          <p:cNvSpPr>
            <a:spLocks noGrp="1"/>
          </p:cNvSpPr>
          <p:nvPr>
            <p:ph type="title"/>
          </p:nvPr>
        </p:nvSpPr>
        <p:spPr>
          <a:xfrm>
            <a:off x="685800" y="484632"/>
            <a:ext cx="7772400" cy="541735"/>
          </a:xfrm>
        </p:spPr>
        <p:txBody>
          <a:bodyPr>
            <a:noAutofit/>
          </a:bodyPr>
          <a:lstStyle/>
          <a:p>
            <a:pPr algn="ctr"/>
            <a:r>
              <a:rPr lang="en-US" sz="2400" b="1" dirty="0"/>
              <a:t>Main Strategic Approaches to Segmentation</a:t>
            </a:r>
          </a:p>
        </p:txBody>
      </p:sp>
      <p:graphicFrame>
        <p:nvGraphicFramePr>
          <p:cNvPr id="4" name="Table 4">
            <a:extLst>
              <a:ext uri="{FF2B5EF4-FFF2-40B4-BE49-F238E27FC236}">
                <a16:creationId xmlns:a16="http://schemas.microsoft.com/office/drawing/2014/main" id="{EB4E8971-0767-ECE1-D163-1B4AFE7C96AE}"/>
              </a:ext>
            </a:extLst>
          </p:cNvPr>
          <p:cNvGraphicFramePr>
            <a:graphicFrameLocks noGrp="1"/>
          </p:cNvGraphicFramePr>
          <p:nvPr>
            <p:ph idx="1"/>
            <p:extLst>
              <p:ext uri="{D42A27DB-BD31-4B8C-83A1-F6EECF244321}">
                <p14:modId xmlns:p14="http://schemas.microsoft.com/office/powerpoint/2010/main" val="919245673"/>
              </p:ext>
            </p:extLst>
          </p:nvPr>
        </p:nvGraphicFramePr>
        <p:xfrm>
          <a:off x="391886" y="2016125"/>
          <a:ext cx="8490857" cy="4205820"/>
        </p:xfrm>
        <a:graphic>
          <a:graphicData uri="http://schemas.openxmlformats.org/drawingml/2006/table">
            <a:tbl>
              <a:tblPr firstRow="1" bandRow="1">
                <a:tableStyleId>{073A0DAA-6AF3-43AB-8588-CEC1D06C72B9}</a:tableStyleId>
              </a:tblPr>
              <a:tblGrid>
                <a:gridCol w="1592615">
                  <a:extLst>
                    <a:ext uri="{9D8B030D-6E8A-4147-A177-3AD203B41FA5}">
                      <a16:colId xmlns:a16="http://schemas.microsoft.com/office/drawing/2014/main" val="3951932134"/>
                    </a:ext>
                  </a:extLst>
                </a:gridCol>
                <a:gridCol w="2657478">
                  <a:extLst>
                    <a:ext uri="{9D8B030D-6E8A-4147-A177-3AD203B41FA5}">
                      <a16:colId xmlns:a16="http://schemas.microsoft.com/office/drawing/2014/main" val="896931513"/>
                    </a:ext>
                  </a:extLst>
                </a:gridCol>
                <a:gridCol w="4240764">
                  <a:extLst>
                    <a:ext uri="{9D8B030D-6E8A-4147-A177-3AD203B41FA5}">
                      <a16:colId xmlns:a16="http://schemas.microsoft.com/office/drawing/2014/main" val="1432715270"/>
                    </a:ext>
                  </a:extLst>
                </a:gridCol>
              </a:tblGrid>
              <a:tr h="832980">
                <a:tc>
                  <a:txBody>
                    <a:bodyPr/>
                    <a:lstStyle/>
                    <a:p>
                      <a:r>
                        <a:rPr lang="en-US" sz="2000" dirty="0"/>
                        <a:t>Number of Segments</a:t>
                      </a:r>
                    </a:p>
                  </a:txBody>
                  <a:tcPr marL="77321" marR="77321"/>
                </a:tc>
                <a:tc gridSpan="2">
                  <a:txBody>
                    <a:bodyPr/>
                    <a:lstStyle/>
                    <a:p>
                      <a:pPr algn="ctr"/>
                      <a:r>
                        <a:rPr lang="en-US" sz="4000" dirty="0"/>
                        <a:t>Segmentation Strategy</a:t>
                      </a:r>
                    </a:p>
                  </a:txBody>
                  <a:tcPr marL="77321" marR="77321"/>
                </a:tc>
                <a:tc hMerge="1">
                  <a:txBody>
                    <a:bodyPr/>
                    <a:lstStyle/>
                    <a:p>
                      <a:endParaRPr lang="en-US" dirty="0"/>
                    </a:p>
                  </a:txBody>
                  <a:tcPr/>
                </a:tc>
                <a:extLst>
                  <a:ext uri="{0D108BD9-81ED-4DB2-BD59-A6C34878D82A}">
                    <a16:rowId xmlns:a16="http://schemas.microsoft.com/office/drawing/2014/main" val="2289081122"/>
                  </a:ext>
                </a:extLst>
              </a:tr>
              <a:tr h="614217">
                <a:tc>
                  <a:txBody>
                    <a:bodyPr/>
                    <a:lstStyle/>
                    <a:p>
                      <a:r>
                        <a:rPr lang="en-US" sz="2000" dirty="0"/>
                        <a:t>Zero </a:t>
                      </a:r>
                    </a:p>
                  </a:txBody>
                  <a:tcPr marL="77321" marR="77321"/>
                </a:tc>
                <a:tc>
                  <a:txBody>
                    <a:bodyPr/>
                    <a:lstStyle/>
                    <a:p>
                      <a:r>
                        <a:rPr lang="en-US" sz="2000" dirty="0"/>
                        <a:t>Undifferentiated strategy</a:t>
                      </a:r>
                    </a:p>
                  </a:txBody>
                  <a:tcPr marL="77321" marR="77321"/>
                </a:tc>
                <a:tc>
                  <a:txBody>
                    <a:bodyPr/>
                    <a:lstStyle/>
                    <a:p>
                      <a:r>
                        <a:rPr lang="en-US" sz="2000" dirty="0"/>
                        <a:t>Mass marketing: no segmentation </a:t>
                      </a:r>
                    </a:p>
                  </a:txBody>
                  <a:tcPr marL="77321" marR="77321"/>
                </a:tc>
                <a:extLst>
                  <a:ext uri="{0D108BD9-81ED-4DB2-BD59-A6C34878D82A}">
                    <a16:rowId xmlns:a16="http://schemas.microsoft.com/office/drawing/2014/main" val="3543306327"/>
                  </a:ext>
                </a:extLst>
              </a:tr>
              <a:tr h="832980">
                <a:tc>
                  <a:txBody>
                    <a:bodyPr/>
                    <a:lstStyle/>
                    <a:p>
                      <a:r>
                        <a:rPr lang="en-US" sz="2000" dirty="0"/>
                        <a:t>One </a:t>
                      </a:r>
                    </a:p>
                  </a:txBody>
                  <a:tcPr marL="77321" marR="77321"/>
                </a:tc>
                <a:tc>
                  <a:txBody>
                    <a:bodyPr/>
                    <a:lstStyle/>
                    <a:p>
                      <a:r>
                        <a:rPr lang="en-US" sz="2000" dirty="0"/>
                        <a:t>Focus strategy</a:t>
                      </a:r>
                    </a:p>
                  </a:txBody>
                  <a:tcPr marL="77321" marR="77321"/>
                </a:tc>
                <a:tc>
                  <a:txBody>
                    <a:bodyPr/>
                    <a:lstStyle/>
                    <a:p>
                      <a:r>
                        <a:rPr lang="en-US" sz="2000" dirty="0"/>
                        <a:t>Niche marketing: focus on a small, tightly defined target market (e.g. organic)</a:t>
                      </a:r>
                    </a:p>
                  </a:txBody>
                  <a:tcPr marL="77321" marR="77321"/>
                </a:tc>
                <a:extLst>
                  <a:ext uri="{0D108BD9-81ED-4DB2-BD59-A6C34878D82A}">
                    <a16:rowId xmlns:a16="http://schemas.microsoft.com/office/drawing/2014/main" val="3936721394"/>
                  </a:ext>
                </a:extLst>
              </a:tr>
              <a:tr h="832980">
                <a:tc>
                  <a:txBody>
                    <a:bodyPr/>
                    <a:lstStyle/>
                    <a:p>
                      <a:r>
                        <a:rPr lang="en-US" sz="2000" dirty="0"/>
                        <a:t>Two or more</a:t>
                      </a:r>
                    </a:p>
                  </a:txBody>
                  <a:tcPr marL="77321" marR="77321"/>
                </a:tc>
                <a:tc>
                  <a:txBody>
                    <a:bodyPr/>
                    <a:lstStyle/>
                    <a:p>
                      <a:r>
                        <a:rPr lang="en-US" sz="2000" dirty="0"/>
                        <a:t>Differentiated </a:t>
                      </a:r>
                    </a:p>
                    <a:p>
                      <a:r>
                        <a:rPr lang="en-US" sz="2000" dirty="0"/>
                        <a:t>strategy </a:t>
                      </a:r>
                    </a:p>
                  </a:txBody>
                  <a:tcPr marL="77321" marR="77321"/>
                </a:tc>
                <a:tc>
                  <a:txBody>
                    <a:bodyPr/>
                    <a:lstStyle/>
                    <a:p>
                      <a:r>
                        <a:rPr lang="en-US" sz="2000" dirty="0"/>
                        <a:t>Multiple niches: focus efforts on two or more tightly defined targets</a:t>
                      </a:r>
                    </a:p>
                  </a:txBody>
                  <a:tcPr marL="77321" marR="77321"/>
                </a:tc>
                <a:extLst>
                  <a:ext uri="{0D108BD9-81ED-4DB2-BD59-A6C34878D82A}">
                    <a16:rowId xmlns:a16="http://schemas.microsoft.com/office/drawing/2014/main" val="230067479"/>
                  </a:ext>
                </a:extLst>
              </a:tr>
              <a:tr h="832980">
                <a:tc>
                  <a:txBody>
                    <a:bodyPr/>
                    <a:lstStyle/>
                    <a:p>
                      <a:r>
                        <a:rPr lang="en-US" sz="2000" dirty="0"/>
                        <a:t>Thousands </a:t>
                      </a:r>
                    </a:p>
                  </a:txBody>
                  <a:tcPr marL="77321" marR="77321"/>
                </a:tc>
                <a:tc>
                  <a:txBody>
                    <a:bodyPr/>
                    <a:lstStyle/>
                    <a:p>
                      <a:r>
                        <a:rPr lang="en-US" sz="2000" dirty="0" err="1"/>
                        <a:t>Hypersegmentation</a:t>
                      </a:r>
                      <a:r>
                        <a:rPr lang="en-US" sz="2000" dirty="0"/>
                        <a:t> strategy</a:t>
                      </a:r>
                    </a:p>
                  </a:txBody>
                  <a:tcPr marL="77321" marR="77321"/>
                </a:tc>
                <a:tc>
                  <a:txBody>
                    <a:bodyPr/>
                    <a:lstStyle/>
                    <a:p>
                      <a:r>
                        <a:rPr lang="en-US" sz="2000" dirty="0"/>
                        <a:t>One-to-one marketing: customize the offer for each individual customers </a:t>
                      </a:r>
                    </a:p>
                  </a:txBody>
                  <a:tcPr marL="77321" marR="77321"/>
                </a:tc>
                <a:extLst>
                  <a:ext uri="{0D108BD9-81ED-4DB2-BD59-A6C34878D82A}">
                    <a16:rowId xmlns:a16="http://schemas.microsoft.com/office/drawing/2014/main" val="2131804353"/>
                  </a:ext>
                </a:extLst>
              </a:tr>
            </a:tbl>
          </a:graphicData>
        </a:graphic>
      </p:graphicFrame>
    </p:spTree>
    <p:extLst>
      <p:ext uri="{BB962C8B-B14F-4D97-AF65-F5344CB8AC3E}">
        <p14:creationId xmlns:p14="http://schemas.microsoft.com/office/powerpoint/2010/main" val="32300154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541F2-02DD-D272-2183-373E38B792F5}"/>
              </a:ext>
            </a:extLst>
          </p:cNvPr>
          <p:cNvSpPr>
            <a:spLocks noGrp="1"/>
          </p:cNvSpPr>
          <p:nvPr>
            <p:ph type="title"/>
          </p:nvPr>
        </p:nvSpPr>
        <p:spPr>
          <a:xfrm>
            <a:off x="685800" y="484632"/>
            <a:ext cx="7772400" cy="485752"/>
          </a:xfrm>
        </p:spPr>
        <p:txBody>
          <a:bodyPr>
            <a:normAutofit fontScale="90000"/>
          </a:bodyPr>
          <a:lstStyle/>
          <a:p>
            <a:r>
              <a:rPr lang="en-US" dirty="0"/>
              <a:t>Targeting (</a:t>
            </a:r>
            <a:r>
              <a:rPr lang="en-US" dirty="0" err="1"/>
              <a:t>stp</a:t>
            </a:r>
            <a:r>
              <a:rPr lang="en-US" dirty="0"/>
              <a:t> analysis)</a:t>
            </a:r>
          </a:p>
        </p:txBody>
      </p:sp>
      <p:sp>
        <p:nvSpPr>
          <p:cNvPr id="3" name="Content Placeholder 2">
            <a:extLst>
              <a:ext uri="{FF2B5EF4-FFF2-40B4-BE49-F238E27FC236}">
                <a16:creationId xmlns:a16="http://schemas.microsoft.com/office/drawing/2014/main" id="{A54C6FA8-9A98-3EAA-CF67-4F0EC4D5B75E}"/>
              </a:ext>
            </a:extLst>
          </p:cNvPr>
          <p:cNvSpPr>
            <a:spLocks noGrp="1"/>
          </p:cNvSpPr>
          <p:nvPr>
            <p:ph idx="1"/>
          </p:nvPr>
        </p:nvSpPr>
        <p:spPr>
          <a:xfrm>
            <a:off x="401216" y="1800807"/>
            <a:ext cx="8472196" cy="4208107"/>
          </a:xfrm>
        </p:spPr>
        <p:txBody>
          <a:bodyPr>
            <a:normAutofit fontScale="92500" lnSpcReduction="20000"/>
          </a:bodyPr>
          <a:lstStyle/>
          <a:p>
            <a:pPr>
              <a:lnSpc>
                <a:spcPct val="150000"/>
              </a:lnSpc>
            </a:pPr>
            <a:r>
              <a:rPr lang="en-US" dirty="0"/>
              <a:t>Target Marketing strategy is an approach that involves segmenting a market, and create personalized marketing messages that resonate with their intended audience.</a:t>
            </a:r>
          </a:p>
          <a:p>
            <a:pPr>
              <a:lnSpc>
                <a:spcPct val="150000"/>
              </a:lnSpc>
            </a:pPr>
            <a:r>
              <a:rPr lang="en-US" dirty="0"/>
              <a:t>Target marketing is a strategic approach that focuses on identifying and reaching a specific group of consumers who are most likely to be interested in a product or service.</a:t>
            </a:r>
          </a:p>
          <a:p>
            <a:pPr>
              <a:lnSpc>
                <a:spcPct val="150000"/>
              </a:lnSpc>
            </a:pPr>
            <a:r>
              <a:rPr lang="en-US" dirty="0"/>
              <a:t>It involves tailoring marketing efforts to meet the needs and preferences of this specific target market</a:t>
            </a:r>
          </a:p>
          <a:p>
            <a:pPr>
              <a:lnSpc>
                <a:spcPct val="150000"/>
              </a:lnSpc>
            </a:pPr>
            <a:r>
              <a:rPr lang="en-US" dirty="0"/>
              <a:t>It also allows companies to allocate resources effectively in focusing their efforts on who are likely to convert into customers</a:t>
            </a:r>
          </a:p>
        </p:txBody>
      </p:sp>
    </p:spTree>
    <p:extLst>
      <p:ext uri="{BB962C8B-B14F-4D97-AF65-F5344CB8AC3E}">
        <p14:creationId xmlns:p14="http://schemas.microsoft.com/office/powerpoint/2010/main" val="42814732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77B3B-50C7-F568-6CD9-5743B3552B3A}"/>
              </a:ext>
            </a:extLst>
          </p:cNvPr>
          <p:cNvSpPr>
            <a:spLocks noGrp="1"/>
          </p:cNvSpPr>
          <p:nvPr>
            <p:ph type="title"/>
          </p:nvPr>
        </p:nvSpPr>
        <p:spPr/>
        <p:txBody>
          <a:bodyPr/>
          <a:lstStyle/>
          <a:p>
            <a:r>
              <a:rPr lang="en-US" dirty="0"/>
              <a:t>Targeting (</a:t>
            </a:r>
            <a:r>
              <a:rPr lang="en-US" dirty="0" err="1"/>
              <a:t>stp</a:t>
            </a:r>
            <a:r>
              <a:rPr lang="en-US" dirty="0"/>
              <a:t> analysis) Cont.</a:t>
            </a:r>
          </a:p>
        </p:txBody>
      </p:sp>
      <p:sp>
        <p:nvSpPr>
          <p:cNvPr id="3" name="Content Placeholder 2">
            <a:extLst>
              <a:ext uri="{FF2B5EF4-FFF2-40B4-BE49-F238E27FC236}">
                <a16:creationId xmlns:a16="http://schemas.microsoft.com/office/drawing/2014/main" id="{6A53B84C-12EF-AAEB-D711-BFB6F48B578D}"/>
              </a:ext>
            </a:extLst>
          </p:cNvPr>
          <p:cNvSpPr>
            <a:spLocks noGrp="1"/>
          </p:cNvSpPr>
          <p:nvPr>
            <p:ph idx="1"/>
          </p:nvPr>
        </p:nvSpPr>
        <p:spPr>
          <a:xfrm>
            <a:off x="727789" y="2015733"/>
            <a:ext cx="7977672" cy="3450613"/>
          </a:xfrm>
        </p:spPr>
        <p:txBody>
          <a:bodyPr>
            <a:normAutofit fontScale="92500" lnSpcReduction="10000"/>
          </a:bodyPr>
          <a:lstStyle/>
          <a:p>
            <a:r>
              <a:rPr lang="en-US" sz="2800" dirty="0"/>
              <a:t>A target market is a specific group of people with shared characteristics that a business markets its products or services to.</a:t>
            </a:r>
          </a:p>
          <a:p>
            <a:r>
              <a:rPr lang="en-US" sz="2800" dirty="0"/>
              <a:t>Companies use target markets to thoroughly understand their potential customers and craft marketing strategies that help them meet their business and marketing objectives.</a:t>
            </a:r>
          </a:p>
          <a:p>
            <a:endParaRPr lang="en-US" dirty="0"/>
          </a:p>
        </p:txBody>
      </p:sp>
    </p:spTree>
    <p:extLst>
      <p:ext uri="{BB962C8B-B14F-4D97-AF65-F5344CB8AC3E}">
        <p14:creationId xmlns:p14="http://schemas.microsoft.com/office/powerpoint/2010/main" val="30370319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88E62-182C-1042-1704-2AD7EEDE8A32}"/>
              </a:ext>
            </a:extLst>
          </p:cNvPr>
          <p:cNvSpPr>
            <a:spLocks noGrp="1"/>
          </p:cNvSpPr>
          <p:nvPr>
            <p:ph type="title"/>
          </p:nvPr>
        </p:nvSpPr>
        <p:spPr>
          <a:xfrm>
            <a:off x="685800" y="484632"/>
            <a:ext cx="7772400" cy="970944"/>
          </a:xfrm>
        </p:spPr>
        <p:txBody>
          <a:bodyPr/>
          <a:lstStyle/>
          <a:p>
            <a:r>
              <a:rPr lang="en-US" dirty="0"/>
              <a:t>      Market targeting strategy</a:t>
            </a:r>
          </a:p>
        </p:txBody>
      </p:sp>
      <p:sp>
        <p:nvSpPr>
          <p:cNvPr id="3" name="Content Placeholder 2">
            <a:extLst>
              <a:ext uri="{FF2B5EF4-FFF2-40B4-BE49-F238E27FC236}">
                <a16:creationId xmlns:a16="http://schemas.microsoft.com/office/drawing/2014/main" id="{47DFF281-C48F-BD17-12D7-313E0EC0BDEA}"/>
              </a:ext>
            </a:extLst>
          </p:cNvPr>
          <p:cNvSpPr>
            <a:spLocks noGrp="1"/>
          </p:cNvSpPr>
          <p:nvPr>
            <p:ph idx="1"/>
          </p:nvPr>
        </p:nvSpPr>
        <p:spPr>
          <a:xfrm>
            <a:off x="685800" y="1371600"/>
            <a:ext cx="7772400" cy="4800600"/>
          </a:xfrm>
        </p:spPr>
        <p:txBody>
          <a:bodyPr/>
          <a:lstStyle/>
          <a:p>
            <a:r>
              <a:rPr lang="en-US" dirty="0"/>
              <a:t>There are four target marketing strategies:</a:t>
            </a:r>
          </a:p>
        </p:txBody>
      </p:sp>
      <p:graphicFrame>
        <p:nvGraphicFramePr>
          <p:cNvPr id="4" name="Diagram 3">
            <a:extLst>
              <a:ext uri="{FF2B5EF4-FFF2-40B4-BE49-F238E27FC236}">
                <a16:creationId xmlns:a16="http://schemas.microsoft.com/office/drawing/2014/main" id="{770D0FBC-3441-9290-5259-69944957C562}"/>
              </a:ext>
            </a:extLst>
          </p:cNvPr>
          <p:cNvGraphicFramePr/>
          <p:nvPr>
            <p:extLst>
              <p:ext uri="{D42A27DB-BD31-4B8C-83A1-F6EECF244321}">
                <p14:modId xmlns:p14="http://schemas.microsoft.com/office/powerpoint/2010/main" val="288453667"/>
              </p:ext>
            </p:extLst>
          </p:nvPr>
        </p:nvGraphicFramePr>
        <p:xfrm>
          <a:off x="685800" y="1772816"/>
          <a:ext cx="7772400" cy="47726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567201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3A8C3-01AC-C99C-593E-F9CEA1CDFDE4}"/>
              </a:ext>
            </a:extLst>
          </p:cNvPr>
          <p:cNvSpPr>
            <a:spLocks noGrp="1"/>
          </p:cNvSpPr>
          <p:nvPr>
            <p:ph type="title"/>
          </p:nvPr>
        </p:nvSpPr>
        <p:spPr>
          <a:xfrm>
            <a:off x="685800" y="484632"/>
            <a:ext cx="7772400" cy="830984"/>
          </a:xfrm>
        </p:spPr>
        <p:txBody>
          <a:bodyPr/>
          <a:lstStyle/>
          <a:p>
            <a:r>
              <a:rPr lang="en-US" dirty="0"/>
              <a:t>       Positioning (</a:t>
            </a:r>
            <a:r>
              <a:rPr lang="en-US" dirty="0" err="1"/>
              <a:t>stp</a:t>
            </a:r>
            <a:r>
              <a:rPr lang="en-US" dirty="0"/>
              <a:t> analysis)</a:t>
            </a:r>
          </a:p>
        </p:txBody>
      </p:sp>
      <p:sp>
        <p:nvSpPr>
          <p:cNvPr id="3" name="Content Placeholder 2">
            <a:extLst>
              <a:ext uri="{FF2B5EF4-FFF2-40B4-BE49-F238E27FC236}">
                <a16:creationId xmlns:a16="http://schemas.microsoft.com/office/drawing/2014/main" id="{2FB4213D-9F44-D1EB-A9F8-C85841E2BD1C}"/>
              </a:ext>
            </a:extLst>
          </p:cNvPr>
          <p:cNvSpPr>
            <a:spLocks noGrp="1"/>
          </p:cNvSpPr>
          <p:nvPr>
            <p:ph idx="1"/>
          </p:nvPr>
        </p:nvSpPr>
        <p:spPr>
          <a:xfrm>
            <a:off x="223935" y="1884784"/>
            <a:ext cx="8714791" cy="4077477"/>
          </a:xfrm>
        </p:spPr>
        <p:txBody>
          <a:bodyPr>
            <a:normAutofit/>
          </a:bodyPr>
          <a:lstStyle/>
          <a:p>
            <a:r>
              <a:rPr lang="en-GB" sz="3200" dirty="0">
                <a:effectLst/>
                <a:latin typeface="Times New Roman" panose="02020603050405020304" pitchFamily="18" charset="0"/>
                <a:ea typeface="Times New Roman" panose="02020603050405020304" pitchFamily="18" charset="0"/>
              </a:rPr>
              <a:t>The final stage in target marketing is product positioning. Firms formalise “positioning statements” which specify the position they wish to occupy in their target customers’ minds, relative to other competitors’ products or services. </a:t>
            </a:r>
            <a:endParaRPr lang="en-US" sz="2800" dirty="0"/>
          </a:p>
        </p:txBody>
      </p:sp>
    </p:spTree>
    <p:extLst>
      <p:ext uri="{BB962C8B-B14F-4D97-AF65-F5344CB8AC3E}">
        <p14:creationId xmlns:p14="http://schemas.microsoft.com/office/powerpoint/2010/main" val="3599042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EFF23-DB1B-73C4-C2C3-77ACA8C07828}"/>
              </a:ext>
            </a:extLst>
          </p:cNvPr>
          <p:cNvSpPr>
            <a:spLocks noGrp="1"/>
          </p:cNvSpPr>
          <p:nvPr>
            <p:ph type="title"/>
          </p:nvPr>
        </p:nvSpPr>
        <p:spPr>
          <a:xfrm>
            <a:off x="765111" y="804520"/>
            <a:ext cx="7249724" cy="1049235"/>
          </a:xfrm>
        </p:spPr>
        <p:txBody>
          <a:bodyPr>
            <a:noAutofit/>
          </a:bodyPr>
          <a:lstStyle/>
          <a:p>
            <a:pPr algn="ctr"/>
            <a:r>
              <a:rPr lang="en-GB" sz="2400" dirty="0">
                <a:effectLst/>
                <a:latin typeface="Times New Roman" panose="02020603050405020304" pitchFamily="18" charset="0"/>
                <a:ea typeface="Times New Roman" panose="02020603050405020304" pitchFamily="18" charset="0"/>
              </a:rPr>
              <a:t> </a:t>
            </a:r>
            <a:r>
              <a:rPr lang="en-GB" sz="2400" b="1" dirty="0">
                <a:effectLst/>
                <a:latin typeface="Times New Roman" panose="02020603050405020304" pitchFamily="18" charset="0"/>
                <a:ea typeface="Times New Roman" panose="02020603050405020304" pitchFamily="18" charset="0"/>
              </a:rPr>
              <a:t>Effective product positions have four important characteristics</a:t>
            </a:r>
            <a:endParaRPr lang="en-US" sz="2400" b="1" dirty="0"/>
          </a:p>
        </p:txBody>
      </p:sp>
      <p:sp>
        <p:nvSpPr>
          <p:cNvPr id="3" name="Content Placeholder 2">
            <a:extLst>
              <a:ext uri="{FF2B5EF4-FFF2-40B4-BE49-F238E27FC236}">
                <a16:creationId xmlns:a16="http://schemas.microsoft.com/office/drawing/2014/main" id="{CD5D3445-C2D3-88DC-5C88-10F3B61D48FD}"/>
              </a:ext>
            </a:extLst>
          </p:cNvPr>
          <p:cNvSpPr>
            <a:spLocks noGrp="1"/>
          </p:cNvSpPr>
          <p:nvPr>
            <p:ph idx="1"/>
          </p:nvPr>
        </p:nvSpPr>
        <p:spPr>
          <a:xfrm>
            <a:off x="410547" y="1853755"/>
            <a:ext cx="8518849" cy="4199725"/>
          </a:xfrm>
        </p:spPr>
        <p:txBody>
          <a:bodyPr>
            <a:normAutofit lnSpcReduction="10000"/>
          </a:bodyPr>
          <a:lstStyle/>
          <a:p>
            <a:r>
              <a:rPr lang="en-GB" sz="2400" i="1" dirty="0">
                <a:solidFill>
                  <a:schemeClr val="accent1"/>
                </a:solidFill>
                <a:effectLst/>
                <a:latin typeface="Times New Roman" panose="02020603050405020304" pitchFamily="18" charset="0"/>
                <a:ea typeface="Times New Roman" panose="02020603050405020304" pitchFamily="18" charset="0"/>
              </a:rPr>
              <a:t>Firstly,</a:t>
            </a:r>
            <a:r>
              <a:rPr lang="en-GB" sz="2400" i="1" dirty="0">
                <a:effectLst/>
                <a:latin typeface="Times New Roman" panose="02020603050405020304" pitchFamily="18" charset="0"/>
                <a:ea typeface="Times New Roman" panose="02020603050405020304" pitchFamily="18" charset="0"/>
              </a:rPr>
              <a:t> </a:t>
            </a:r>
            <a:r>
              <a:rPr lang="en-GB" sz="2400" dirty="0">
                <a:effectLst/>
                <a:latin typeface="Times New Roman" panose="02020603050405020304" pitchFamily="18" charset="0"/>
                <a:ea typeface="Times New Roman" panose="02020603050405020304" pitchFamily="18" charset="0"/>
              </a:rPr>
              <a:t>they are built around benefits for prospective customers. </a:t>
            </a:r>
          </a:p>
          <a:p>
            <a:r>
              <a:rPr lang="en-GB" sz="2400" i="1" dirty="0">
                <a:solidFill>
                  <a:schemeClr val="accent1"/>
                </a:solidFill>
                <a:effectLst/>
                <a:latin typeface="Times New Roman" panose="02020603050405020304" pitchFamily="18" charset="0"/>
                <a:ea typeface="Times New Roman" panose="02020603050405020304" pitchFamily="18" charset="0"/>
              </a:rPr>
              <a:t>Secondly,</a:t>
            </a:r>
            <a:r>
              <a:rPr lang="en-GB" sz="2400" i="1" dirty="0">
                <a:effectLst/>
                <a:latin typeface="Times New Roman" panose="02020603050405020304" pitchFamily="18" charset="0"/>
                <a:ea typeface="Times New Roman" panose="02020603050405020304" pitchFamily="18" charset="0"/>
              </a:rPr>
              <a:t> </a:t>
            </a:r>
            <a:r>
              <a:rPr lang="en-GB" sz="2400" dirty="0">
                <a:effectLst/>
                <a:latin typeface="Times New Roman" panose="02020603050405020304" pitchFamily="18" charset="0"/>
                <a:ea typeface="Times New Roman" panose="02020603050405020304" pitchFamily="18" charset="0"/>
              </a:rPr>
              <a:t>they differentiate the specific firms’ products or service from those of key competitors. </a:t>
            </a:r>
          </a:p>
          <a:p>
            <a:r>
              <a:rPr lang="en-GB" sz="2400" i="1" dirty="0">
                <a:solidFill>
                  <a:schemeClr val="accent1"/>
                </a:solidFill>
                <a:effectLst/>
                <a:latin typeface="Times New Roman" panose="02020603050405020304" pitchFamily="18" charset="0"/>
                <a:ea typeface="Times New Roman" panose="02020603050405020304" pitchFamily="18" charset="0"/>
              </a:rPr>
              <a:t>Thirdly,</a:t>
            </a:r>
            <a:r>
              <a:rPr lang="en-GB" sz="2400" dirty="0">
                <a:solidFill>
                  <a:schemeClr val="accent1"/>
                </a:solidFill>
                <a:effectLst/>
                <a:latin typeface="Times New Roman" panose="02020603050405020304" pitchFamily="18" charset="0"/>
                <a:ea typeface="Times New Roman" panose="02020603050405020304" pitchFamily="18" charset="0"/>
              </a:rPr>
              <a:t> </a:t>
            </a:r>
            <a:r>
              <a:rPr lang="en-GB" sz="2400" dirty="0">
                <a:effectLst/>
                <a:latin typeface="Times New Roman" panose="02020603050405020304" pitchFamily="18" charset="0"/>
                <a:ea typeface="Times New Roman" panose="02020603050405020304" pitchFamily="18" charset="0"/>
              </a:rPr>
              <a:t>the respective firms need to possess relevant skills, resources, and the credibility to deliver on their implied statements and promises. </a:t>
            </a:r>
          </a:p>
          <a:p>
            <a:r>
              <a:rPr lang="en-GB" sz="2400" i="1" dirty="0">
                <a:solidFill>
                  <a:schemeClr val="accent1"/>
                </a:solidFill>
                <a:effectLst/>
                <a:latin typeface="Times New Roman" panose="02020603050405020304" pitchFamily="18" charset="0"/>
                <a:ea typeface="Times New Roman" panose="02020603050405020304" pitchFamily="18" charset="0"/>
              </a:rPr>
              <a:t>Finally,</a:t>
            </a:r>
            <a:r>
              <a:rPr lang="en-GB" sz="2400" dirty="0">
                <a:solidFill>
                  <a:schemeClr val="accent1"/>
                </a:solidFill>
                <a:effectLst/>
                <a:latin typeface="Times New Roman" panose="02020603050405020304" pitchFamily="18" charset="0"/>
                <a:ea typeface="Times New Roman" panose="02020603050405020304" pitchFamily="18" charset="0"/>
              </a:rPr>
              <a:t> </a:t>
            </a:r>
            <a:r>
              <a:rPr lang="en-GB" sz="2400" dirty="0">
                <a:effectLst/>
                <a:latin typeface="Times New Roman" panose="02020603050405020304" pitchFamily="18" charset="0"/>
                <a:ea typeface="Times New Roman" panose="02020603050405020304" pitchFamily="18" charset="0"/>
              </a:rPr>
              <a:t>an effective position is defensible, which means that an aggressive competitor cannot act quickly to neutralise or pre-empt another positioning strategy. </a:t>
            </a:r>
            <a:endParaRPr lang="en-US" sz="2800" dirty="0"/>
          </a:p>
        </p:txBody>
      </p:sp>
    </p:spTree>
    <p:extLst>
      <p:ext uri="{BB962C8B-B14F-4D97-AF65-F5344CB8AC3E}">
        <p14:creationId xmlns:p14="http://schemas.microsoft.com/office/powerpoint/2010/main" val="19588055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45B4B-301F-6E7A-5D9E-34E92088045B}"/>
              </a:ext>
            </a:extLst>
          </p:cNvPr>
          <p:cNvSpPr>
            <a:spLocks noGrp="1"/>
          </p:cNvSpPr>
          <p:nvPr>
            <p:ph type="title"/>
          </p:nvPr>
        </p:nvSpPr>
        <p:spPr/>
        <p:txBody>
          <a:bodyPr/>
          <a:lstStyle/>
          <a:p>
            <a:r>
              <a:rPr lang="en-US" dirty="0"/>
              <a:t>Market positioning</a:t>
            </a:r>
          </a:p>
        </p:txBody>
      </p:sp>
      <p:sp>
        <p:nvSpPr>
          <p:cNvPr id="3" name="Content Placeholder 2">
            <a:extLst>
              <a:ext uri="{FF2B5EF4-FFF2-40B4-BE49-F238E27FC236}">
                <a16:creationId xmlns:a16="http://schemas.microsoft.com/office/drawing/2014/main" id="{EBE11F5F-ECA9-B584-ADE7-31D2EC56D5F8}"/>
              </a:ext>
            </a:extLst>
          </p:cNvPr>
          <p:cNvSpPr>
            <a:spLocks noGrp="1"/>
          </p:cNvSpPr>
          <p:nvPr>
            <p:ph idx="1"/>
          </p:nvPr>
        </p:nvSpPr>
        <p:spPr>
          <a:xfrm>
            <a:off x="559837" y="2015733"/>
            <a:ext cx="8257592" cy="4037747"/>
          </a:xfrm>
        </p:spPr>
        <p:txBody>
          <a:bodyPr>
            <a:normAutofit fontScale="92500" lnSpcReduction="10000"/>
          </a:bodyPr>
          <a:lstStyle/>
          <a:p>
            <a:r>
              <a:rPr lang="en-US" sz="2600" dirty="0"/>
              <a:t>A company must decide how to position itself in relation to the competitors for a segment. Positioning could be on the basis of the: </a:t>
            </a:r>
          </a:p>
          <a:p>
            <a:r>
              <a:rPr lang="en-US" sz="2600" dirty="0"/>
              <a:t>– Product’s unique selling proposition </a:t>
            </a:r>
          </a:p>
          <a:p>
            <a:r>
              <a:rPr lang="en-US" sz="2600" dirty="0"/>
              <a:t>– Price </a:t>
            </a:r>
          </a:p>
          <a:p>
            <a:r>
              <a:rPr lang="en-US" sz="2600" dirty="0"/>
              <a:t>– Design characteristic </a:t>
            </a:r>
          </a:p>
          <a:p>
            <a:r>
              <a:rPr lang="en-US" sz="2600" dirty="0"/>
              <a:t>– Method of distribution</a:t>
            </a:r>
          </a:p>
          <a:p>
            <a:r>
              <a:rPr lang="en-US" sz="2600" dirty="0"/>
              <a:t>- Benefits </a:t>
            </a:r>
            <a:endParaRPr lang="en-US" dirty="0"/>
          </a:p>
        </p:txBody>
      </p:sp>
    </p:spTree>
    <p:extLst>
      <p:ext uri="{BB962C8B-B14F-4D97-AF65-F5344CB8AC3E}">
        <p14:creationId xmlns:p14="http://schemas.microsoft.com/office/powerpoint/2010/main" val="32143827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4A9AF-8874-850A-86AA-0C8A570AF7F5}"/>
              </a:ext>
            </a:extLst>
          </p:cNvPr>
          <p:cNvSpPr>
            <a:spLocks noGrp="1"/>
          </p:cNvSpPr>
          <p:nvPr>
            <p:ph type="title"/>
          </p:nvPr>
        </p:nvSpPr>
        <p:spPr/>
        <p:txBody>
          <a:bodyPr/>
          <a:lstStyle/>
          <a:p>
            <a:r>
              <a:rPr lang="en-US" dirty="0"/>
              <a:t>Market positioning cont.</a:t>
            </a:r>
          </a:p>
        </p:txBody>
      </p:sp>
      <p:sp>
        <p:nvSpPr>
          <p:cNvPr id="3" name="Content Placeholder 2">
            <a:extLst>
              <a:ext uri="{FF2B5EF4-FFF2-40B4-BE49-F238E27FC236}">
                <a16:creationId xmlns:a16="http://schemas.microsoft.com/office/drawing/2014/main" id="{A20F2C67-EAB2-A5B7-FC3C-009C8E6A5A15}"/>
              </a:ext>
            </a:extLst>
          </p:cNvPr>
          <p:cNvSpPr>
            <a:spLocks noGrp="1"/>
          </p:cNvSpPr>
          <p:nvPr>
            <p:ph idx="1"/>
          </p:nvPr>
        </p:nvSpPr>
        <p:spPr>
          <a:xfrm>
            <a:off x="214604" y="2015733"/>
            <a:ext cx="8780105" cy="4037747"/>
          </a:xfrm>
        </p:spPr>
        <p:txBody>
          <a:bodyPr>
            <a:normAutofit/>
          </a:bodyPr>
          <a:lstStyle/>
          <a:p>
            <a:r>
              <a:rPr lang="en-US" sz="2800" dirty="0"/>
              <a:t>Repositioning is changing consumer ‘s perception of a branding relation to competing brands. </a:t>
            </a:r>
          </a:p>
          <a:p>
            <a:r>
              <a:rPr lang="en-US" sz="2800" dirty="0"/>
              <a:t>Products and companies repositioned in order to sustain in slow growth market or to correct positioning mistake. </a:t>
            </a:r>
          </a:p>
          <a:p>
            <a:r>
              <a:rPr lang="en-US" sz="2800" dirty="0"/>
              <a:t>Example: Heavy equipment's industry</a:t>
            </a:r>
          </a:p>
        </p:txBody>
      </p:sp>
    </p:spTree>
    <p:extLst>
      <p:ext uri="{BB962C8B-B14F-4D97-AF65-F5344CB8AC3E}">
        <p14:creationId xmlns:p14="http://schemas.microsoft.com/office/powerpoint/2010/main" val="2469021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CBC43-E00C-004B-0CB2-E816E8C446BA}"/>
              </a:ext>
            </a:extLst>
          </p:cNvPr>
          <p:cNvSpPr>
            <a:spLocks noGrp="1"/>
          </p:cNvSpPr>
          <p:nvPr>
            <p:ph type="title"/>
          </p:nvPr>
        </p:nvSpPr>
        <p:spPr/>
        <p:txBody>
          <a:bodyPr/>
          <a:lstStyle/>
          <a:p>
            <a:r>
              <a:rPr lang="en-US" dirty="0"/>
              <a:t>Marketing Mix (4Ps+)</a:t>
            </a:r>
          </a:p>
        </p:txBody>
      </p:sp>
      <p:sp>
        <p:nvSpPr>
          <p:cNvPr id="3" name="Content Placeholder 2">
            <a:extLst>
              <a:ext uri="{FF2B5EF4-FFF2-40B4-BE49-F238E27FC236}">
                <a16:creationId xmlns:a16="http://schemas.microsoft.com/office/drawing/2014/main" id="{31D95FF9-C239-7FFD-0863-131CFC2095EC}"/>
              </a:ext>
            </a:extLst>
          </p:cNvPr>
          <p:cNvSpPr>
            <a:spLocks noGrp="1"/>
          </p:cNvSpPr>
          <p:nvPr>
            <p:ph idx="1"/>
          </p:nvPr>
        </p:nvSpPr>
        <p:spPr>
          <a:xfrm>
            <a:off x="699797" y="2015733"/>
            <a:ext cx="7819052" cy="4037747"/>
          </a:xfrm>
        </p:spPr>
        <p:txBody>
          <a:bodyPr>
            <a:normAutofit/>
          </a:bodyPr>
          <a:lstStyle/>
          <a:p>
            <a:r>
              <a:rPr lang="en-US" sz="2800" dirty="0"/>
              <a:t>Traditionally there were four ‘Ps’ of Marketing, but as the field has developed and being more of an integral part of a company’s success, a few more focus points have been added</a:t>
            </a:r>
          </a:p>
        </p:txBody>
      </p:sp>
    </p:spTree>
    <p:extLst>
      <p:ext uri="{BB962C8B-B14F-4D97-AF65-F5344CB8AC3E}">
        <p14:creationId xmlns:p14="http://schemas.microsoft.com/office/powerpoint/2010/main" val="14328529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3C432-C3C3-B635-2501-E85798B7A59C}"/>
              </a:ext>
            </a:extLst>
          </p:cNvPr>
          <p:cNvSpPr>
            <a:spLocks noGrp="1"/>
          </p:cNvSpPr>
          <p:nvPr>
            <p:ph type="title"/>
          </p:nvPr>
        </p:nvSpPr>
        <p:spPr/>
        <p:txBody>
          <a:bodyPr/>
          <a:lstStyle/>
          <a:p>
            <a:r>
              <a:rPr lang="en-US" dirty="0"/>
              <a:t>Marketing mix (4pS+)</a:t>
            </a:r>
          </a:p>
        </p:txBody>
      </p:sp>
      <p:sp>
        <p:nvSpPr>
          <p:cNvPr id="3" name="Content Placeholder 2">
            <a:extLst>
              <a:ext uri="{FF2B5EF4-FFF2-40B4-BE49-F238E27FC236}">
                <a16:creationId xmlns:a16="http://schemas.microsoft.com/office/drawing/2014/main" id="{6B0887FB-5A6D-808A-647B-E1A30FCB191B}"/>
              </a:ext>
            </a:extLst>
          </p:cNvPr>
          <p:cNvSpPr>
            <a:spLocks noGrp="1"/>
          </p:cNvSpPr>
          <p:nvPr>
            <p:ph idx="1"/>
          </p:nvPr>
        </p:nvSpPr>
        <p:spPr>
          <a:xfrm>
            <a:off x="382555" y="1853755"/>
            <a:ext cx="8360229" cy="4199725"/>
          </a:xfrm>
        </p:spPr>
        <p:txBody>
          <a:bodyPr>
            <a:normAutofit lnSpcReduction="10000"/>
          </a:bodyPr>
          <a:lstStyle/>
          <a:p>
            <a:pPr marL="0" indent="0">
              <a:buNone/>
            </a:pPr>
            <a:r>
              <a:rPr lang="en-US" dirty="0"/>
              <a:t>1. </a:t>
            </a:r>
            <a:r>
              <a:rPr lang="en-US" sz="2400" i="1" dirty="0">
                <a:solidFill>
                  <a:schemeClr val="accent1"/>
                </a:solidFill>
              </a:rPr>
              <a:t>PRODUCT</a:t>
            </a:r>
          </a:p>
          <a:p>
            <a:pPr marL="0" indent="0">
              <a:buNone/>
            </a:pPr>
            <a:r>
              <a:rPr lang="en-US" sz="2400" dirty="0"/>
              <a:t> Your off should solve a problem consumers have, it should work, and it should at least meet their expectations, if not exceed them.</a:t>
            </a:r>
          </a:p>
          <a:p>
            <a:pPr marL="0" indent="0">
              <a:buNone/>
            </a:pPr>
            <a:r>
              <a:rPr lang="en-US" sz="2400" dirty="0"/>
              <a:t>2. </a:t>
            </a:r>
            <a:r>
              <a:rPr lang="en-US" sz="2400" i="1" dirty="0">
                <a:solidFill>
                  <a:schemeClr val="accent1"/>
                </a:solidFill>
              </a:rPr>
              <a:t>PRICE</a:t>
            </a:r>
          </a:p>
          <a:p>
            <a:pPr marL="0" indent="0">
              <a:buNone/>
            </a:pPr>
            <a:r>
              <a:rPr lang="en-US" sz="2400" dirty="0"/>
              <a:t>A product is only worth what customers are willing to pay for it. It doesn’t necessarily mean being the cheapest, but it means being competitive, and the customer should feel like they are paying an appropriate amount for the perceived value they get from using your product/service. Do you have a monetization strategy?</a:t>
            </a:r>
          </a:p>
        </p:txBody>
      </p:sp>
    </p:spTree>
    <p:extLst>
      <p:ext uri="{BB962C8B-B14F-4D97-AF65-F5344CB8AC3E}">
        <p14:creationId xmlns:p14="http://schemas.microsoft.com/office/powerpoint/2010/main" val="34368553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AD631-A736-A355-9752-5A1F60A5B199}"/>
              </a:ext>
            </a:extLst>
          </p:cNvPr>
          <p:cNvSpPr>
            <a:spLocks noGrp="1"/>
          </p:cNvSpPr>
          <p:nvPr>
            <p:ph type="title"/>
          </p:nvPr>
        </p:nvSpPr>
        <p:spPr>
          <a:xfrm>
            <a:off x="685800" y="484632"/>
            <a:ext cx="7772400" cy="588388"/>
          </a:xfrm>
        </p:spPr>
        <p:txBody>
          <a:bodyPr>
            <a:normAutofit/>
          </a:bodyPr>
          <a:lstStyle/>
          <a:p>
            <a:r>
              <a:rPr lang="en-US" dirty="0"/>
              <a:t>      Marketing Mix cont.</a:t>
            </a:r>
          </a:p>
        </p:txBody>
      </p:sp>
      <p:sp>
        <p:nvSpPr>
          <p:cNvPr id="3" name="Content Placeholder 2">
            <a:extLst>
              <a:ext uri="{FF2B5EF4-FFF2-40B4-BE49-F238E27FC236}">
                <a16:creationId xmlns:a16="http://schemas.microsoft.com/office/drawing/2014/main" id="{0DD1CD86-87F9-00AE-CD2F-2A7434507AAC}"/>
              </a:ext>
            </a:extLst>
          </p:cNvPr>
          <p:cNvSpPr>
            <a:spLocks noGrp="1"/>
          </p:cNvSpPr>
          <p:nvPr>
            <p:ph idx="1"/>
          </p:nvPr>
        </p:nvSpPr>
        <p:spPr>
          <a:xfrm>
            <a:off x="149289" y="1819469"/>
            <a:ext cx="8882743" cy="4352732"/>
          </a:xfrm>
        </p:spPr>
        <p:txBody>
          <a:bodyPr>
            <a:normAutofit lnSpcReduction="10000"/>
          </a:bodyPr>
          <a:lstStyle/>
          <a:p>
            <a:pPr marL="0" indent="0">
              <a:buNone/>
            </a:pPr>
            <a:r>
              <a:rPr lang="en-US" sz="2400" i="1" dirty="0">
                <a:solidFill>
                  <a:schemeClr val="accent1"/>
                </a:solidFill>
              </a:rPr>
              <a:t>3. PLACE:  </a:t>
            </a:r>
            <a:r>
              <a:rPr lang="en-US" sz="2400" dirty="0"/>
              <a:t>Where will your product initially be launched? Eventually, the aim of every product should be to go global, but to begin with it should be released to a concentrated market. This allows for evaluation of what is and isn’t working.</a:t>
            </a:r>
          </a:p>
          <a:p>
            <a:pPr marL="0" indent="0">
              <a:buNone/>
            </a:pPr>
            <a:r>
              <a:rPr lang="en-US" sz="2400" i="1" dirty="0">
                <a:solidFill>
                  <a:schemeClr val="accent1"/>
                </a:solidFill>
              </a:rPr>
              <a:t>4. PROMOTION: </a:t>
            </a:r>
            <a:r>
              <a:rPr lang="en-US" sz="2400" dirty="0"/>
              <a:t>How are you going to communicate with your audience? Advertising, Sales Promotion, Social Media etc., are all examples of platforms for promotion.  A key part of promotion in the Marketing Mix is making sure two way communication is established. In doing so, it paves the way for ongoing dialogue with customers and opportunities for feedback</a:t>
            </a:r>
          </a:p>
        </p:txBody>
      </p:sp>
    </p:spTree>
    <p:extLst>
      <p:ext uri="{BB962C8B-B14F-4D97-AF65-F5344CB8AC3E}">
        <p14:creationId xmlns:p14="http://schemas.microsoft.com/office/powerpoint/2010/main" val="9275811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2B819-E8DB-388E-096E-47475FCB387C}"/>
              </a:ext>
            </a:extLst>
          </p:cNvPr>
          <p:cNvSpPr>
            <a:spLocks noGrp="1"/>
          </p:cNvSpPr>
          <p:nvPr>
            <p:ph type="title"/>
          </p:nvPr>
        </p:nvSpPr>
        <p:spPr>
          <a:xfrm>
            <a:off x="685800" y="484632"/>
            <a:ext cx="7772400" cy="644372"/>
          </a:xfrm>
        </p:spPr>
        <p:txBody>
          <a:bodyPr>
            <a:normAutofit/>
          </a:bodyPr>
          <a:lstStyle/>
          <a:p>
            <a:r>
              <a:rPr lang="en-US" dirty="0"/>
              <a:t>      Marketing mix cont.</a:t>
            </a:r>
          </a:p>
        </p:txBody>
      </p:sp>
      <p:sp>
        <p:nvSpPr>
          <p:cNvPr id="3" name="Content Placeholder 2">
            <a:extLst>
              <a:ext uri="{FF2B5EF4-FFF2-40B4-BE49-F238E27FC236}">
                <a16:creationId xmlns:a16="http://schemas.microsoft.com/office/drawing/2014/main" id="{48B7FFFB-ED1D-2729-B863-DE6A361295B4}"/>
              </a:ext>
            </a:extLst>
          </p:cNvPr>
          <p:cNvSpPr>
            <a:spLocks noGrp="1"/>
          </p:cNvSpPr>
          <p:nvPr>
            <p:ph idx="1"/>
          </p:nvPr>
        </p:nvSpPr>
        <p:spPr>
          <a:xfrm>
            <a:off x="0" y="1791478"/>
            <a:ext cx="9144000" cy="4320073"/>
          </a:xfrm>
        </p:spPr>
        <p:txBody>
          <a:bodyPr>
            <a:normAutofit fontScale="85000" lnSpcReduction="10000"/>
          </a:bodyPr>
          <a:lstStyle/>
          <a:p>
            <a:pPr marL="0" indent="0">
              <a:buNone/>
            </a:pPr>
            <a:r>
              <a:rPr lang="en-US" sz="2200" i="1" dirty="0">
                <a:solidFill>
                  <a:schemeClr val="accent1"/>
                </a:solidFill>
              </a:rPr>
              <a:t>5. </a:t>
            </a:r>
            <a:r>
              <a:rPr lang="en-US" sz="2600" i="1" dirty="0">
                <a:solidFill>
                  <a:schemeClr val="accent1"/>
                </a:solidFill>
              </a:rPr>
              <a:t>PEOPLE: </a:t>
            </a:r>
            <a:r>
              <a:rPr lang="en-US" sz="2600" dirty="0"/>
              <a:t>People associated with your product can have a profound effect on anyone who comes into contact with it - positive or negative. Consumers cannot differentiate between the service you provide, and the staff working for you. This is why it is very important to have anyone representing you not only well trained for the role, but also be a good cultural for the position.</a:t>
            </a:r>
          </a:p>
          <a:p>
            <a:pPr marL="0" indent="0">
              <a:buNone/>
            </a:pPr>
            <a:r>
              <a:rPr lang="en-US" sz="2600" i="1" dirty="0">
                <a:solidFill>
                  <a:schemeClr val="accent1"/>
                </a:solidFill>
              </a:rPr>
              <a:t>6. PROCESS: </a:t>
            </a:r>
            <a:r>
              <a:rPr lang="en-US" sz="2600" dirty="0"/>
              <a:t>This is the delivery of your product, and can also refer to the channels within your business that allow for query or information handling. The process in which information is provided to customers, and the helpfulness of staff if issues arise, is key to customer satisfaction. This aspect covers everything from design features, IT support and quality guarantee</a:t>
            </a:r>
            <a:r>
              <a:rPr lang="en-US" sz="2400" dirty="0"/>
              <a:t>.</a:t>
            </a:r>
          </a:p>
        </p:txBody>
      </p:sp>
    </p:spTree>
    <p:extLst>
      <p:ext uri="{BB962C8B-B14F-4D97-AF65-F5344CB8AC3E}">
        <p14:creationId xmlns:p14="http://schemas.microsoft.com/office/powerpoint/2010/main" val="22475929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2C7CE275-F25B-C138-3A2F-A6149CB76A27}"/>
              </a:ext>
            </a:extLst>
          </p:cNvPr>
          <p:cNvGraphicFramePr>
            <a:graphicFrameLocks noGrp="1"/>
          </p:cNvGraphicFramePr>
          <p:nvPr>
            <p:ph idx="1"/>
            <p:extLst>
              <p:ext uri="{D42A27DB-BD31-4B8C-83A1-F6EECF244321}">
                <p14:modId xmlns:p14="http://schemas.microsoft.com/office/powerpoint/2010/main" val="665823654"/>
              </p:ext>
            </p:extLst>
          </p:nvPr>
        </p:nvGraphicFramePr>
        <p:xfrm>
          <a:off x="530095" y="744338"/>
          <a:ext cx="8296665" cy="53693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635600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05110-4453-2172-8F34-070C6A645B53}"/>
              </a:ext>
            </a:extLst>
          </p:cNvPr>
          <p:cNvSpPr>
            <a:spLocks noGrp="1"/>
          </p:cNvSpPr>
          <p:nvPr>
            <p:ph type="title"/>
          </p:nvPr>
        </p:nvSpPr>
        <p:spPr/>
        <p:txBody>
          <a:bodyPr/>
          <a:lstStyle/>
          <a:p>
            <a:r>
              <a:rPr lang="en-US" dirty="0"/>
              <a:t>Take action</a:t>
            </a:r>
          </a:p>
        </p:txBody>
      </p:sp>
      <p:sp>
        <p:nvSpPr>
          <p:cNvPr id="3" name="Content Placeholder 2">
            <a:extLst>
              <a:ext uri="{FF2B5EF4-FFF2-40B4-BE49-F238E27FC236}">
                <a16:creationId xmlns:a16="http://schemas.microsoft.com/office/drawing/2014/main" id="{30A37DB9-118F-124C-46AE-0D40C5895BBF}"/>
              </a:ext>
            </a:extLst>
          </p:cNvPr>
          <p:cNvSpPr>
            <a:spLocks noGrp="1"/>
          </p:cNvSpPr>
          <p:nvPr>
            <p:ph idx="1"/>
          </p:nvPr>
        </p:nvSpPr>
        <p:spPr>
          <a:xfrm>
            <a:off x="662473" y="2015733"/>
            <a:ext cx="7828384" cy="4037747"/>
          </a:xfrm>
        </p:spPr>
        <p:txBody>
          <a:bodyPr>
            <a:normAutofit/>
          </a:bodyPr>
          <a:lstStyle/>
          <a:p>
            <a:r>
              <a:rPr lang="en-US" sz="2400" dirty="0"/>
              <a:t>Conduct SWOT analysis of your product in relation to that of your competitors.</a:t>
            </a:r>
          </a:p>
          <a:p>
            <a:r>
              <a:rPr lang="en-US" sz="2400" dirty="0"/>
              <a:t>How is the price of your product/service in relation to that of your competitors? (high, moderate, or low).</a:t>
            </a:r>
          </a:p>
          <a:p>
            <a:r>
              <a:rPr lang="en-US" sz="2400" dirty="0"/>
              <a:t>Analyze the channels of distribution (place) in relation to that of your competitors (their strengths and weaknesses).</a:t>
            </a:r>
          </a:p>
          <a:p>
            <a:r>
              <a:rPr lang="en-US" sz="2400" dirty="0"/>
              <a:t>Adopt or redesign your promotional techniques to reach out and win your audience. </a:t>
            </a:r>
          </a:p>
        </p:txBody>
      </p:sp>
    </p:spTree>
    <p:extLst>
      <p:ext uri="{BB962C8B-B14F-4D97-AF65-F5344CB8AC3E}">
        <p14:creationId xmlns:p14="http://schemas.microsoft.com/office/powerpoint/2010/main" val="12577384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FF6C2-E82A-8129-7189-A0D9DDC52811}"/>
              </a:ext>
            </a:extLst>
          </p:cNvPr>
          <p:cNvSpPr>
            <a:spLocks noGrp="1"/>
          </p:cNvSpPr>
          <p:nvPr>
            <p:ph type="title"/>
          </p:nvPr>
        </p:nvSpPr>
        <p:spPr>
          <a:xfrm>
            <a:off x="685800" y="484632"/>
            <a:ext cx="7772400" cy="858976"/>
          </a:xfrm>
        </p:spPr>
        <p:txBody>
          <a:bodyPr/>
          <a:lstStyle/>
          <a:p>
            <a:r>
              <a:rPr lang="en-US" dirty="0"/>
              <a:t>     Example of marketing strategy</a:t>
            </a:r>
          </a:p>
        </p:txBody>
      </p:sp>
      <p:sp>
        <p:nvSpPr>
          <p:cNvPr id="3" name="Content Placeholder 2">
            <a:extLst>
              <a:ext uri="{FF2B5EF4-FFF2-40B4-BE49-F238E27FC236}">
                <a16:creationId xmlns:a16="http://schemas.microsoft.com/office/drawing/2014/main" id="{A249FC66-7470-1D46-0D93-F68D37138157}"/>
              </a:ext>
            </a:extLst>
          </p:cNvPr>
          <p:cNvSpPr>
            <a:spLocks noGrp="1"/>
          </p:cNvSpPr>
          <p:nvPr>
            <p:ph idx="1"/>
          </p:nvPr>
        </p:nvSpPr>
        <p:spPr>
          <a:xfrm>
            <a:off x="685800" y="1866122"/>
            <a:ext cx="7772400" cy="4217437"/>
          </a:xfrm>
        </p:spPr>
        <p:txBody>
          <a:bodyPr>
            <a:normAutofit/>
          </a:bodyPr>
          <a:lstStyle/>
          <a:p>
            <a:r>
              <a:rPr lang="en-US" sz="2800" dirty="0"/>
              <a:t>1. Nike: promote  your values – there are very few brands that are as recognizable as Nike and its “Just Do It” slogan. The focus of its marketing strategy is on promoting brand values such as overcoming adversity or innovation.  </a:t>
            </a:r>
          </a:p>
        </p:txBody>
      </p:sp>
    </p:spTree>
    <p:extLst>
      <p:ext uri="{BB962C8B-B14F-4D97-AF65-F5344CB8AC3E}">
        <p14:creationId xmlns:p14="http://schemas.microsoft.com/office/powerpoint/2010/main" val="17427182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0B7BC-9409-6AAE-3CE2-04794338F247}"/>
              </a:ext>
            </a:extLst>
          </p:cNvPr>
          <p:cNvSpPr>
            <a:spLocks noGrp="1"/>
          </p:cNvSpPr>
          <p:nvPr>
            <p:ph type="title"/>
          </p:nvPr>
        </p:nvSpPr>
        <p:spPr>
          <a:xfrm>
            <a:off x="685800" y="484632"/>
            <a:ext cx="7772400" cy="681695"/>
          </a:xfrm>
        </p:spPr>
        <p:txBody>
          <a:bodyPr>
            <a:normAutofit fontScale="90000"/>
          </a:bodyPr>
          <a:lstStyle/>
          <a:p>
            <a:r>
              <a:rPr lang="en-US" dirty="0"/>
              <a:t>    Group work on marketing strategy</a:t>
            </a:r>
          </a:p>
        </p:txBody>
      </p:sp>
      <p:sp>
        <p:nvSpPr>
          <p:cNvPr id="3" name="Content Placeholder 2">
            <a:extLst>
              <a:ext uri="{FF2B5EF4-FFF2-40B4-BE49-F238E27FC236}">
                <a16:creationId xmlns:a16="http://schemas.microsoft.com/office/drawing/2014/main" id="{B9B93274-197F-02F6-F163-EC4C103CDEFF}"/>
              </a:ext>
            </a:extLst>
          </p:cNvPr>
          <p:cNvSpPr>
            <a:spLocks noGrp="1"/>
          </p:cNvSpPr>
          <p:nvPr>
            <p:ph idx="1"/>
          </p:nvPr>
        </p:nvSpPr>
        <p:spPr>
          <a:xfrm>
            <a:off x="685800" y="1166327"/>
            <a:ext cx="7772400" cy="5005873"/>
          </a:xfrm>
        </p:spPr>
        <p:txBody>
          <a:bodyPr>
            <a:normAutofit fontScale="92500" lnSpcReduction="10000"/>
          </a:bodyPr>
          <a:lstStyle/>
          <a:p>
            <a:pPr marL="0" marR="0" algn="just">
              <a:lnSpc>
                <a:spcPct val="150000"/>
              </a:lnSpc>
              <a:spcBef>
                <a:spcPts val="0"/>
              </a:spcBef>
              <a:spcAft>
                <a:spcPts val="0"/>
              </a:spcAft>
            </a:pPr>
            <a:r>
              <a:rPr lang="en-GB" sz="1800" b="1" dirty="0">
                <a:latin typeface="Arial" panose="020B0604020202020204" pitchFamily="34" charset="0"/>
                <a:ea typeface="Times New Roman" panose="02020603050405020304" pitchFamily="18" charset="0"/>
                <a:cs typeface="Times New Roman" panose="02020603050405020304" pitchFamily="18" charset="0"/>
              </a:rPr>
              <a:t>       </a:t>
            </a:r>
            <a:r>
              <a:rPr lang="en-GB" sz="1800" b="1" dirty="0">
                <a:effectLst/>
                <a:latin typeface="Arial" panose="020B0604020202020204" pitchFamily="34" charset="0"/>
                <a:ea typeface="Times New Roman" panose="02020603050405020304" pitchFamily="18" charset="0"/>
                <a:cs typeface="Times New Roman" panose="02020603050405020304" pitchFamily="18" charset="0"/>
              </a:rPr>
              <a:t>Questions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buFont typeface="Symbol" panose="05050102010706020507" pitchFamily="18" charset="2"/>
              <a:buChar char=""/>
            </a:pPr>
            <a:endParaRPr lang="en-GB" sz="1800" i="1" dirty="0">
              <a:effectLst/>
              <a:latin typeface="Times New Roman" panose="02020603050405020304" pitchFamily="18" charset="0"/>
              <a:ea typeface="Calibri" panose="020F0502020204030204" pitchFamily="34" charset="0"/>
            </a:endParaRPr>
          </a:p>
          <a:p>
            <a:pPr marL="342900" marR="0" lvl="0" indent="-342900" algn="just">
              <a:lnSpc>
                <a:spcPct val="150000"/>
              </a:lnSpc>
              <a:spcBef>
                <a:spcPts val="0"/>
              </a:spcBef>
              <a:spcAft>
                <a:spcPts val="0"/>
              </a:spcAft>
              <a:buFont typeface="Symbol" panose="05050102010706020507" pitchFamily="18" charset="2"/>
              <a:buChar char=""/>
              <a:tabLst>
                <a:tab pos="90170" algn="l"/>
              </a:tabLst>
            </a:pPr>
            <a:r>
              <a:rPr lang="en-GB" sz="2400" i="1" dirty="0">
                <a:effectLst/>
                <a:latin typeface="Times New Roman" panose="02020603050405020304" pitchFamily="18" charset="0"/>
                <a:ea typeface="Times New Roman" panose="02020603050405020304" pitchFamily="18" charset="0"/>
                <a:cs typeface="Times New Roman" panose="02020603050405020304" pitchFamily="18" charset="0"/>
              </a:rPr>
              <a:t>If your company is working with very limited resources. Which alternative would you recommend and why?</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0"/>
              </a:spcAft>
              <a:buFont typeface="Symbol" panose="05050102010706020507" pitchFamily="18" charset="2"/>
              <a:buChar char=""/>
              <a:tabLst>
                <a:tab pos="90170" algn="l"/>
              </a:tabLst>
            </a:pPr>
            <a:r>
              <a:rPr lang="en-GB" sz="2400" i="1" dirty="0">
                <a:effectLst/>
                <a:latin typeface="Times New Roman" panose="02020603050405020304" pitchFamily="18" charset="0"/>
                <a:ea typeface="Times New Roman" panose="02020603050405020304" pitchFamily="18" charset="0"/>
                <a:cs typeface="Times New Roman" panose="02020603050405020304" pitchFamily="18" charset="0"/>
              </a:rPr>
              <a:t>Define product positioning and briefly state its relevance to </a:t>
            </a:r>
            <a:r>
              <a:rPr lang="en-GB" sz="2400" i="1" dirty="0">
                <a:latin typeface="Times New Roman" panose="02020603050405020304" pitchFamily="18" charset="0"/>
                <a:ea typeface="Times New Roman" panose="02020603050405020304" pitchFamily="18" charset="0"/>
                <a:cs typeface="Times New Roman" panose="02020603050405020304" pitchFamily="18" charset="0"/>
              </a:rPr>
              <a:t>your</a:t>
            </a:r>
            <a:r>
              <a:rPr lang="en-GB" sz="2400" i="1" dirty="0">
                <a:effectLst/>
                <a:latin typeface="Times New Roman" panose="02020603050405020304" pitchFamily="18" charset="0"/>
                <a:ea typeface="Times New Roman" panose="02020603050405020304" pitchFamily="18" charset="0"/>
                <a:cs typeface="Times New Roman" panose="02020603050405020304" pitchFamily="18" charset="0"/>
              </a:rPr>
              <a:t> industry.</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50000"/>
              </a:lnSpc>
              <a:spcBef>
                <a:spcPts val="0"/>
              </a:spcBef>
              <a:spcAft>
                <a:spcPts val="1000"/>
              </a:spcAft>
              <a:buFont typeface="Symbol" panose="05050102010706020507" pitchFamily="18" charset="2"/>
              <a:buChar char=""/>
              <a:tabLst>
                <a:tab pos="90170" algn="l"/>
              </a:tabLst>
            </a:pPr>
            <a:r>
              <a:rPr lang="en-GB" sz="2400" i="1" dirty="0">
                <a:effectLst/>
                <a:latin typeface="Times New Roman" panose="02020603050405020304" pitchFamily="18" charset="0"/>
                <a:ea typeface="Times New Roman" panose="02020603050405020304" pitchFamily="18" charset="0"/>
                <a:cs typeface="Times New Roman" panose="02020603050405020304" pitchFamily="18" charset="0"/>
              </a:rPr>
              <a:t>Outline in your own words, the variable which you could use, when segmenting the business in your industry.</a:t>
            </a:r>
          </a:p>
          <a:p>
            <a:pPr marL="342900" marR="0" lvl="0" indent="-342900" algn="just">
              <a:lnSpc>
                <a:spcPct val="150000"/>
              </a:lnSpc>
              <a:spcBef>
                <a:spcPts val="0"/>
              </a:spcBef>
              <a:spcAft>
                <a:spcPts val="1000"/>
              </a:spcAft>
              <a:buFont typeface="Symbol" panose="05050102010706020507" pitchFamily="18" charset="2"/>
              <a:buChar char=""/>
              <a:tabLst>
                <a:tab pos="90170" algn="l"/>
              </a:tabLst>
            </a:pPr>
            <a:r>
              <a:rPr lang="en-US" sz="2000" dirty="0"/>
              <a:t>What is your target audience’s most pressing problem? (Answer that, and you’ve made a great start toward finding the right position). </a:t>
            </a:r>
            <a:endParaRPr lang="en-GB" sz="2400" i="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just">
              <a:lnSpc>
                <a:spcPct val="150000"/>
              </a:lnSpc>
              <a:spcBef>
                <a:spcPts val="0"/>
              </a:spcBef>
              <a:spcAft>
                <a:spcPts val="1000"/>
              </a:spcAft>
              <a:buNone/>
              <a:tabLst>
                <a:tab pos="90170" algn="l"/>
              </a:tabLst>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7068361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8EB83-1096-CEEC-8F1C-80D6285C3DE5}"/>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9F0B3B80-0536-52A6-3E70-A87E873DE92D}"/>
              </a:ext>
            </a:extLst>
          </p:cNvPr>
          <p:cNvSpPr>
            <a:spLocks noGrp="1"/>
          </p:cNvSpPr>
          <p:nvPr>
            <p:ph idx="1"/>
          </p:nvPr>
        </p:nvSpPr>
        <p:spPr>
          <a:xfrm>
            <a:off x="1443491" y="2015733"/>
            <a:ext cx="6571343" cy="4037747"/>
          </a:xfrm>
        </p:spPr>
        <p:txBody>
          <a:bodyPr>
            <a:normAutofit lnSpcReduction="10000"/>
          </a:bodyPr>
          <a:lstStyle/>
          <a:p>
            <a:pPr marL="0" indent="0">
              <a:buNone/>
            </a:pPr>
            <a:endParaRPr lang="en-US" dirty="0"/>
          </a:p>
          <a:p>
            <a:r>
              <a:rPr lang="en-US" sz="2400" dirty="0"/>
              <a:t>To effectively position your product/service,  you need to gain a thorough understanding of the 3Cs, STP and Marketing mix.</a:t>
            </a:r>
          </a:p>
          <a:p>
            <a:r>
              <a:rPr lang="en-US" sz="2400" dirty="0"/>
              <a:t>It has the potential to provide you with a wealth of critical information, including: • Customer problems • Competitive intelligence • Ideal customer profile • The purchase process • Why you win and lose in the market.</a:t>
            </a:r>
          </a:p>
        </p:txBody>
      </p:sp>
    </p:spTree>
    <p:extLst>
      <p:ext uri="{BB962C8B-B14F-4D97-AF65-F5344CB8AC3E}">
        <p14:creationId xmlns:p14="http://schemas.microsoft.com/office/powerpoint/2010/main" val="40735617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00652-459E-52A7-8C0C-837E439EB067}"/>
              </a:ext>
            </a:extLst>
          </p:cNvPr>
          <p:cNvSpPr>
            <a:spLocks noGrp="1"/>
          </p:cNvSpPr>
          <p:nvPr>
            <p:ph type="title"/>
          </p:nvPr>
        </p:nvSpPr>
        <p:spPr/>
        <p:txBody>
          <a:bodyPr/>
          <a:lstStyle/>
          <a:p>
            <a:r>
              <a:rPr lang="en-US" dirty="0"/>
              <a:t>.</a:t>
            </a:r>
          </a:p>
        </p:txBody>
      </p:sp>
      <p:sp>
        <p:nvSpPr>
          <p:cNvPr id="3" name="Content Placeholder 2">
            <a:extLst>
              <a:ext uri="{FF2B5EF4-FFF2-40B4-BE49-F238E27FC236}">
                <a16:creationId xmlns:a16="http://schemas.microsoft.com/office/drawing/2014/main" id="{1BCEB39E-69AC-691B-092D-6DA5944FD8D7}"/>
              </a:ext>
            </a:extLst>
          </p:cNvPr>
          <p:cNvSpPr>
            <a:spLocks noGrp="1"/>
          </p:cNvSpPr>
          <p:nvPr>
            <p:ph idx="1"/>
          </p:nvPr>
        </p:nvSpPr>
        <p:spPr/>
        <p:txBody>
          <a:bodyPr>
            <a:normAutofit/>
          </a:bodyPr>
          <a:lstStyle/>
          <a:p>
            <a:pPr marL="0" indent="0" algn="ctr">
              <a:buNone/>
            </a:pPr>
            <a:r>
              <a:rPr lang="en-US" sz="8000" b="1" dirty="0">
                <a:ln w="22225">
                  <a:solidFill>
                    <a:schemeClr val="accent2"/>
                  </a:solidFill>
                  <a:prstDash val="solid"/>
                </a:ln>
                <a:solidFill>
                  <a:schemeClr val="accent2">
                    <a:lumMod val="40000"/>
                    <a:lumOff val="60000"/>
                  </a:schemeClr>
                </a:solidFill>
              </a:rPr>
              <a:t>Thank you</a:t>
            </a:r>
          </a:p>
        </p:txBody>
      </p:sp>
    </p:spTree>
    <p:extLst>
      <p:ext uri="{BB962C8B-B14F-4D97-AF65-F5344CB8AC3E}">
        <p14:creationId xmlns:p14="http://schemas.microsoft.com/office/powerpoint/2010/main" val="3186868113"/>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TM10001114[[fn=Gallery]]</Template>
  <TotalTime>11051</TotalTime>
  <Words>3700</Words>
  <Application>Microsoft Office PowerPoint</Application>
  <PresentationFormat>On-screen Show (4:3)</PresentationFormat>
  <Paragraphs>369</Paragraphs>
  <Slides>56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56</vt:i4>
      </vt:variant>
    </vt:vector>
  </HeadingPairs>
  <TitlesOfParts>
    <vt:vector size="66" baseType="lpstr">
      <vt:lpstr>Arial</vt:lpstr>
      <vt:lpstr>Arial MT</vt:lpstr>
      <vt:lpstr>Calibri</vt:lpstr>
      <vt:lpstr>Comic Sans MS</vt:lpstr>
      <vt:lpstr>Gill Sans MT</vt:lpstr>
      <vt:lpstr>Open Sans</vt:lpstr>
      <vt:lpstr>Symbol</vt:lpstr>
      <vt:lpstr>Times New Roman</vt:lpstr>
      <vt:lpstr>Wingdings</vt:lpstr>
      <vt:lpstr>Gallery</vt:lpstr>
      <vt:lpstr> Marketing </vt:lpstr>
      <vt:lpstr>What is Marketing?  </vt:lpstr>
      <vt:lpstr> introduction to Marketing Strategy</vt:lpstr>
      <vt:lpstr>Market research (3cs analysis)</vt:lpstr>
      <vt:lpstr>Market research (3cs analysis) Cont.</vt:lpstr>
      <vt:lpstr>      3c analysis </vt:lpstr>
      <vt:lpstr>      customers</vt:lpstr>
      <vt:lpstr>      Customer analysis</vt:lpstr>
      <vt:lpstr>      Customer analysis</vt:lpstr>
      <vt:lpstr>      Customer analysis</vt:lpstr>
      <vt:lpstr>      Customer analysis</vt:lpstr>
      <vt:lpstr>      Company analysis</vt:lpstr>
      <vt:lpstr>      Company analysis</vt:lpstr>
      <vt:lpstr>      Company analysis    </vt:lpstr>
      <vt:lpstr>      Company analysis</vt:lpstr>
      <vt:lpstr>     Competitors analysis</vt:lpstr>
      <vt:lpstr>     Competitors analysis</vt:lpstr>
      <vt:lpstr>    Competitive Factors </vt:lpstr>
      <vt:lpstr>Where do you find competitors  information </vt:lpstr>
      <vt:lpstr>    Competitive analysis template</vt:lpstr>
      <vt:lpstr>      Segmentation (stp analysis)</vt:lpstr>
      <vt:lpstr>    Definition of Segmentation </vt:lpstr>
      <vt:lpstr>Purposes of Market Segmentation</vt:lpstr>
      <vt:lpstr>      Types of Segmentation</vt:lpstr>
      <vt:lpstr>     Bases for Segmentation (B2B) </vt:lpstr>
      <vt:lpstr>      Bases for Segmentation (B2C) </vt:lpstr>
      <vt:lpstr>      Demographic Segmentation</vt:lpstr>
      <vt:lpstr>      Geographic Segmentation</vt:lpstr>
      <vt:lpstr>     Psychographics Segmentation</vt:lpstr>
      <vt:lpstr>Behavioral Segmentation</vt:lpstr>
      <vt:lpstr>Segmenting the Breakfast Cereal Market</vt:lpstr>
      <vt:lpstr>      Segmenting the Car Market</vt:lpstr>
      <vt:lpstr>Another example of product segmentation where will you place your product?</vt:lpstr>
      <vt:lpstr>       Requirements for Effective Segmentation </vt:lpstr>
      <vt:lpstr>     Requirements for Effective Segmentation cont.</vt:lpstr>
      <vt:lpstr>  Criteria for Selecting Target Markets</vt:lpstr>
      <vt:lpstr>Segment size and growth</vt:lpstr>
      <vt:lpstr>Segment structural attractiveness</vt:lpstr>
      <vt:lpstr>Main Strategic Approaches to Segmentation</vt:lpstr>
      <vt:lpstr>Targeting (stp analysis)</vt:lpstr>
      <vt:lpstr>Targeting (stp analysis) Cont.</vt:lpstr>
      <vt:lpstr>      Market targeting strategy</vt:lpstr>
      <vt:lpstr>       Positioning (stp analysis)</vt:lpstr>
      <vt:lpstr> Effective product positions have four important characteristics</vt:lpstr>
      <vt:lpstr>Market positioning</vt:lpstr>
      <vt:lpstr>Market positioning cont.</vt:lpstr>
      <vt:lpstr>Marketing Mix (4Ps+)</vt:lpstr>
      <vt:lpstr>Marketing mix (4pS+)</vt:lpstr>
      <vt:lpstr>      Marketing Mix cont.</vt:lpstr>
      <vt:lpstr>      Marketing mix cont.</vt:lpstr>
      <vt:lpstr>PowerPoint Presentation</vt:lpstr>
      <vt:lpstr>Take action</vt:lpstr>
      <vt:lpstr>     Example of marketing strategy</vt:lpstr>
      <vt:lpstr>    Group work on marketing strategy</vt:lpstr>
      <vt:lpstr>conclusion</vt:lpstr>
      <vt:lpst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Start-up Marketing </dc:title>
  <dc:creator>HP PAVILION</dc:creator>
  <cp:lastModifiedBy>HP PAVILION</cp:lastModifiedBy>
  <cp:revision>9</cp:revision>
  <dcterms:created xsi:type="dcterms:W3CDTF">2024-01-29T20:59:10Z</dcterms:created>
  <dcterms:modified xsi:type="dcterms:W3CDTF">2024-02-06T13:11:05Z</dcterms:modified>
</cp:coreProperties>
</file>