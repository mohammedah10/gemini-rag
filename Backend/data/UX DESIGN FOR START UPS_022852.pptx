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63" r:id="rId2"/>
    <p:sldId id="280" r:id="rId3"/>
    <p:sldId id="312" r:id="rId4"/>
    <p:sldId id="313" r:id="rId5"/>
    <p:sldId id="337" r:id="rId6"/>
    <p:sldId id="338" r:id="rId7"/>
    <p:sldId id="314" r:id="rId8"/>
    <p:sldId id="316" r:id="rId9"/>
    <p:sldId id="334" r:id="rId10"/>
    <p:sldId id="329" r:id="rId11"/>
    <p:sldId id="333" r:id="rId12"/>
    <p:sldId id="331" r:id="rId13"/>
    <p:sldId id="315" r:id="rId14"/>
    <p:sldId id="317" r:id="rId15"/>
    <p:sldId id="318" r:id="rId16"/>
    <p:sldId id="319" r:id="rId17"/>
    <p:sldId id="330" r:id="rId18"/>
    <p:sldId id="320" r:id="rId19"/>
    <p:sldId id="322" r:id="rId20"/>
    <p:sldId id="323" r:id="rId21"/>
    <p:sldId id="324" r:id="rId22"/>
    <p:sldId id="325" r:id="rId23"/>
    <p:sldId id="326" r:id="rId24"/>
    <p:sldId id="327" r:id="rId25"/>
    <p:sldId id="332" r:id="rId26"/>
    <p:sldId id="32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52" autoAdjust="0"/>
    <p:restoredTop sz="95865" autoAdjust="0"/>
  </p:normalViewPr>
  <p:slideViewPr>
    <p:cSldViewPr snapToGrid="0">
      <p:cViewPr varScale="1">
        <p:scale>
          <a:sx n="83" d="100"/>
          <a:sy n="83" d="100"/>
        </p:scale>
        <p:origin x="864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0C149D-CA5F-44C3-BFCC-F1288B3CE04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0399C4-262E-476B-AC71-C836E21B6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851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29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590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300" dirty="0" smtClean="0">
                <a:solidFill>
                  <a:schemeClr val="bg2">
                    <a:lumMod val="25000"/>
                  </a:schemeClr>
                </a:solidFill>
                <a:latin typeface="Tw Cen MT" panose="020B0602020104020603" pitchFamily="34" charset="0"/>
              </a:rPr>
              <a:t>We believe that</a:t>
            </a:r>
            <a:r>
              <a:rPr lang="en-GB" sz="300" baseline="0" dirty="0" smtClean="0">
                <a:solidFill>
                  <a:schemeClr val="bg2">
                    <a:lumMod val="25000"/>
                  </a:schemeClr>
                </a:solidFill>
                <a:latin typeface="Tw Cen MT" panose="020B0602020104020603" pitchFamily="34" charset="0"/>
              </a:rPr>
              <a:t> adding a link to the sizing guide will improve the checkout conversion rate.</a:t>
            </a:r>
            <a:endParaRPr lang="en-US" sz="3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502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60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630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44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36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70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3010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1980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00" dirty="0" smtClean="0">
                <a:solidFill>
                  <a:schemeClr val="bg2">
                    <a:lumMod val="25000"/>
                  </a:schemeClr>
                </a:solidFill>
                <a:latin typeface="Tw Cen MT" panose="020B0602020104020603" pitchFamily="34" charset="0"/>
              </a:rPr>
              <a:t>Touch</a:t>
            </a:r>
            <a:r>
              <a:rPr lang="en-GB" sz="100" baseline="0" dirty="0" smtClean="0">
                <a:solidFill>
                  <a:schemeClr val="bg2">
                    <a:lumMod val="25000"/>
                  </a:schemeClr>
                </a:solidFill>
                <a:latin typeface="Tw Cen MT" panose="020B0602020104020603" pitchFamily="34" charset="0"/>
              </a:rPr>
              <a:t> points are points of interactions with your product.</a:t>
            </a:r>
            <a:endParaRPr lang="en-US" sz="1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800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273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43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412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530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After the votes, reveal the cards and discuss</a:t>
            </a:r>
            <a:r>
              <a:rPr lang="en-GB" sz="6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 discrepancy and allow the team to re-vote.</a:t>
            </a:r>
            <a:endParaRPr lang="en-US" sz="1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1505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360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15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512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207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074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047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7162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00" dirty="0" smtClean="0">
                <a:solidFill>
                  <a:schemeClr val="bg2">
                    <a:lumMod val="25000"/>
                  </a:schemeClr>
                </a:solidFill>
                <a:latin typeface="Tw Cen MT" panose="020B0602020104020603" pitchFamily="34" charset="0"/>
              </a:rPr>
              <a:t>Some answers may reveal confusions about navigation, unclear instruction</a:t>
            </a:r>
            <a:r>
              <a:rPr lang="en-GB" sz="100" baseline="0" dirty="0" smtClean="0">
                <a:solidFill>
                  <a:schemeClr val="bg2">
                    <a:lumMod val="25000"/>
                  </a:schemeClr>
                </a:solidFill>
                <a:latin typeface="Tw Cen MT" panose="020B0602020104020603" pitchFamily="34" charset="0"/>
              </a:rPr>
              <a:t> or difficulty finding certain features</a:t>
            </a:r>
            <a:endParaRPr lang="en-US" sz="1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826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00" dirty="0" smtClean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399C4-262E-476B-AC71-C836E21B6E5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107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791A-45B0-4BEF-A4AB-06DE6AA20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ACF38-35FB-4F0B-A9DF-7E70F2F4B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63B7B-FA9A-441B-B791-2C40FD8F1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3F146-2B4B-409B-BC40-5641CD03650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67AFC-20E3-49A2-97FF-71776FECE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0C9C0-6866-4070-93DC-A006F1DC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25F2D-C16D-4EE0-8659-2EE659D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78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18-CFCB-4AF5-9474-288EB5956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DDC6E-143B-48F2-BCEA-A2B52437E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CC66F-71CC-4BB7-9DF6-54E79C159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3F146-2B4B-409B-BC40-5641CD03650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BBE66-D44C-4514-82DA-6593A8BA3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7F58D-450D-4952-8DDB-C2FB42019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25F2D-C16D-4EE0-8659-2EE659D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871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7DE6D-76AC-4F64-AE1F-CBC52868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EF752-D39A-4B1F-A24E-6C12A98E1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AE5A1-61EC-4F68-AF30-5603C0E3E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3F146-2B4B-409B-BC40-5641CD03650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F8FA6-A31B-446D-A765-FA5B24FBA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E7DAB-832D-44A8-81D8-D86E7EE7B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25F2D-C16D-4EE0-8659-2EE659D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245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40FAD-C0C2-4555-AC2E-2C5730F3E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D41F9-0CF4-4D38-8620-60C4599B4B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EAFF0-B1D2-4A6F-A323-EC991E8996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E47FB-64FA-49D5-B1F6-0CEE61265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3F146-2B4B-409B-BC40-5641CD03650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BD76B-7375-45CC-AEFA-3702206B7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C2317-BC95-4FAD-9C20-74A006778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25F2D-C16D-4EE0-8659-2EE659D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4B4ED-E92E-4066-BAE2-E9710144A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7730A-008C-4331-95C7-D63C5B8B5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1852F-3DBB-48DD-ADD9-E4BAF0753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B48AE1-A1F6-41D0-8724-3C4D7B0799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F2DF2-818E-425E-9299-44578210A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45FD3-1498-45C7-A50A-345F155DD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3F146-2B4B-409B-BC40-5641CD03650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EC8571-DB38-4559-9096-7AE2FD2BF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45D30-8EFE-4A58-8D25-597848220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25F2D-C16D-4EE0-8659-2EE659D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50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EED11-751A-4ADB-A2C4-283B0443B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EA4F42-6D77-4220-8363-353C644D9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3F146-2B4B-409B-BC40-5641CD03650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74B438-DC47-480A-9A3F-7B4358234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6F7181-A322-4772-8955-C1266C779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25F2D-C16D-4EE0-8659-2EE659D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131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5183F-ED28-43A6-AC95-B7B7220B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3F146-2B4B-409B-BC40-5641CD03650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70AA3-9248-498C-88C4-D833098B5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46BCF-8D14-4906-8590-1C876A619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25F2D-C16D-4EE0-8659-2EE659D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96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16268-E79F-4D68-B1C4-A95507BBB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17F19-A23A-461B-AE9E-61C569F98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ADF7-EB04-430A-B393-E781542D8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26BD9-8B56-4C78-9F39-FD5E31099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3F146-2B4B-409B-BC40-5641CD03650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6EBD1-F63A-45A2-ADF2-783A2D993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21197-BCAA-4A52-8ABB-BA41CA78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25F2D-C16D-4EE0-8659-2EE659D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54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36E5B-D74A-4614-A817-1B47A665A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1D36AC-1969-47F7-97EE-6ACB98822F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EF4B4E-0B96-4EBB-9D72-79EB841B1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79E63-8E06-4935-943D-8D512726D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3F146-2B4B-409B-BC40-5641CD03650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1447A-9CF6-4781-A40E-FBAE3F20A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3C18-5B86-4D15-A718-0F0B75BE5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25F2D-C16D-4EE0-8659-2EE659D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09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77C5-AC3F-4611-8BE1-ADD17E16B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2AAA96-435F-44CD-97D8-904FDDAEE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97363-E9A6-4C91-B18B-E1D13241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3F146-2B4B-409B-BC40-5641CD03650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EEF1E-7B75-451B-AF8E-AD4925BC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ABAE4-202C-4E66-BE8C-878E9F9A3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25F2D-C16D-4EE0-8659-2EE659D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81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406FC9-3598-47BC-8C79-1F19633B7C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01977-6E7E-4B86-999D-8759D93FC8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6C7A3-1919-4655-A866-F66FED9A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3F146-2B4B-409B-BC40-5641CD03650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6E3CC-C0FE-4AAB-8B64-3E042A5B9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D2E10-387F-47A9-B880-EF8B5E95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25F2D-C16D-4EE0-8659-2EE659D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442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390FB-6C40-4832-B6D2-D23A7CEDE3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848" y="1630045"/>
            <a:ext cx="416814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2858EE-3682-4C8F-8D33-7FFCA436B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F2CA-194E-4E64-8649-81384584209B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F0121C-A6A6-48CB-B382-41B3F4E38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E018A-FD0E-4FB3-9FFA-2B0CCE8A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94FE7-5537-4176-BAD0-1BA98FC90E8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4391A2A-CF46-47BF-B775-492713C2D06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99910" y="1259578"/>
            <a:ext cx="4404042" cy="439917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6E392CF-B299-4CF5-BA5A-38808AD7F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1848" y="3215958"/>
            <a:ext cx="5573077" cy="21336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dirty="0">
                <a:solidFill>
                  <a:schemeClr val="bg1"/>
                </a:solidFill>
                <a:latin typeface="Tw Cen MT" panose="020B0602020104020603" pitchFamily="34" charset="0"/>
              </a:rPr>
              <a:t>Add Some Brief Text Here As a Subtitle and Remember This is Just a Demo Text So Consider Replacing This with Your Own Texts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083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A8005-17BD-4D98-A1D4-7EFBF471B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A5E70-8D6D-4EA0-923B-4D075BCB3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BD113-D31D-4653-97C0-47C40118F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93F146-2B4B-409B-BC40-5641CD03650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32EE0-9F1B-47D2-9C82-0BD36AB983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20BAA-0447-4AE9-B2C9-4EAD735A2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25F2D-C16D-4EE0-8659-2EE659D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44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D432621-49EC-4424-BA7E-C128721EA146}"/>
              </a:ext>
            </a:extLst>
          </p:cNvPr>
          <p:cNvSpPr/>
          <p:nvPr/>
        </p:nvSpPr>
        <p:spPr>
          <a:xfrm>
            <a:off x="-4725" y="-22632"/>
            <a:ext cx="12192000" cy="6985588"/>
          </a:xfrm>
          <a:prstGeom prst="rect">
            <a:avLst/>
          </a:prstGeom>
          <a:solidFill>
            <a:schemeClr val="tx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BABDE6E-75DD-4C8C-B504-6B1AB7D8A716}"/>
              </a:ext>
            </a:extLst>
          </p:cNvPr>
          <p:cNvSpPr txBox="1"/>
          <p:nvPr/>
        </p:nvSpPr>
        <p:spPr>
          <a:xfrm>
            <a:off x="990885" y="3303142"/>
            <a:ext cx="98968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i="1" dirty="0" smtClean="0">
                <a:solidFill>
                  <a:schemeClr val="bg1"/>
                </a:solidFill>
                <a:latin typeface="Tw Cen MT" panose="020B0602020104020603" pitchFamily="34" charset="0"/>
              </a:rPr>
              <a:t>STARTUP SUCCESS</a:t>
            </a:r>
            <a:endParaRPr lang="en-US" sz="8800" b="1" i="1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B113069-A512-4AC0-83AB-9379927B8566}"/>
              </a:ext>
            </a:extLst>
          </p:cNvPr>
          <p:cNvSpPr txBox="1"/>
          <p:nvPr/>
        </p:nvSpPr>
        <p:spPr>
          <a:xfrm>
            <a:off x="948009" y="2408528"/>
            <a:ext cx="71343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i="1" dirty="0" smtClean="0">
                <a:solidFill>
                  <a:schemeClr val="accent5">
                    <a:lumMod val="75000"/>
                  </a:schemeClr>
                </a:solidFill>
                <a:latin typeface="Tw Cen MT" panose="020B0602020104020603" pitchFamily="34" charset="0"/>
              </a:rPr>
              <a:t>UIUX DESIGN FOR</a:t>
            </a:r>
            <a:endParaRPr lang="en-US" sz="7200" b="1" i="1" dirty="0">
              <a:solidFill>
                <a:schemeClr val="accent5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24BA576-820E-4BA1-9EA3-402A00644819}"/>
              </a:ext>
            </a:extLst>
          </p:cNvPr>
          <p:cNvGrpSpPr/>
          <p:nvPr/>
        </p:nvGrpSpPr>
        <p:grpSpPr>
          <a:xfrm>
            <a:off x="-4725" y="-171451"/>
            <a:ext cx="12363979" cy="6604367"/>
            <a:chOff x="-6261076" y="-5116647"/>
            <a:chExt cx="17678980" cy="1134228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0" name="Plus Sign 19">
              <a:extLst>
                <a:ext uri="{FF2B5EF4-FFF2-40B4-BE49-F238E27FC236}">
                  <a16:creationId xmlns:a16="http://schemas.microsoft.com/office/drawing/2014/main" id="{734D8832-EDD8-4627-A185-A4C0773EDA6D}"/>
                </a:ext>
              </a:extLst>
            </p:cNvPr>
            <p:cNvSpPr/>
            <p:nvPr/>
          </p:nvSpPr>
          <p:spPr>
            <a:xfrm rot="2700000">
              <a:off x="5475517" y="3844656"/>
              <a:ext cx="254000" cy="254000"/>
            </a:xfrm>
            <a:prstGeom prst="mathPlus">
              <a:avLst>
                <a:gd name="adj1" fmla="val 178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Block Arc 20">
              <a:extLst>
                <a:ext uri="{FF2B5EF4-FFF2-40B4-BE49-F238E27FC236}">
                  <a16:creationId xmlns:a16="http://schemas.microsoft.com/office/drawing/2014/main" id="{56714AA7-CC80-49FE-91F0-026BF2D2B2A0}"/>
                </a:ext>
              </a:extLst>
            </p:cNvPr>
            <p:cNvSpPr/>
            <p:nvPr/>
          </p:nvSpPr>
          <p:spPr>
            <a:xfrm rot="16200000">
              <a:off x="3731980" y="2599212"/>
              <a:ext cx="166906" cy="166906"/>
            </a:xfrm>
            <a:prstGeom prst="blockArc">
              <a:avLst>
                <a:gd name="adj1" fmla="val 10800000"/>
                <a:gd name="adj2" fmla="val 154988"/>
                <a:gd name="adj3" fmla="val 2243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Circle: Hollow 21">
              <a:extLst>
                <a:ext uri="{FF2B5EF4-FFF2-40B4-BE49-F238E27FC236}">
                  <a16:creationId xmlns:a16="http://schemas.microsoft.com/office/drawing/2014/main" id="{7038CD74-FCF3-4442-B07D-18E7205A5E00}"/>
                </a:ext>
              </a:extLst>
            </p:cNvPr>
            <p:cNvSpPr/>
            <p:nvPr/>
          </p:nvSpPr>
          <p:spPr>
            <a:xfrm>
              <a:off x="8430418" y="3707565"/>
              <a:ext cx="150812" cy="150812"/>
            </a:xfrm>
            <a:prstGeom prst="don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C56DAB8-DDDF-4B3A-859E-044B61CEFEBF}"/>
                </a:ext>
              </a:extLst>
            </p:cNvPr>
            <p:cNvSpPr/>
            <p:nvPr/>
          </p:nvSpPr>
          <p:spPr>
            <a:xfrm>
              <a:off x="8505824" y="1557119"/>
              <a:ext cx="176213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EBEF3F6-E612-416D-BCE6-14AA15245F5C}"/>
                </a:ext>
              </a:extLst>
            </p:cNvPr>
            <p:cNvGrpSpPr/>
            <p:nvPr/>
          </p:nvGrpSpPr>
          <p:grpSpPr>
            <a:xfrm>
              <a:off x="7238359" y="2553493"/>
              <a:ext cx="176213" cy="176213"/>
              <a:chOff x="7124699" y="2576294"/>
              <a:chExt cx="176213" cy="176213"/>
            </a:xfrm>
            <a:grpFill/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598EC9B-004E-48C9-B61A-BE20462F2B5F}"/>
                  </a:ext>
                </a:extLst>
              </p:cNvPr>
              <p:cNvSpPr/>
              <p:nvPr/>
            </p:nvSpPr>
            <p:spPr>
              <a:xfrm>
                <a:off x="7124699" y="2576294"/>
                <a:ext cx="176213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9026399-0BF3-464B-B982-6A435BF133C1}"/>
                  </a:ext>
                </a:extLst>
              </p:cNvPr>
              <p:cNvSpPr/>
              <p:nvPr/>
            </p:nvSpPr>
            <p:spPr>
              <a:xfrm rot="16200000">
                <a:off x="7059452" y="2641541"/>
                <a:ext cx="176213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Block Arc 25">
              <a:extLst>
                <a:ext uri="{FF2B5EF4-FFF2-40B4-BE49-F238E27FC236}">
                  <a16:creationId xmlns:a16="http://schemas.microsoft.com/office/drawing/2014/main" id="{051474EE-0DE9-48BF-9680-C89DF3274FC1}"/>
                </a:ext>
              </a:extLst>
            </p:cNvPr>
            <p:cNvSpPr/>
            <p:nvPr/>
          </p:nvSpPr>
          <p:spPr>
            <a:xfrm rot="12064165">
              <a:off x="4874528" y="5937713"/>
              <a:ext cx="166906" cy="166906"/>
            </a:xfrm>
            <a:prstGeom prst="blockArc">
              <a:avLst>
                <a:gd name="adj1" fmla="val 10800000"/>
                <a:gd name="adj2" fmla="val 154988"/>
                <a:gd name="adj3" fmla="val 2243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Block Arc 27">
              <a:extLst>
                <a:ext uri="{FF2B5EF4-FFF2-40B4-BE49-F238E27FC236}">
                  <a16:creationId xmlns:a16="http://schemas.microsoft.com/office/drawing/2014/main" id="{0948970E-AB43-4CCF-BA6A-6B9DCBC4FA38}"/>
                </a:ext>
              </a:extLst>
            </p:cNvPr>
            <p:cNvSpPr/>
            <p:nvPr/>
          </p:nvSpPr>
          <p:spPr>
            <a:xfrm rot="12064165">
              <a:off x="1061966" y="2164080"/>
              <a:ext cx="166906" cy="166906"/>
            </a:xfrm>
            <a:prstGeom prst="blockArc">
              <a:avLst>
                <a:gd name="adj1" fmla="val 10800000"/>
                <a:gd name="adj2" fmla="val 154988"/>
                <a:gd name="adj3" fmla="val 2243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E58D365-CBB2-483E-A04C-9180F4CCA097}"/>
                </a:ext>
              </a:extLst>
            </p:cNvPr>
            <p:cNvGrpSpPr/>
            <p:nvPr/>
          </p:nvGrpSpPr>
          <p:grpSpPr>
            <a:xfrm>
              <a:off x="9030365" y="5220493"/>
              <a:ext cx="176213" cy="176213"/>
              <a:chOff x="7124699" y="2576294"/>
              <a:chExt cx="176213" cy="176213"/>
            </a:xfrm>
            <a:grpFill/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9326A7D-3208-4124-81EF-3396F1306539}"/>
                  </a:ext>
                </a:extLst>
              </p:cNvPr>
              <p:cNvSpPr/>
              <p:nvPr/>
            </p:nvSpPr>
            <p:spPr>
              <a:xfrm>
                <a:off x="7124699" y="2576294"/>
                <a:ext cx="176213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5DF814A-0347-4D76-9367-3DDECA2633D7}"/>
                  </a:ext>
                </a:extLst>
              </p:cNvPr>
              <p:cNvSpPr/>
              <p:nvPr/>
            </p:nvSpPr>
            <p:spPr>
              <a:xfrm rot="16200000">
                <a:off x="7059452" y="2641541"/>
                <a:ext cx="176213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697240F-60D9-4CCA-8427-80AAE270F1D9}"/>
                </a:ext>
              </a:extLst>
            </p:cNvPr>
            <p:cNvGrpSpPr/>
            <p:nvPr/>
          </p:nvGrpSpPr>
          <p:grpSpPr>
            <a:xfrm>
              <a:off x="469046" y="5651606"/>
              <a:ext cx="176213" cy="176213"/>
              <a:chOff x="7124699" y="2576294"/>
              <a:chExt cx="176213" cy="176213"/>
            </a:xfrm>
            <a:grpFill/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531D4B9-6228-401B-9AF6-118FE752AC3A}"/>
                  </a:ext>
                </a:extLst>
              </p:cNvPr>
              <p:cNvSpPr/>
              <p:nvPr/>
            </p:nvSpPr>
            <p:spPr>
              <a:xfrm>
                <a:off x="7124699" y="2576294"/>
                <a:ext cx="176213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278EE0E-F558-49C2-B425-567F2F395B6C}"/>
                  </a:ext>
                </a:extLst>
              </p:cNvPr>
              <p:cNvSpPr/>
              <p:nvPr/>
            </p:nvSpPr>
            <p:spPr>
              <a:xfrm rot="16200000">
                <a:off x="7059452" y="2641541"/>
                <a:ext cx="176213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732433E-62AC-4AF6-8E67-DD704A7CF739}"/>
                </a:ext>
              </a:extLst>
            </p:cNvPr>
            <p:cNvSpPr/>
            <p:nvPr/>
          </p:nvSpPr>
          <p:spPr>
            <a:xfrm>
              <a:off x="10123504" y="4129833"/>
              <a:ext cx="176213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ircle: Hollow 35">
              <a:extLst>
                <a:ext uri="{FF2B5EF4-FFF2-40B4-BE49-F238E27FC236}">
                  <a16:creationId xmlns:a16="http://schemas.microsoft.com/office/drawing/2014/main" id="{BBAE5392-314A-421A-A350-E58AC8814E9B}"/>
                </a:ext>
              </a:extLst>
            </p:cNvPr>
            <p:cNvSpPr/>
            <p:nvPr/>
          </p:nvSpPr>
          <p:spPr>
            <a:xfrm>
              <a:off x="5548112" y="2235307"/>
              <a:ext cx="150812" cy="150812"/>
            </a:xfrm>
            <a:prstGeom prst="don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Circle: Hollow 36">
              <a:extLst>
                <a:ext uri="{FF2B5EF4-FFF2-40B4-BE49-F238E27FC236}">
                  <a16:creationId xmlns:a16="http://schemas.microsoft.com/office/drawing/2014/main" id="{102F5ABA-B3DE-4E90-9142-CE1AD446926D}"/>
                </a:ext>
              </a:extLst>
            </p:cNvPr>
            <p:cNvSpPr/>
            <p:nvPr/>
          </p:nvSpPr>
          <p:spPr>
            <a:xfrm>
              <a:off x="330224" y="3955249"/>
              <a:ext cx="150812" cy="150812"/>
            </a:xfrm>
            <a:prstGeom prst="don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Circle: Hollow 38">
              <a:extLst>
                <a:ext uri="{FF2B5EF4-FFF2-40B4-BE49-F238E27FC236}">
                  <a16:creationId xmlns:a16="http://schemas.microsoft.com/office/drawing/2014/main" id="{6E48C07E-BD53-4C11-8CA9-98204615E64A}"/>
                </a:ext>
              </a:extLst>
            </p:cNvPr>
            <p:cNvSpPr/>
            <p:nvPr/>
          </p:nvSpPr>
          <p:spPr>
            <a:xfrm>
              <a:off x="1992113" y="929015"/>
              <a:ext cx="150812" cy="150812"/>
            </a:xfrm>
            <a:prstGeom prst="don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A15B89-8683-45E1-9424-0CA92C35880C}"/>
                </a:ext>
              </a:extLst>
            </p:cNvPr>
            <p:cNvGrpSpPr/>
            <p:nvPr/>
          </p:nvGrpSpPr>
          <p:grpSpPr>
            <a:xfrm>
              <a:off x="2264959" y="3373222"/>
              <a:ext cx="176213" cy="176213"/>
              <a:chOff x="7124699" y="2576294"/>
              <a:chExt cx="176213" cy="176213"/>
            </a:xfrm>
            <a:grpFill/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5AB02EE-C1D6-4C30-9FBA-9B3E3A34460F}"/>
                  </a:ext>
                </a:extLst>
              </p:cNvPr>
              <p:cNvSpPr/>
              <p:nvPr/>
            </p:nvSpPr>
            <p:spPr>
              <a:xfrm>
                <a:off x="7124699" y="2576294"/>
                <a:ext cx="176213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6F8D6B7-8870-4F5E-8246-9A885B175A43}"/>
                  </a:ext>
                </a:extLst>
              </p:cNvPr>
              <p:cNvSpPr/>
              <p:nvPr/>
            </p:nvSpPr>
            <p:spPr>
              <a:xfrm rot="16200000">
                <a:off x="7059452" y="2641541"/>
                <a:ext cx="176213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Circle: Hollow 44">
              <a:extLst>
                <a:ext uri="{FF2B5EF4-FFF2-40B4-BE49-F238E27FC236}">
                  <a16:creationId xmlns:a16="http://schemas.microsoft.com/office/drawing/2014/main" id="{C7327B7C-840C-4D55-80A8-BB5DF379D2FC}"/>
                </a:ext>
              </a:extLst>
            </p:cNvPr>
            <p:cNvSpPr/>
            <p:nvPr/>
          </p:nvSpPr>
          <p:spPr>
            <a:xfrm>
              <a:off x="3110931" y="4513107"/>
              <a:ext cx="150812" cy="150812"/>
            </a:xfrm>
            <a:prstGeom prst="don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6" name="Plus Sign 45">
              <a:extLst>
                <a:ext uri="{FF2B5EF4-FFF2-40B4-BE49-F238E27FC236}">
                  <a16:creationId xmlns:a16="http://schemas.microsoft.com/office/drawing/2014/main" id="{85FAA42C-39D9-4192-AD97-C76CB06A8C2C}"/>
                </a:ext>
              </a:extLst>
            </p:cNvPr>
            <p:cNvSpPr/>
            <p:nvPr/>
          </p:nvSpPr>
          <p:spPr>
            <a:xfrm rot="2700000">
              <a:off x="11112500" y="5827671"/>
              <a:ext cx="254000" cy="254000"/>
            </a:xfrm>
            <a:prstGeom prst="mathPlus">
              <a:avLst>
                <a:gd name="adj1" fmla="val 178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Plus Sign 47">
              <a:extLst>
                <a:ext uri="{FF2B5EF4-FFF2-40B4-BE49-F238E27FC236}">
                  <a16:creationId xmlns:a16="http://schemas.microsoft.com/office/drawing/2014/main" id="{83BC8F98-A647-403F-8179-33C081E56050}"/>
                </a:ext>
              </a:extLst>
            </p:cNvPr>
            <p:cNvSpPr/>
            <p:nvPr/>
          </p:nvSpPr>
          <p:spPr>
            <a:xfrm rot="2700000">
              <a:off x="3835400" y="703221"/>
              <a:ext cx="254000" cy="254000"/>
            </a:xfrm>
            <a:prstGeom prst="mathPlus">
              <a:avLst>
                <a:gd name="adj1" fmla="val 178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Plus Sign 49">
              <a:extLst>
                <a:ext uri="{FF2B5EF4-FFF2-40B4-BE49-F238E27FC236}">
                  <a16:creationId xmlns:a16="http://schemas.microsoft.com/office/drawing/2014/main" id="{9E7F9354-FB5B-43C3-AFB1-82C1F4F6D2C3}"/>
                </a:ext>
              </a:extLst>
            </p:cNvPr>
            <p:cNvSpPr/>
            <p:nvPr/>
          </p:nvSpPr>
          <p:spPr>
            <a:xfrm rot="2700000">
              <a:off x="10083806" y="1929678"/>
              <a:ext cx="254000" cy="254000"/>
            </a:xfrm>
            <a:prstGeom prst="mathPlus">
              <a:avLst>
                <a:gd name="adj1" fmla="val 178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Block Arc 50">
              <a:extLst>
                <a:ext uri="{FF2B5EF4-FFF2-40B4-BE49-F238E27FC236}">
                  <a16:creationId xmlns:a16="http://schemas.microsoft.com/office/drawing/2014/main" id="{F6A82CEB-8406-4E43-B9C4-9B879D4AAD75}"/>
                </a:ext>
              </a:extLst>
            </p:cNvPr>
            <p:cNvSpPr/>
            <p:nvPr/>
          </p:nvSpPr>
          <p:spPr>
            <a:xfrm rot="16200000">
              <a:off x="1591125" y="4652985"/>
              <a:ext cx="166906" cy="166906"/>
            </a:xfrm>
            <a:prstGeom prst="blockArc">
              <a:avLst>
                <a:gd name="adj1" fmla="val 10800000"/>
                <a:gd name="adj2" fmla="val 154988"/>
                <a:gd name="adj3" fmla="val 2243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Block Arc 51">
              <a:extLst>
                <a:ext uri="{FF2B5EF4-FFF2-40B4-BE49-F238E27FC236}">
                  <a16:creationId xmlns:a16="http://schemas.microsoft.com/office/drawing/2014/main" id="{498854A5-B275-449E-8531-B2BA2498E18F}"/>
                </a:ext>
              </a:extLst>
            </p:cNvPr>
            <p:cNvSpPr/>
            <p:nvPr/>
          </p:nvSpPr>
          <p:spPr>
            <a:xfrm rot="16200000">
              <a:off x="7084793" y="5400471"/>
              <a:ext cx="166906" cy="166906"/>
            </a:xfrm>
            <a:prstGeom prst="blockArc">
              <a:avLst>
                <a:gd name="adj1" fmla="val 10800000"/>
                <a:gd name="adj2" fmla="val 154988"/>
                <a:gd name="adj3" fmla="val 2243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3A1023D-6EF9-4904-8C39-31DC72A803A5}"/>
                </a:ext>
              </a:extLst>
            </p:cNvPr>
            <p:cNvSpPr/>
            <p:nvPr/>
          </p:nvSpPr>
          <p:spPr>
            <a:xfrm>
              <a:off x="6669767" y="1056375"/>
              <a:ext cx="176213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Block Arc 53">
              <a:extLst>
                <a:ext uri="{FF2B5EF4-FFF2-40B4-BE49-F238E27FC236}">
                  <a16:creationId xmlns:a16="http://schemas.microsoft.com/office/drawing/2014/main" id="{5B6D5916-B81E-47B3-B2E9-6367CE3A4F97}"/>
                </a:ext>
              </a:extLst>
            </p:cNvPr>
            <p:cNvSpPr/>
            <p:nvPr/>
          </p:nvSpPr>
          <p:spPr>
            <a:xfrm rot="12064165">
              <a:off x="5321910" y="255453"/>
              <a:ext cx="166906" cy="166906"/>
            </a:xfrm>
            <a:prstGeom prst="blockArc">
              <a:avLst>
                <a:gd name="adj1" fmla="val 10800000"/>
                <a:gd name="adj2" fmla="val 154988"/>
                <a:gd name="adj3" fmla="val 2243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CB969FA-C3F1-4B46-A81B-7E1D9F371345}"/>
                </a:ext>
              </a:extLst>
            </p:cNvPr>
            <p:cNvSpPr/>
            <p:nvPr/>
          </p:nvSpPr>
          <p:spPr>
            <a:xfrm>
              <a:off x="2489646" y="6179919"/>
              <a:ext cx="176213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Block Arc 55">
              <a:extLst>
                <a:ext uri="{FF2B5EF4-FFF2-40B4-BE49-F238E27FC236}">
                  <a16:creationId xmlns:a16="http://schemas.microsoft.com/office/drawing/2014/main" id="{8C8775B8-6FE8-4B09-88D0-559218007503}"/>
                </a:ext>
              </a:extLst>
            </p:cNvPr>
            <p:cNvSpPr/>
            <p:nvPr/>
          </p:nvSpPr>
          <p:spPr>
            <a:xfrm rot="12064165">
              <a:off x="11250998" y="422367"/>
              <a:ext cx="166906" cy="166906"/>
            </a:xfrm>
            <a:prstGeom prst="blockArc">
              <a:avLst>
                <a:gd name="adj1" fmla="val 10800000"/>
                <a:gd name="adj2" fmla="val 154988"/>
                <a:gd name="adj3" fmla="val 2243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" name="Plus Sign 56">
              <a:extLst>
                <a:ext uri="{FF2B5EF4-FFF2-40B4-BE49-F238E27FC236}">
                  <a16:creationId xmlns:a16="http://schemas.microsoft.com/office/drawing/2014/main" id="{C641702D-BFA0-4A77-BBF2-AAC4F4799E74}"/>
                </a:ext>
              </a:extLst>
            </p:cNvPr>
            <p:cNvSpPr/>
            <p:nvPr/>
          </p:nvSpPr>
          <p:spPr>
            <a:xfrm rot="2700000">
              <a:off x="-1115783" y="-1527444"/>
              <a:ext cx="254000" cy="254000"/>
            </a:xfrm>
            <a:prstGeom prst="mathPlus">
              <a:avLst>
                <a:gd name="adj1" fmla="val 178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Block Arc 57">
              <a:extLst>
                <a:ext uri="{FF2B5EF4-FFF2-40B4-BE49-F238E27FC236}">
                  <a16:creationId xmlns:a16="http://schemas.microsoft.com/office/drawing/2014/main" id="{112C906A-6CCC-42C5-BCC4-80BD3D8F13E2}"/>
                </a:ext>
              </a:extLst>
            </p:cNvPr>
            <p:cNvSpPr/>
            <p:nvPr/>
          </p:nvSpPr>
          <p:spPr>
            <a:xfrm rot="16200000">
              <a:off x="-2859320" y="-2772888"/>
              <a:ext cx="166906" cy="166906"/>
            </a:xfrm>
            <a:prstGeom prst="blockArc">
              <a:avLst>
                <a:gd name="adj1" fmla="val 10800000"/>
                <a:gd name="adj2" fmla="val 154988"/>
                <a:gd name="adj3" fmla="val 2243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9" name="Circle: Hollow 58">
              <a:extLst>
                <a:ext uri="{FF2B5EF4-FFF2-40B4-BE49-F238E27FC236}">
                  <a16:creationId xmlns:a16="http://schemas.microsoft.com/office/drawing/2014/main" id="{3DF37A55-1924-418C-B7C5-8E172D8C9BDB}"/>
                </a:ext>
              </a:extLst>
            </p:cNvPr>
            <p:cNvSpPr/>
            <p:nvPr/>
          </p:nvSpPr>
          <p:spPr>
            <a:xfrm>
              <a:off x="1839118" y="-1664535"/>
              <a:ext cx="150812" cy="150812"/>
            </a:xfrm>
            <a:prstGeom prst="don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7707D7D-901D-4B6F-817A-7331A2C1F3F7}"/>
                </a:ext>
              </a:extLst>
            </p:cNvPr>
            <p:cNvSpPr/>
            <p:nvPr/>
          </p:nvSpPr>
          <p:spPr>
            <a:xfrm>
              <a:off x="1914524" y="-3814981"/>
              <a:ext cx="176213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412C67E-12AC-4184-8E03-16B1F5769750}"/>
                </a:ext>
              </a:extLst>
            </p:cNvPr>
            <p:cNvGrpSpPr/>
            <p:nvPr/>
          </p:nvGrpSpPr>
          <p:grpSpPr>
            <a:xfrm>
              <a:off x="647059" y="-2818607"/>
              <a:ext cx="176213" cy="176213"/>
              <a:chOff x="7124699" y="2576294"/>
              <a:chExt cx="176213" cy="176213"/>
            </a:xfrm>
            <a:grpFill/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74C93AB-995C-46BC-B15C-349042DF2619}"/>
                  </a:ext>
                </a:extLst>
              </p:cNvPr>
              <p:cNvSpPr/>
              <p:nvPr/>
            </p:nvSpPr>
            <p:spPr>
              <a:xfrm>
                <a:off x="7124699" y="2576294"/>
                <a:ext cx="176213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B27ECFF3-2C40-46BF-B3C6-853C8EA621BF}"/>
                  </a:ext>
                </a:extLst>
              </p:cNvPr>
              <p:cNvSpPr/>
              <p:nvPr/>
            </p:nvSpPr>
            <p:spPr>
              <a:xfrm rot="16200000">
                <a:off x="7059452" y="2641541"/>
                <a:ext cx="176213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4" name="Block Arc 63">
              <a:extLst>
                <a:ext uri="{FF2B5EF4-FFF2-40B4-BE49-F238E27FC236}">
                  <a16:creationId xmlns:a16="http://schemas.microsoft.com/office/drawing/2014/main" id="{924E7BA6-68F7-4FA0-8380-8A4CBFA6F1CC}"/>
                </a:ext>
              </a:extLst>
            </p:cNvPr>
            <p:cNvSpPr/>
            <p:nvPr/>
          </p:nvSpPr>
          <p:spPr>
            <a:xfrm rot="12064165">
              <a:off x="-1716772" y="565613"/>
              <a:ext cx="166906" cy="166906"/>
            </a:xfrm>
            <a:prstGeom prst="blockArc">
              <a:avLst>
                <a:gd name="adj1" fmla="val 10800000"/>
                <a:gd name="adj2" fmla="val 154988"/>
                <a:gd name="adj3" fmla="val 2243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5" name="Block Arc 64">
              <a:extLst>
                <a:ext uri="{FF2B5EF4-FFF2-40B4-BE49-F238E27FC236}">
                  <a16:creationId xmlns:a16="http://schemas.microsoft.com/office/drawing/2014/main" id="{EA1CF588-92A2-4DDD-8527-A71AC7B92FDB}"/>
                </a:ext>
              </a:extLst>
            </p:cNvPr>
            <p:cNvSpPr/>
            <p:nvPr/>
          </p:nvSpPr>
          <p:spPr>
            <a:xfrm rot="12064165">
              <a:off x="-5529334" y="-3208020"/>
              <a:ext cx="166906" cy="166906"/>
            </a:xfrm>
            <a:prstGeom prst="blockArc">
              <a:avLst>
                <a:gd name="adj1" fmla="val 10800000"/>
                <a:gd name="adj2" fmla="val 154988"/>
                <a:gd name="adj3" fmla="val 2243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E0968B6-DB84-4F0C-B78A-907EED686463}"/>
                </a:ext>
              </a:extLst>
            </p:cNvPr>
            <p:cNvSpPr/>
            <p:nvPr/>
          </p:nvSpPr>
          <p:spPr>
            <a:xfrm>
              <a:off x="2439065" y="-151607"/>
              <a:ext cx="176213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AFE8FC35-3856-4D6E-97A2-9BD77AB85FD8}"/>
                </a:ext>
              </a:extLst>
            </p:cNvPr>
            <p:cNvGrpSpPr/>
            <p:nvPr/>
          </p:nvGrpSpPr>
          <p:grpSpPr>
            <a:xfrm>
              <a:off x="-6122254" y="279506"/>
              <a:ext cx="176213" cy="176213"/>
              <a:chOff x="7124699" y="2576294"/>
              <a:chExt cx="176213" cy="176213"/>
            </a:xfrm>
            <a:grpFill/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E8F870EF-006D-4D77-8167-8819D44ADC3C}"/>
                  </a:ext>
                </a:extLst>
              </p:cNvPr>
              <p:cNvSpPr/>
              <p:nvPr/>
            </p:nvSpPr>
            <p:spPr>
              <a:xfrm>
                <a:off x="7124699" y="2576294"/>
                <a:ext cx="176213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791232D-5DD9-4482-9167-ADD79EC20E44}"/>
                  </a:ext>
                </a:extLst>
              </p:cNvPr>
              <p:cNvSpPr/>
              <p:nvPr/>
            </p:nvSpPr>
            <p:spPr>
              <a:xfrm rot="16200000">
                <a:off x="7059452" y="2641541"/>
                <a:ext cx="176213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DAFC365-57D6-46CF-AED2-39B58E62233A}"/>
                </a:ext>
              </a:extLst>
            </p:cNvPr>
            <p:cNvSpPr/>
            <p:nvPr/>
          </p:nvSpPr>
          <p:spPr>
            <a:xfrm>
              <a:off x="3532204" y="-1242267"/>
              <a:ext cx="176213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Circle: Hollow 72">
              <a:extLst>
                <a:ext uri="{FF2B5EF4-FFF2-40B4-BE49-F238E27FC236}">
                  <a16:creationId xmlns:a16="http://schemas.microsoft.com/office/drawing/2014/main" id="{7027E690-5CD0-46C5-AB8D-80411C3EF2D4}"/>
                </a:ext>
              </a:extLst>
            </p:cNvPr>
            <p:cNvSpPr/>
            <p:nvPr/>
          </p:nvSpPr>
          <p:spPr>
            <a:xfrm>
              <a:off x="-1043188" y="-3136793"/>
              <a:ext cx="150812" cy="150812"/>
            </a:xfrm>
            <a:prstGeom prst="don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4" name="Circle: Hollow 73">
              <a:extLst>
                <a:ext uri="{FF2B5EF4-FFF2-40B4-BE49-F238E27FC236}">
                  <a16:creationId xmlns:a16="http://schemas.microsoft.com/office/drawing/2014/main" id="{4A6F1174-CAFC-43FF-BEAD-65121946662A}"/>
                </a:ext>
              </a:extLst>
            </p:cNvPr>
            <p:cNvSpPr/>
            <p:nvPr/>
          </p:nvSpPr>
          <p:spPr>
            <a:xfrm>
              <a:off x="-6261076" y="-1416851"/>
              <a:ext cx="150812" cy="150812"/>
            </a:xfrm>
            <a:prstGeom prst="don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5" name="Circle: Hollow 74">
              <a:extLst>
                <a:ext uri="{FF2B5EF4-FFF2-40B4-BE49-F238E27FC236}">
                  <a16:creationId xmlns:a16="http://schemas.microsoft.com/office/drawing/2014/main" id="{979471D0-6B24-4CD3-9004-75CA5BE70A4D}"/>
                </a:ext>
              </a:extLst>
            </p:cNvPr>
            <p:cNvSpPr/>
            <p:nvPr/>
          </p:nvSpPr>
          <p:spPr>
            <a:xfrm>
              <a:off x="-4599187" y="-4443085"/>
              <a:ext cx="150812" cy="150812"/>
            </a:xfrm>
            <a:prstGeom prst="don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CAE804F3-2E78-4C36-9562-16DBA5037C6E}"/>
                </a:ext>
              </a:extLst>
            </p:cNvPr>
            <p:cNvGrpSpPr/>
            <p:nvPr/>
          </p:nvGrpSpPr>
          <p:grpSpPr>
            <a:xfrm>
              <a:off x="-4326341" y="-1998878"/>
              <a:ext cx="176213" cy="176213"/>
              <a:chOff x="7124699" y="2576294"/>
              <a:chExt cx="176213" cy="176213"/>
            </a:xfrm>
            <a:grpFill/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26489FA8-EB92-4963-8365-500998CFACCC}"/>
                  </a:ext>
                </a:extLst>
              </p:cNvPr>
              <p:cNvSpPr/>
              <p:nvPr/>
            </p:nvSpPr>
            <p:spPr>
              <a:xfrm>
                <a:off x="7124699" y="2576294"/>
                <a:ext cx="176213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C454E363-445D-45EF-892B-0CB5DE3CCF14}"/>
                  </a:ext>
                </a:extLst>
              </p:cNvPr>
              <p:cNvSpPr/>
              <p:nvPr/>
            </p:nvSpPr>
            <p:spPr>
              <a:xfrm rot="16200000">
                <a:off x="7059452" y="2641541"/>
                <a:ext cx="176213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9" name="Block Arc 78">
              <a:extLst>
                <a:ext uri="{FF2B5EF4-FFF2-40B4-BE49-F238E27FC236}">
                  <a16:creationId xmlns:a16="http://schemas.microsoft.com/office/drawing/2014/main" id="{81895A2F-BC40-4F8C-8BD3-9B022A03D61E}"/>
                </a:ext>
              </a:extLst>
            </p:cNvPr>
            <p:cNvSpPr/>
            <p:nvPr/>
          </p:nvSpPr>
          <p:spPr>
            <a:xfrm rot="16200000">
              <a:off x="-6132291" y="-4449292"/>
              <a:ext cx="166906" cy="166906"/>
            </a:xfrm>
            <a:prstGeom prst="blockArc">
              <a:avLst>
                <a:gd name="adj1" fmla="val 10800000"/>
                <a:gd name="adj2" fmla="val 154988"/>
                <a:gd name="adj3" fmla="val 2243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0" name="Circle: Hollow 79">
              <a:extLst>
                <a:ext uri="{FF2B5EF4-FFF2-40B4-BE49-F238E27FC236}">
                  <a16:creationId xmlns:a16="http://schemas.microsoft.com/office/drawing/2014/main" id="{6B2DF0C8-70B4-405D-8487-6ABE112E8815}"/>
                </a:ext>
              </a:extLst>
            </p:cNvPr>
            <p:cNvSpPr/>
            <p:nvPr/>
          </p:nvSpPr>
          <p:spPr>
            <a:xfrm>
              <a:off x="-3480369" y="-858993"/>
              <a:ext cx="150812" cy="150812"/>
            </a:xfrm>
            <a:prstGeom prst="don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2" name="Plus Sign 81">
              <a:extLst>
                <a:ext uri="{FF2B5EF4-FFF2-40B4-BE49-F238E27FC236}">
                  <a16:creationId xmlns:a16="http://schemas.microsoft.com/office/drawing/2014/main" id="{CE318988-E30C-44F8-9A5E-08EF84F35661}"/>
                </a:ext>
              </a:extLst>
            </p:cNvPr>
            <p:cNvSpPr/>
            <p:nvPr/>
          </p:nvSpPr>
          <p:spPr>
            <a:xfrm rot="2700000">
              <a:off x="-2755900" y="-4668879"/>
              <a:ext cx="254000" cy="254000"/>
            </a:xfrm>
            <a:prstGeom prst="mathPlus">
              <a:avLst>
                <a:gd name="adj1" fmla="val 178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Plus Sign 82">
              <a:extLst>
                <a:ext uri="{FF2B5EF4-FFF2-40B4-BE49-F238E27FC236}">
                  <a16:creationId xmlns:a16="http://schemas.microsoft.com/office/drawing/2014/main" id="{4AF4F28C-808C-4B94-88C2-8208CFD52218}"/>
                </a:ext>
              </a:extLst>
            </p:cNvPr>
            <p:cNvSpPr/>
            <p:nvPr/>
          </p:nvSpPr>
          <p:spPr>
            <a:xfrm rot="2700000">
              <a:off x="3492506" y="-3442422"/>
              <a:ext cx="254000" cy="254000"/>
            </a:xfrm>
            <a:prstGeom prst="mathPlus">
              <a:avLst>
                <a:gd name="adj1" fmla="val 178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Block Arc 83">
              <a:extLst>
                <a:ext uri="{FF2B5EF4-FFF2-40B4-BE49-F238E27FC236}">
                  <a16:creationId xmlns:a16="http://schemas.microsoft.com/office/drawing/2014/main" id="{9A9092CE-59B5-46B6-811D-486779DD8687}"/>
                </a:ext>
              </a:extLst>
            </p:cNvPr>
            <p:cNvSpPr/>
            <p:nvPr/>
          </p:nvSpPr>
          <p:spPr>
            <a:xfrm rot="16200000">
              <a:off x="-5000175" y="-719115"/>
              <a:ext cx="166906" cy="166906"/>
            </a:xfrm>
            <a:prstGeom prst="blockArc">
              <a:avLst>
                <a:gd name="adj1" fmla="val 10800000"/>
                <a:gd name="adj2" fmla="val 154988"/>
                <a:gd name="adj3" fmla="val 2243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5" name="Block Arc 84">
              <a:extLst>
                <a:ext uri="{FF2B5EF4-FFF2-40B4-BE49-F238E27FC236}">
                  <a16:creationId xmlns:a16="http://schemas.microsoft.com/office/drawing/2014/main" id="{DB1905C8-4B35-4DD3-AD82-4F211E99AC94}"/>
                </a:ext>
              </a:extLst>
            </p:cNvPr>
            <p:cNvSpPr/>
            <p:nvPr/>
          </p:nvSpPr>
          <p:spPr>
            <a:xfrm rot="16200000">
              <a:off x="493493" y="28371"/>
              <a:ext cx="166906" cy="166906"/>
            </a:xfrm>
            <a:prstGeom prst="blockArc">
              <a:avLst>
                <a:gd name="adj1" fmla="val 10800000"/>
                <a:gd name="adj2" fmla="val 154988"/>
                <a:gd name="adj3" fmla="val 2243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ED1F20C-59AF-4F23-A0A0-E4B377A07228}"/>
                </a:ext>
              </a:extLst>
            </p:cNvPr>
            <p:cNvSpPr/>
            <p:nvPr/>
          </p:nvSpPr>
          <p:spPr>
            <a:xfrm>
              <a:off x="78467" y="-4315725"/>
              <a:ext cx="176213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Block Arc 86">
              <a:extLst>
                <a:ext uri="{FF2B5EF4-FFF2-40B4-BE49-F238E27FC236}">
                  <a16:creationId xmlns:a16="http://schemas.microsoft.com/office/drawing/2014/main" id="{073FEEC7-46F5-403E-AD86-BDA469BEEACD}"/>
                </a:ext>
              </a:extLst>
            </p:cNvPr>
            <p:cNvSpPr/>
            <p:nvPr/>
          </p:nvSpPr>
          <p:spPr>
            <a:xfrm rot="12064165">
              <a:off x="-1269390" y="-5116647"/>
              <a:ext cx="166906" cy="166906"/>
            </a:xfrm>
            <a:prstGeom prst="blockArc">
              <a:avLst>
                <a:gd name="adj1" fmla="val 10800000"/>
                <a:gd name="adj2" fmla="val 154988"/>
                <a:gd name="adj3" fmla="val 2243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1CA0416-A48E-4E6C-9D9A-38EBCB74E38D}"/>
                </a:ext>
              </a:extLst>
            </p:cNvPr>
            <p:cNvSpPr/>
            <p:nvPr/>
          </p:nvSpPr>
          <p:spPr>
            <a:xfrm>
              <a:off x="-4101654" y="807819"/>
              <a:ext cx="176213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Block Arc 88">
              <a:extLst>
                <a:ext uri="{FF2B5EF4-FFF2-40B4-BE49-F238E27FC236}">
                  <a16:creationId xmlns:a16="http://schemas.microsoft.com/office/drawing/2014/main" id="{E419A2C9-0480-4BF1-9A2D-3AA1FF64B5DC}"/>
                </a:ext>
              </a:extLst>
            </p:cNvPr>
            <p:cNvSpPr/>
            <p:nvPr/>
          </p:nvSpPr>
          <p:spPr>
            <a:xfrm rot="12064165">
              <a:off x="4659698" y="-4949733"/>
              <a:ext cx="166906" cy="166906"/>
            </a:xfrm>
            <a:prstGeom prst="blockArc">
              <a:avLst>
                <a:gd name="adj1" fmla="val 10800000"/>
                <a:gd name="adj2" fmla="val 154988"/>
                <a:gd name="adj3" fmla="val 2243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73" y="6003051"/>
            <a:ext cx="2865126" cy="807722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34F42483-C77A-49C4-B88D-D05894D8FEE0}"/>
              </a:ext>
            </a:extLst>
          </p:cNvPr>
          <p:cNvSpPr txBox="1"/>
          <p:nvPr/>
        </p:nvSpPr>
        <p:spPr>
          <a:xfrm>
            <a:off x="990885" y="5807651"/>
            <a:ext cx="2615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NITDA/JICA Workshop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6657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13"/>
    </mc:Choice>
    <mc:Fallback xmlns="">
      <p:transition spd="slow" advTm="73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1.48148E-6 L 0.5513 0.72824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565" y="3641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xit" presetSubtype="4" accel="10000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accel="10000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91" grpId="1"/>
      <p:bldP spid="92" grpId="0"/>
      <p:bldP spid="92" grpId="1"/>
      <p:bldP spid="8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9" y="303744"/>
            <a:ext cx="8148118" cy="954785"/>
          </a:xfrm>
        </p:spPr>
        <p:txBody>
          <a:bodyPr>
            <a:normAutofit/>
          </a:bodyPr>
          <a:lstStyle/>
          <a:p>
            <a:r>
              <a:rPr lang="en-GB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What is UX Design?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7959" y="1389973"/>
            <a:ext cx="8733346" cy="1704209"/>
          </a:xfrm>
        </p:spPr>
        <p:txBody>
          <a:bodyPr>
            <a:noAutofit/>
          </a:bodyPr>
          <a:lstStyle/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UX stands for User Experience Design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Focuses on creating user-centred products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Comprises everything from usability to user satisfaction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1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945" y="2771225"/>
            <a:ext cx="6070197" cy="374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6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Screenshot_2024-01-08-12-28-39-157_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3" t="44934" r="10303" b="30864"/>
          <a:stretch>
            <a:fillRect/>
          </a:stretch>
        </p:blipFill>
        <p:spPr bwMode="auto">
          <a:xfrm>
            <a:off x="3793848" y="1140691"/>
            <a:ext cx="8398152" cy="5717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9" y="303744"/>
            <a:ext cx="8148118" cy="95478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Why is UX important for startups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7959" y="1258529"/>
            <a:ext cx="10002847" cy="2175551"/>
          </a:xfrm>
        </p:spPr>
        <p:txBody>
          <a:bodyPr>
            <a:noAutofit/>
          </a:bodyPr>
          <a:lstStyle/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Improves user acquisition and retention</a:t>
            </a: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Reduces development costs</a:t>
            </a: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Creates brand loyalty</a:t>
            </a: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Boosts customer lifetime value</a:t>
            </a: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2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49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984" y="2493820"/>
            <a:ext cx="6970268" cy="4753262"/>
          </a:xfrm>
          <a:prstGeom prst="rect">
            <a:avLst/>
          </a:prstGeom>
        </p:spPr>
      </p:pic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9" y="303744"/>
            <a:ext cx="8148118" cy="95478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The Lean Approach for Startups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7959" y="1389973"/>
            <a:ext cx="10002847" cy="1627547"/>
          </a:xfrm>
        </p:spPr>
        <p:txBody>
          <a:bodyPr>
            <a:noAutofit/>
          </a:bodyPr>
          <a:lstStyle/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Focuses on rapid iteration and validation.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Prioritizes user research to make inform decisions.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Get’s a minimum viable product (MVP) to market quickly.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3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96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34" y="1408469"/>
            <a:ext cx="10105299" cy="4367114"/>
          </a:xfrm>
          <a:prstGeom prst="rect">
            <a:avLst/>
          </a:prstGeom>
        </p:spPr>
      </p:pic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9" y="303744"/>
            <a:ext cx="8148118" cy="95478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The Traditional Approach to UX - 1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082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9" y="303744"/>
            <a:ext cx="8148118" cy="95478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The Traditional Approach to UX - 2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5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505" y="1715034"/>
            <a:ext cx="7812785" cy="394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425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8" y="303744"/>
            <a:ext cx="10002847" cy="954785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Understanding your users: The foundation of UX</a:t>
            </a:r>
            <a:endParaRPr lang="en-US" sz="36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7959" y="1389973"/>
            <a:ext cx="10002847" cy="2023787"/>
          </a:xfrm>
        </p:spPr>
        <p:txBody>
          <a:bodyPr>
            <a:noAutofit/>
          </a:bodyPr>
          <a:lstStyle/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User research is the cornerstone of UX design.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Helps you understand user needs, behaviours and motivations.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Informs design decisions and creates empathy for users.</a:t>
            </a: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6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Picture 2" descr="Screenshot_2024-01-08-12-34-31-680_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2" t="42284" r="6624" b="33583"/>
          <a:stretch>
            <a:fillRect/>
          </a:stretch>
        </p:blipFill>
        <p:spPr bwMode="auto">
          <a:xfrm>
            <a:off x="3171245" y="2849167"/>
            <a:ext cx="5381628" cy="3374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560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8" y="303744"/>
            <a:ext cx="9069161" cy="954785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User Personas: Putting a face to your users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7959" y="1389973"/>
            <a:ext cx="10002847" cy="2612532"/>
          </a:xfrm>
        </p:spPr>
        <p:txBody>
          <a:bodyPr>
            <a:noAutofit/>
          </a:bodyPr>
          <a:lstStyle/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A user persona is a fictional representation of your ideal user. 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User persona helps you empathise with user needs and make design decisions. 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It is based on user research.</a:t>
            </a: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7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028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8" y="303744"/>
            <a:ext cx="9069161" cy="95478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Example of a User Persona – Janet (Family planner)</a:t>
            </a:r>
            <a:endParaRPr lang="en-US" sz="32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8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63"/>
          <a:stretch/>
        </p:blipFill>
        <p:spPr>
          <a:xfrm>
            <a:off x="1524000" y="1057961"/>
            <a:ext cx="8340436" cy="5983441"/>
          </a:xfrm>
          <a:prstGeom prst="rect">
            <a:avLst/>
          </a:prstGeom>
        </p:spPr>
      </p:pic>
      <p:sp>
        <p:nvSpPr>
          <p:cNvPr id="7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 txBox="1">
            <a:spLocks/>
          </p:cNvSpPr>
          <p:nvPr/>
        </p:nvSpPr>
        <p:spPr>
          <a:xfrm>
            <a:off x="907958" y="6377609"/>
            <a:ext cx="4684659" cy="480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</a:pPr>
            <a:r>
              <a:rPr lang="en-GB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Image credit: CareerFoundry.com</a:t>
            </a:r>
            <a:endParaRPr lang="en-GB" sz="1800" b="1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433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8" y="303744"/>
            <a:ext cx="9069161" cy="95478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Activity 1: User Persona 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7959" y="1389972"/>
            <a:ext cx="10002847" cy="3837809"/>
          </a:xfrm>
        </p:spPr>
        <p:txBody>
          <a:bodyPr>
            <a:noAutofit/>
          </a:bodyPr>
          <a:lstStyle/>
          <a:p>
            <a:pPr>
              <a:lnSpc>
                <a:spcPts val="3000"/>
              </a:lnSpc>
            </a:pPr>
            <a:r>
              <a:rPr lang="en-GB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Instruction: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Each team will choose a real-life product or service relevant to their </a:t>
            </a:r>
            <a:r>
              <a:rPr lang="en-GB" sz="24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startup’s</a:t>
            </a: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 industry: banking app or delivery service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Create a user persona for someone who would typically use this product/service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Define details like demographics, goals, needs, frustrations and tech know-how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Remember to give your persona a name and a short backstory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9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2238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8" y="303744"/>
            <a:ext cx="9069161" cy="95478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Customer Journey Map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10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579418" y="1389973"/>
            <a:ext cx="8654984" cy="5344968"/>
            <a:chOff x="0" y="628650"/>
            <a:chExt cx="12801600" cy="7905750"/>
          </a:xfrm>
        </p:grpSpPr>
        <p:sp>
          <p:nvSpPr>
            <p:cNvPr id="7" name="Rectangle 6"/>
            <p:cNvSpPr/>
            <p:nvPr/>
          </p:nvSpPr>
          <p:spPr>
            <a:xfrm>
              <a:off x="0" y="628650"/>
              <a:ext cx="12801600" cy="790575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89804" y="2164805"/>
              <a:ext cx="1428750" cy="51435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 smtClean="0"/>
                <a:t>Awareness </a:t>
              </a:r>
              <a:endParaRPr lang="en-US" sz="900" b="1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42391" y="2164805"/>
              <a:ext cx="1428750" cy="51435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 smtClean="0"/>
                <a:t>Consideration </a:t>
              </a:r>
              <a:endParaRPr lang="en-US" sz="900" b="1" dirty="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888458" y="2176120"/>
              <a:ext cx="1428750" cy="51435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 smtClean="0"/>
                <a:t>Decision/</a:t>
              </a:r>
            </a:p>
            <a:p>
              <a:pPr algn="ctr"/>
              <a:r>
                <a:rPr lang="en-US" sz="900" b="1" dirty="0" smtClean="0"/>
                <a:t>Purchase </a:t>
              </a:r>
              <a:endParaRPr lang="en-US" sz="900" b="1" dirty="0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517233" y="2176120"/>
              <a:ext cx="1428750" cy="51435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 smtClean="0"/>
                <a:t>Retention </a:t>
              </a:r>
              <a:endParaRPr lang="en-US" sz="900" b="1" dirty="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163300" y="2176120"/>
              <a:ext cx="1428750" cy="51435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 smtClean="0"/>
                <a:t>Advocacy </a:t>
              </a:r>
              <a:endParaRPr lang="en-US" sz="900" b="1" dirty="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589804" y="2925845"/>
              <a:ext cx="1428750" cy="64424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I Need A Laptop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242391" y="2925845"/>
              <a:ext cx="1428750" cy="64424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Compare Laptops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888458" y="2937160"/>
              <a:ext cx="1428750" cy="64424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Decides O Buy This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517233" y="2937160"/>
              <a:ext cx="1428750" cy="64424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Call Support Center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1163300" y="2937160"/>
              <a:ext cx="1428750" cy="64424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Sharing Experience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589804" y="3726710"/>
              <a:ext cx="1428750" cy="64424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Website/Expert Advise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242391" y="3726710"/>
              <a:ext cx="1428750" cy="64424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Web Portal /Mobile App /Call Center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888458" y="3738025"/>
              <a:ext cx="1428750" cy="64424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Salesperson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517233" y="3738025"/>
              <a:ext cx="1428750" cy="64424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Helpdesk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1163300" y="3738025"/>
              <a:ext cx="1428750" cy="64424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Words Of Mouth / Social Media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589804" y="4535907"/>
              <a:ext cx="1428750" cy="653052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Good Pubic Information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242391" y="4535907"/>
              <a:ext cx="1428750" cy="653052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Good Comparison And Demo At Store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888458" y="4547222"/>
              <a:ext cx="1428750" cy="653052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Great Feelings To Own A Laptop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9517233" y="4547222"/>
              <a:ext cx="1428750" cy="653052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Good Service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11163300" y="4547222"/>
              <a:ext cx="1428750" cy="653052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Happy To Spread The Word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4589804" y="6210572"/>
              <a:ext cx="1428750" cy="746452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Not Enough Presence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242391" y="6210572"/>
              <a:ext cx="1428750" cy="746452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Required Configuration Not Available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7888458" y="6221887"/>
              <a:ext cx="1428750" cy="746452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No Demo Provided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517233" y="6221887"/>
              <a:ext cx="1428750" cy="746452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Wait Time To Address Issue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1163300" y="6221887"/>
              <a:ext cx="1428750" cy="746452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589804" y="7129859"/>
              <a:ext cx="1428750" cy="746452"/>
            </a:xfrm>
            <a:prstGeom prst="roundRect">
              <a:avLst/>
            </a:prstGeom>
            <a:solidFill>
              <a:srgbClr val="0D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Websites  And Ads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6242391" y="7129859"/>
              <a:ext cx="1428750" cy="746452"/>
            </a:xfrm>
            <a:prstGeom prst="roundRect">
              <a:avLst/>
            </a:prstGeom>
            <a:solidFill>
              <a:srgbClr val="0D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Configuration Comparison To Be Available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7888458" y="7141174"/>
              <a:ext cx="1428750" cy="746452"/>
            </a:xfrm>
            <a:prstGeom prst="roundRect">
              <a:avLst/>
            </a:prstGeom>
            <a:solidFill>
              <a:srgbClr val="0D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Salesperson  Should Be Knowledgeable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517233" y="7141174"/>
              <a:ext cx="1428750" cy="746452"/>
            </a:xfrm>
            <a:prstGeom prst="roundRect">
              <a:avLst/>
            </a:prstGeom>
            <a:solidFill>
              <a:srgbClr val="0D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Quick On Site Supports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1163300" y="7141174"/>
              <a:ext cx="1428750" cy="746452"/>
            </a:xfrm>
            <a:prstGeom prst="roundRect">
              <a:avLst/>
            </a:prstGeom>
            <a:solidFill>
              <a:srgbClr val="0D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How Do I Socialized My Comments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38125" y="2873175"/>
              <a:ext cx="1733550" cy="64424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 smtClean="0">
                  <a:solidFill>
                    <a:schemeClr val="tx1"/>
                  </a:solidFill>
                </a:rPr>
                <a:t>Goals  </a:t>
              </a:r>
              <a:endParaRPr 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38125" y="3674040"/>
              <a:ext cx="1733550" cy="64424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 smtClean="0">
                  <a:solidFill>
                    <a:schemeClr val="tx1"/>
                  </a:solidFill>
                </a:rPr>
                <a:t>Touch Points </a:t>
              </a:r>
              <a:endParaRPr 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238125" y="4503861"/>
              <a:ext cx="1733550" cy="653052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 smtClean="0">
                  <a:solidFill>
                    <a:schemeClr val="tx1"/>
                  </a:solidFill>
                </a:rPr>
                <a:t>Emotions </a:t>
              </a:r>
              <a:endParaRPr 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38125" y="6158896"/>
              <a:ext cx="1733550" cy="746452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 smtClean="0">
                  <a:solidFill>
                    <a:schemeClr val="tx1"/>
                  </a:solidFill>
                </a:rPr>
                <a:t>Pain Points/ Weakness  </a:t>
              </a:r>
              <a:endParaRPr 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238125" y="7099637"/>
              <a:ext cx="1733550" cy="746452"/>
            </a:xfrm>
            <a:prstGeom prst="roundRect">
              <a:avLst/>
            </a:prstGeom>
            <a:solidFill>
              <a:srgbClr val="0D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 smtClean="0">
                  <a:solidFill>
                    <a:schemeClr val="tx1"/>
                  </a:solidFill>
                </a:rPr>
                <a:t>Improvements Opportunities </a:t>
              </a:r>
              <a:endParaRPr 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4589804" y="909980"/>
              <a:ext cx="3754096" cy="110932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Abubakar Saleh, a graphics designer at MSJ Consulting Ltd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8553450" y="935660"/>
              <a:ext cx="4038600" cy="110932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Bought a laptop computer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4589804" y="5373861"/>
              <a:ext cx="1428750" cy="653052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6242391" y="5373861"/>
              <a:ext cx="1428750" cy="653052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Call Center Expert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7888458" y="5385176"/>
              <a:ext cx="1428750" cy="653052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Sales Person Interaction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9517233" y="5385176"/>
              <a:ext cx="1428750" cy="653052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Support Engineer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11163300" y="5385176"/>
              <a:ext cx="1428750" cy="653052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Social Media Influencers 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238125" y="5321191"/>
              <a:ext cx="1733550" cy="653052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Level Of Satisfaction</a:t>
              </a:r>
            </a:p>
            <a:p>
              <a:pPr algn="ctr"/>
              <a:r>
                <a:rPr lang="en-US" sz="900" b="1" dirty="0" smtClean="0">
                  <a:solidFill>
                    <a:schemeClr val="tx1"/>
                  </a:solidFill>
                </a:rPr>
                <a:t> Or Influence   </a:t>
              </a:r>
              <a:endParaRPr 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1971674" y="2903397"/>
              <a:ext cx="2618129" cy="64424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bg1"/>
                  </a:solidFill>
                </a:rPr>
                <a:t>What is the customer trying to do at this time?  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1905000" y="3704262"/>
              <a:ext cx="2780053" cy="64424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bg1"/>
                  </a:solidFill>
                </a:rPr>
                <a:t>How does the customer interact with the organization 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1971673" y="4534083"/>
              <a:ext cx="2618129" cy="65305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bg1"/>
                  </a:solidFill>
                </a:rPr>
                <a:t>What is the customer feeling at this point?  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1971673" y="6189118"/>
              <a:ext cx="2618129" cy="74645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bg1"/>
                  </a:solidFill>
                </a:rPr>
                <a:t>How does the company let the customer down? 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1971673" y="7129859"/>
              <a:ext cx="2618129" cy="74645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bg1"/>
                  </a:solidFill>
                </a:rPr>
                <a:t>What innovative technology can be used to improve the experience? 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1971673" y="5351413"/>
              <a:ext cx="2618129" cy="65305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bg1"/>
                  </a:solidFill>
                </a:rPr>
                <a:t>Who or what is shaping the customer’s  decision making process at this stage?   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pic>
          <p:nvPicPr>
            <p:cNvPr id="57" name="Picture 5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607" t="3572" r="24608" b="55953"/>
            <a:stretch/>
          </p:blipFill>
          <p:spPr>
            <a:xfrm>
              <a:off x="336690" y="851261"/>
              <a:ext cx="1568310" cy="1881972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sp>
        <p:nvSpPr>
          <p:cNvPr id="58" name="Rounded Rectangle 57"/>
          <p:cNvSpPr/>
          <p:nvPr/>
        </p:nvSpPr>
        <p:spPr>
          <a:xfrm>
            <a:off x="4151168" y="-1751061"/>
            <a:ext cx="5190418" cy="43556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CUSTOMER JOURNEY MAP: LAPTOP MANUFACTURER </a:t>
            </a:r>
            <a:endParaRPr lang="en-US" sz="9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361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8" y="303744"/>
            <a:ext cx="9069161" cy="95478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Activity 2: User Journey Mapping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7959" y="1389973"/>
            <a:ext cx="10002847" cy="2572428"/>
          </a:xfrm>
        </p:spPr>
        <p:txBody>
          <a:bodyPr>
            <a:noAutofit/>
          </a:bodyPr>
          <a:lstStyle/>
          <a:p>
            <a:pPr>
              <a:lnSpc>
                <a:spcPts val="3000"/>
              </a:lnSpc>
            </a:pPr>
            <a:r>
              <a:rPr lang="en-GB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Instruction: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Select a core user persona from Activity 1 and select key task they would want to complete using your product/service.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On a piece of paper, map out the user journey through this task.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Include touchpoints, emotions and any pain points they might encounter.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11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32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8" y="303744"/>
            <a:ext cx="9134399" cy="95478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Building user empathy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7959" y="1389973"/>
            <a:ext cx="10002847" cy="2196507"/>
          </a:xfrm>
        </p:spPr>
        <p:txBody>
          <a:bodyPr>
            <a:noAutofit/>
          </a:bodyPr>
          <a:lstStyle/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Seeing the world through your user’s eyes.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Understanding their frustrations and desires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Creates a more user-friendly product.</a:t>
            </a: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12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688910" y="3052914"/>
            <a:ext cx="4956327" cy="3625812"/>
            <a:chOff x="531227" y="528011"/>
            <a:chExt cx="11834500" cy="8657556"/>
          </a:xfrm>
        </p:grpSpPr>
        <p:sp>
          <p:nvSpPr>
            <p:cNvPr id="6" name="Rectangle 5"/>
            <p:cNvSpPr/>
            <p:nvPr/>
          </p:nvSpPr>
          <p:spPr>
            <a:xfrm>
              <a:off x="531227" y="528011"/>
              <a:ext cx="5661511" cy="419536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ct val="107000"/>
                </a:lnSpc>
                <a:spcAft>
                  <a:spcPts val="1034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prstClr val="black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  <a:p>
              <a:pPr algn="ctr"/>
              <a:endParaRPr lang="en-US" sz="14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212489" y="528011"/>
              <a:ext cx="6153238" cy="419536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ct val="107000"/>
                </a:lnSpc>
                <a:spcAft>
                  <a:spcPts val="1034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prstClr val="black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31227" y="4723378"/>
              <a:ext cx="5661511" cy="4462189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ct val="107000"/>
                </a:lnSpc>
                <a:spcAft>
                  <a:spcPts val="1034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prstClr val="black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212489" y="4723378"/>
              <a:ext cx="6153238" cy="44621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ct val="107000"/>
                </a:lnSpc>
                <a:spcAft>
                  <a:spcPts val="1034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prstClr val="black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186733" y="4034088"/>
              <a:ext cx="1942683" cy="1216987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CUSTOMER 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884276" y="704383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prstClr val="black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SAYS</a:t>
              </a:r>
              <a:endParaRPr lang="en-US" sz="1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811402" y="652647"/>
              <a:ext cx="7681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prstClr val="black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THINKS</a:t>
              </a:r>
              <a:endParaRPr lang="en-US" sz="14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982995" y="4990199"/>
              <a:ext cx="6286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prstClr val="black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FEELS</a:t>
              </a:r>
              <a:endParaRPr lang="en-US" sz="14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881969" y="4943297"/>
              <a:ext cx="6463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prstClr val="black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DOES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20452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8" y="303744"/>
            <a:ext cx="9134399" cy="95478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User Stories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7959" y="1389973"/>
            <a:ext cx="10002847" cy="1647867"/>
          </a:xfrm>
        </p:spPr>
        <p:txBody>
          <a:bodyPr>
            <a:noAutofit/>
          </a:bodyPr>
          <a:lstStyle/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User stories are powerful tool for capturing user needs in a concise format.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Written from the user’s perspective. 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Help prioritise features and functionalities.</a:t>
            </a: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13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 txBox="1">
            <a:spLocks/>
          </p:cNvSpPr>
          <p:nvPr/>
        </p:nvSpPr>
        <p:spPr>
          <a:xfrm>
            <a:off x="1344838" y="4064671"/>
            <a:ext cx="10002847" cy="4896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000"/>
              </a:lnSpc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As a </a:t>
            </a:r>
            <a:r>
              <a:rPr lang="en-GB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[user role]</a:t>
            </a: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, I want  </a:t>
            </a:r>
            <a:r>
              <a:rPr lang="en-GB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[to do something]</a:t>
            </a: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, so that </a:t>
            </a:r>
            <a:r>
              <a:rPr lang="en-GB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[I can achieve a goal]</a:t>
            </a: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.</a:t>
            </a: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6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 txBox="1">
            <a:spLocks/>
          </p:cNvSpPr>
          <p:nvPr/>
        </p:nvSpPr>
        <p:spPr>
          <a:xfrm>
            <a:off x="1344838" y="4758167"/>
            <a:ext cx="10002847" cy="4896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000"/>
              </a:lnSpc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As a </a:t>
            </a:r>
            <a:r>
              <a:rPr lang="en-GB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[busy entrepreneur ]</a:t>
            </a: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, I want  </a:t>
            </a:r>
            <a:r>
              <a:rPr lang="en-GB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[to be able to quickly order food online]</a:t>
            </a: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, so that </a:t>
            </a:r>
            <a:r>
              <a:rPr lang="en-GB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[I can save time and stay organized]</a:t>
            </a: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.</a:t>
            </a: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542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8" y="303744"/>
            <a:ext cx="10002848" cy="954785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Information Architecture: Organizing your content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7959" y="1389973"/>
            <a:ext cx="10002847" cy="1840907"/>
          </a:xfrm>
        </p:spPr>
        <p:txBody>
          <a:bodyPr>
            <a:noAutofit/>
          </a:bodyPr>
          <a:lstStyle/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IA is the foundation of a user-friendly product. It is about organizing your content in a way that makes sense to users and help them find what they are looking for quickly and easily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Creates a logical and intuitive user flow.</a:t>
            </a: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14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786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8" y="303744"/>
            <a:ext cx="10002848" cy="954785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Rapid prototyping: From Pen &amp; Paper to Digital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7959" y="1389973"/>
            <a:ext cx="5330281" cy="5305467"/>
          </a:xfrm>
        </p:spPr>
        <p:txBody>
          <a:bodyPr>
            <a:noAutofit/>
          </a:bodyPr>
          <a:lstStyle/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Rapid prototyping is all about creating a low Fidelity models of your product in order to test with users and get feedback.</a:t>
            </a:r>
          </a:p>
          <a:p>
            <a:pPr>
              <a:lnSpc>
                <a:spcPts val="3000"/>
              </a:lnSpc>
            </a:pPr>
            <a:endParaRPr lang="en-GB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  <a:p>
            <a:pPr>
              <a:lnSpc>
                <a:spcPts val="3000"/>
              </a:lnSpc>
            </a:pPr>
            <a:r>
              <a:rPr lang="en-GB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Advantage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 It saves time and money in identifying usability issues early on.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Allows for quick iteration and testing of different design ideas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Helps to get user feedback early and often.</a:t>
            </a: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15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400" y="1450371"/>
            <a:ext cx="5344160" cy="382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66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8" y="303744"/>
            <a:ext cx="9069161" cy="95478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Activity 3: Feature Prioritization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7959" y="1389972"/>
            <a:ext cx="10002847" cy="3837809"/>
          </a:xfrm>
        </p:spPr>
        <p:txBody>
          <a:bodyPr>
            <a:noAutofit/>
          </a:bodyPr>
          <a:lstStyle/>
          <a:p>
            <a:pPr>
              <a:lnSpc>
                <a:spcPts val="3000"/>
              </a:lnSpc>
            </a:pPr>
            <a:r>
              <a:rPr lang="en-GB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Instruction: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Each team member will brainstorm a list of features they would like to include in their MVP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Write each feature on a separate index card.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Assign a business value score of “High”, “Medium”, “Low” to each feature.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Allow the team to vote using 1-10 to each feature based on its potential impact on user needs and business goal.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endParaRPr lang="en-GB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13796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8" y="303744"/>
            <a:ext cx="10002848" cy="95478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Usability testing: The voice of the User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7959" y="1389973"/>
            <a:ext cx="10095321" cy="5305467"/>
          </a:xfrm>
        </p:spPr>
        <p:txBody>
          <a:bodyPr>
            <a:noAutofit/>
          </a:bodyPr>
          <a:lstStyle/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This is the process of observing users interacting with your products to identify any usability problems. 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Usability testing ensures that your  product is actually usable for your target audience.</a:t>
            </a:r>
          </a:p>
          <a:p>
            <a:pPr>
              <a:lnSpc>
                <a:spcPts val="3000"/>
              </a:lnSpc>
            </a:pPr>
            <a:endParaRPr lang="en-GB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  <a:p>
            <a:pPr>
              <a:lnSpc>
                <a:spcPts val="3000"/>
              </a:lnSpc>
            </a:pPr>
            <a:r>
              <a:rPr lang="en-GB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How to conduct usability testing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Recruit a small  group of users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Give them clear tasks to complete using your product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Observe their behaviour and listen to their </a:t>
            </a:r>
            <a:r>
              <a:rPr lang="en-GB" sz="24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feddback</a:t>
            </a:r>
            <a:endParaRPr lang="en-GB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Focus on finding usability issues and not user issues</a:t>
            </a: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16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24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8" y="303744"/>
            <a:ext cx="10002848" cy="95478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Usability Testing Techniques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7959" y="1389973"/>
            <a:ext cx="10095321" cy="3293787"/>
          </a:xfrm>
        </p:spPr>
        <p:txBody>
          <a:bodyPr>
            <a:noAutofit/>
          </a:bodyPr>
          <a:lstStyle/>
          <a:p>
            <a:pPr>
              <a:lnSpc>
                <a:spcPts val="3000"/>
              </a:lnSpc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There are various usability testing techniques depending on what the user needs and the resources available</a:t>
            </a: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GB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Moderated testing: </a:t>
            </a: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You observe users as they interact with your product and ask them open questions.</a:t>
            </a:r>
            <a:endParaRPr lang="en-GB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GB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Unmoderated testing: </a:t>
            </a: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users complete tasks using the product on their own and record their screen and audio.</a:t>
            </a: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GB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Remote testing: </a:t>
            </a: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Users complete tasks from the comfort of their own homes.</a:t>
            </a: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17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199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8" y="303744"/>
            <a:ext cx="10002848" cy="954785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Design Thinking Approach: A User centered Approach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7959" y="1389973"/>
            <a:ext cx="10095321" cy="5346107"/>
          </a:xfrm>
        </p:spPr>
        <p:txBody>
          <a:bodyPr>
            <a:noAutofit/>
          </a:bodyPr>
          <a:lstStyle/>
          <a:p>
            <a:pPr>
              <a:lnSpc>
                <a:spcPts val="4000"/>
              </a:lnSpc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This method is also called human centred approach to problem-solving and a valuable tool for start-ups. It involves understanding the needs of your user, brainstorming solutions, and iterating on your ideas based on user feedback.</a:t>
            </a:r>
          </a:p>
          <a:p>
            <a:pPr>
              <a:lnSpc>
                <a:spcPts val="4000"/>
              </a:lnSpc>
            </a:pPr>
            <a:endParaRPr lang="en-GB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  <a:p>
            <a:pPr>
              <a:lnSpc>
                <a:spcPts val="4000"/>
              </a:lnSpc>
            </a:pPr>
            <a:r>
              <a:rPr lang="en-GB" sz="2400" b="1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This is achieved through a five stage design thinking process: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Emphatise</a:t>
            </a: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: Understand the needs of the user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Define: define the problem you are trying to solve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Ideate: Brainstorm potential solutions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Prototype: create a prototype of your solution.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Test: test your prototype with users and get feedback</a:t>
            </a: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18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251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8" y="303744"/>
            <a:ext cx="10002848" cy="954785"/>
          </a:xfrm>
        </p:spPr>
        <p:txBody>
          <a:bodyPr>
            <a:normAutofit fontScale="90000"/>
          </a:bodyPr>
          <a:lstStyle/>
          <a:p>
            <a:r>
              <a:rPr lang="en-US" sz="4000" b="1" dirty="0" err="1" smtClean="0">
                <a:solidFill>
                  <a:srgbClr val="0070C0"/>
                </a:solidFill>
                <a:latin typeface="Tw Cen MT" panose="020B0602020104020603" pitchFamily="34" charset="0"/>
              </a:rPr>
              <a:t>Wireframing</a:t>
            </a:r>
            <a:r>
              <a:rPr lang="en-US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: Building the skeleton of your App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7959" y="1389973"/>
            <a:ext cx="10095321" cy="3939409"/>
          </a:xfrm>
        </p:spPr>
        <p:txBody>
          <a:bodyPr>
            <a:noAutofit/>
          </a:bodyPr>
          <a:lstStyle/>
          <a:p>
            <a:pPr>
              <a:lnSpc>
                <a:spcPts val="4000"/>
              </a:lnSpc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Wireframes are low fidelity </a:t>
            </a:r>
            <a:r>
              <a:rPr lang="en-GB" sz="24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mockup</a:t>
            </a: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 of your product’s interface. It focuses on the layout and functionality of the UI elements without getting bogged down in the visual design. 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Communicate design ideas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Identify issues early on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Refine the information architecture</a:t>
            </a: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19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11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8" y="303744"/>
            <a:ext cx="10002848" cy="954785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Usability Heuristics: Design guidelines for Better UX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7959" y="1389974"/>
            <a:ext cx="10095321" cy="3154318"/>
          </a:xfrm>
        </p:spPr>
        <p:txBody>
          <a:bodyPr>
            <a:noAutofit/>
          </a:bodyPr>
          <a:lstStyle/>
          <a:p>
            <a:pPr>
              <a:lnSpc>
                <a:spcPts val="4000"/>
              </a:lnSpc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These are set of </a:t>
            </a: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g</a:t>
            </a: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uidelines that can help you design user-friendly products, they are based  on best practices and research in the field of UX design.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Visibility of system status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Match between system and the real world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User control and freedom</a:t>
            </a: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20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80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8" y="303744"/>
            <a:ext cx="10002848" cy="954785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UI Design: Making your Product Beautiful &amp; Usable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7959" y="1389974"/>
            <a:ext cx="10095321" cy="1842753"/>
          </a:xfrm>
        </p:spPr>
        <p:txBody>
          <a:bodyPr>
            <a:noAutofit/>
          </a:bodyPr>
          <a:lstStyle/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UI design is all about the visual elements of your products such as the layout, typography and colour scheme.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Aesthetics should not be traded with functionality and usability.</a:t>
            </a:r>
          </a:p>
          <a:p>
            <a:pPr>
              <a:lnSpc>
                <a:spcPts val="4000"/>
              </a:lnSpc>
            </a:pP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21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 txBox="1">
            <a:spLocks/>
          </p:cNvSpPr>
          <p:nvPr/>
        </p:nvSpPr>
        <p:spPr>
          <a:xfrm>
            <a:off x="1688433" y="3197917"/>
            <a:ext cx="6291786" cy="18427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Keep it simple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Use clear and consistent visual elements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Design for your target audience</a:t>
            </a: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77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8" y="303744"/>
            <a:ext cx="10002848" cy="95478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UI Design tools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7959" y="1389974"/>
            <a:ext cx="10095321" cy="2600135"/>
          </a:xfrm>
        </p:spPr>
        <p:txBody>
          <a:bodyPr>
            <a:noAutofit/>
          </a:bodyPr>
          <a:lstStyle/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GB" sz="24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Figma</a:t>
            </a:r>
            <a:endParaRPr lang="en-GB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Adobe XD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Sketch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Miro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22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07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8" y="303744"/>
            <a:ext cx="9069161" cy="95478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Activity 4: Low-Fi Prototyping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7959" y="1389973"/>
            <a:ext cx="10002847" cy="4844572"/>
          </a:xfrm>
        </p:spPr>
        <p:txBody>
          <a:bodyPr>
            <a:noAutofit/>
          </a:bodyPr>
          <a:lstStyle/>
          <a:p>
            <a:pPr>
              <a:lnSpc>
                <a:spcPts val="3000"/>
              </a:lnSpc>
            </a:pPr>
            <a:r>
              <a:rPr lang="en-GB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Instruction: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Based on the user journey map and chosen task, create a Low-fidelity prototype of the key screens users would interact with.</a:t>
            </a: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Use simple tools like pen and paper or whiteboards.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Focus on functionality and user flow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  <a:p>
            <a:pPr>
              <a:lnSpc>
                <a:spcPts val="3000"/>
              </a:lnSpc>
            </a:pPr>
            <a:r>
              <a:rPr lang="en-GB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Mini-Activity</a:t>
            </a:r>
          </a:p>
          <a:p>
            <a:pPr marL="342900" indent="-342900">
              <a:lnSpc>
                <a:spcPts val="3000"/>
              </a:lnSpc>
              <a:buFontTx/>
              <a:buChar char="-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Find one user outside the workshop and </a:t>
            </a:r>
            <a:r>
              <a:rPr lang="en-GB" sz="2400" b="1" i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with their consent </a:t>
            </a: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explain the task you want them to complete using your Low-Fi prototype.</a:t>
            </a:r>
          </a:p>
          <a:p>
            <a:pPr marL="342900" indent="-342900">
              <a:lnSpc>
                <a:spcPts val="3000"/>
              </a:lnSpc>
              <a:buFontTx/>
              <a:buChar char="-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Observe their behaviour and listen to their feedbacks.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23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542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256">
            <a:extLst>
              <a:ext uri="{FF2B5EF4-FFF2-40B4-BE49-F238E27FC236}">
                <a16:creationId xmlns:a16="http://schemas.microsoft.com/office/drawing/2014/main" id="{26AD3567-9F6F-4FB8-9052-65374673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58" y="303744"/>
            <a:ext cx="10002848" cy="95478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Tw Cen MT" panose="020B0602020104020603" pitchFamily="34" charset="0"/>
              </a:rPr>
              <a:t>Conclusion</a:t>
            </a:r>
            <a:endParaRPr lang="en-US" sz="4000" b="1" dirty="0">
              <a:solidFill>
                <a:srgbClr val="0070C0"/>
              </a:solidFill>
              <a:latin typeface="Tw Cen MT" panose="020B0602020104020603" pitchFamily="34" charset="0"/>
            </a:endParaRP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7959" y="1389974"/>
            <a:ext cx="10095321" cy="1685735"/>
          </a:xfrm>
        </p:spPr>
        <p:txBody>
          <a:bodyPr>
            <a:noAutofit/>
          </a:bodyPr>
          <a:lstStyle/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Remember, UX design is an iterative process that has no finish line. It is about continually learning from your users and refining your product based on their feedback.</a:t>
            </a:r>
          </a:p>
          <a:p>
            <a:pPr>
              <a:lnSpc>
                <a:spcPts val="4000"/>
              </a:lnSpc>
            </a:pP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48335" y="6145160"/>
            <a:ext cx="15436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24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xt Placeholder 258">
            <a:extLst>
              <a:ext uri="{FF2B5EF4-FFF2-40B4-BE49-F238E27FC236}">
                <a16:creationId xmlns:a16="http://schemas.microsoft.com/office/drawing/2014/main" id="{CD0A320E-0FDB-4504-AB29-E392C6AC3D0D}"/>
              </a:ext>
            </a:extLst>
          </p:cNvPr>
          <p:cNvSpPr txBox="1">
            <a:spLocks/>
          </p:cNvSpPr>
          <p:nvPr/>
        </p:nvSpPr>
        <p:spPr>
          <a:xfrm>
            <a:off x="3713018" y="3685309"/>
            <a:ext cx="5070763" cy="7496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000"/>
              </a:lnSpc>
            </a:pPr>
            <a:r>
              <a:rPr lang="en-GB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Focus on user needs</a:t>
            </a:r>
            <a:endParaRPr lang="en-GB" sz="4400" b="1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93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83">
        <p14:reveal/>
      </p:transition>
    </mc:Choice>
    <mc:Fallback xmlns="">
      <p:transition spd="slow" advTm="108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3203</TotalTime>
  <Words>1449</Words>
  <Application>Microsoft Office PowerPoint</Application>
  <PresentationFormat>Widescreen</PresentationFormat>
  <Paragraphs>235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Century Gothic</vt:lpstr>
      <vt:lpstr>Times New Roman</vt:lpstr>
      <vt:lpstr>Tw Cen MT</vt:lpstr>
      <vt:lpstr>Office Theme</vt:lpstr>
      <vt:lpstr>PowerPoint Presentation</vt:lpstr>
      <vt:lpstr>What is UX Design?</vt:lpstr>
      <vt:lpstr>Why is UX important for startups</vt:lpstr>
      <vt:lpstr>The Lean Approach for Startups</vt:lpstr>
      <vt:lpstr>The Traditional Approach to UX - 1</vt:lpstr>
      <vt:lpstr>The Traditional Approach to UX - 2</vt:lpstr>
      <vt:lpstr>Understanding your users: The foundation of UX</vt:lpstr>
      <vt:lpstr>User Personas: Putting a face to your users</vt:lpstr>
      <vt:lpstr>Example of a User Persona – Janet (Family planner)</vt:lpstr>
      <vt:lpstr>Activity 1: User Persona </vt:lpstr>
      <vt:lpstr>Customer Journey Map</vt:lpstr>
      <vt:lpstr>Activity 2: User Journey Mapping</vt:lpstr>
      <vt:lpstr>Building user empathy</vt:lpstr>
      <vt:lpstr>User Stories</vt:lpstr>
      <vt:lpstr>Information Architecture: Organizing your content</vt:lpstr>
      <vt:lpstr>Rapid prototyping: From Pen &amp; Paper to Digital</vt:lpstr>
      <vt:lpstr>Activity 3: Feature Prioritization</vt:lpstr>
      <vt:lpstr>Usability testing: The voice of the User</vt:lpstr>
      <vt:lpstr>Usability Testing Techniques</vt:lpstr>
      <vt:lpstr>Design Thinking Approach: A User centered Approach</vt:lpstr>
      <vt:lpstr>Wireframing: Building the skeleton of your App</vt:lpstr>
      <vt:lpstr>Usability Heuristics: Design guidelines for Better UX</vt:lpstr>
      <vt:lpstr>UI Design: Making your Product Beautiful &amp; Usable</vt:lpstr>
      <vt:lpstr>UI Design tools</vt:lpstr>
      <vt:lpstr>Activity 4: Low-Fi Prototyping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Mahmoud Sardauna;BITKOVA ACADEMY</dc:creator>
  <cp:lastModifiedBy>USER</cp:lastModifiedBy>
  <cp:revision>237</cp:revision>
  <dcterms:created xsi:type="dcterms:W3CDTF">2021-06-05T06:43:38Z</dcterms:created>
  <dcterms:modified xsi:type="dcterms:W3CDTF">2024-03-20T11:55:21Z</dcterms:modified>
</cp:coreProperties>
</file>